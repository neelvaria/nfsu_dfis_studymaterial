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8"/>
  </p:notesMasterIdLst>
  <p:sldIdLst>
    <p:sldId id="256" r:id="rId3"/>
    <p:sldId id="262" r:id="rId4"/>
    <p:sldId id="263" r:id="rId5"/>
    <p:sldId id="260" r:id="rId6"/>
    <p:sldId id="261" r:id="rId7"/>
    <p:sldId id="264" r:id="rId8"/>
    <p:sldId id="265" r:id="rId9"/>
    <p:sldId id="266" r:id="rId10"/>
    <p:sldId id="267" r:id="rId11"/>
    <p:sldId id="268" r:id="rId12"/>
    <p:sldId id="269" r:id="rId13"/>
    <p:sldId id="270" r:id="rId14"/>
    <p:sldId id="271" r:id="rId15"/>
    <p:sldId id="272" r:id="rId16"/>
    <p:sldId id="273" r:id="rId17"/>
    <p:sldId id="257" r:id="rId18"/>
    <p:sldId id="258" r:id="rId19"/>
    <p:sldId id="259"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1" r:id="rId56"/>
    <p:sldId id="312"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1" Type="http://schemas.openxmlformats.org/officeDocument/2006/relationships/tableStyles" Target="tableStyles.xml"/><Relationship Id="rId60" Type="http://schemas.openxmlformats.org/officeDocument/2006/relationships/viewProps" Target="viewProps.xml"/><Relationship Id="rId6" Type="http://schemas.openxmlformats.org/officeDocument/2006/relationships/slide" Target="slides/slide4.xml"/><Relationship Id="rId59" Type="http://schemas.openxmlformats.org/officeDocument/2006/relationships/presProps" Target="presProps.xml"/><Relationship Id="rId58" Type="http://schemas.openxmlformats.org/officeDocument/2006/relationships/notesMaster" Target="notesMasters/notesMaster1.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3"/>
          <p:cNvPicPr>
            <a:picLocks noChangeAspect="1"/>
          </p:cNvPicPr>
          <p:nvPr/>
        </p:nvPicPr>
        <p:blipFill>
          <a:blip r:embed="rId2"/>
          <a:stretch>
            <a:fillRect/>
          </a:stretch>
        </p:blipFill>
        <p:spPr>
          <a:xfrm>
            <a:off x="0" y="19050"/>
            <a:ext cx="12206817" cy="6867525"/>
          </a:xfrm>
          <a:prstGeom prst="rect">
            <a:avLst/>
          </a:prstGeom>
          <a:noFill/>
          <a:ln w="9525">
            <a:noFill/>
          </a:ln>
        </p:spPr>
      </p:pic>
      <p:sp>
        <p:nvSpPr>
          <p:cNvPr id="2051" name="Rectangle 3"/>
          <p:cNvSpPr>
            <a:spLocks noGrp="1" noChangeArrowheads="1"/>
          </p:cNvSpPr>
          <p:nvPr>
            <p:ph type="ctrTitle"/>
          </p:nvPr>
        </p:nvSpPr>
        <p:spPr>
          <a:xfrm>
            <a:off x="2063751" y="1701800"/>
            <a:ext cx="9211733" cy="1082675"/>
          </a:xfrm>
        </p:spPr>
        <p:txBody>
          <a:bodyPr/>
          <a:lstStyle>
            <a:lvl1pPr>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2063751" y="2927350"/>
            <a:ext cx="9218083" cy="1752600"/>
          </a:xfrm>
        </p:spPr>
        <p:txBody>
          <a:bodyPr/>
          <a:lstStyle>
            <a:lvl1pPr marL="0" indent="0" algn="r">
              <a:buFontTx/>
              <a:buNone/>
              <a:defRPr>
                <a:solidFill>
                  <a:schemeClr val="bg1"/>
                </a:solidFill>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p>
            <a:endParaRPr lang="en-US"/>
          </a:p>
        </p:txBody>
      </p:sp>
      <p:sp>
        <p:nvSpPr>
          <p:cNvPr id="9" name="Slide Number Placeholder 8"/>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p>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8"/>
          <p:cNvPicPr>
            <a:picLocks noChangeAspect="1"/>
          </p:cNvPicPr>
          <p:nvPr/>
        </p:nvPicPr>
        <p:blipFill>
          <a:blip r:embed="rId12"/>
          <a:stretch>
            <a:fillRect/>
          </a:stretch>
        </p:blipFill>
        <p:spPr>
          <a:xfrm>
            <a:off x="0" y="0"/>
            <a:ext cx="12192000"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r" rtl="0" fontAlgn="base">
        <a:spcBef>
          <a:spcPct val="0"/>
        </a:spcBef>
        <a:spcAft>
          <a:spcPct val="0"/>
        </a:spcAft>
        <a:defRPr sz="3600" kern="1200">
          <a:solidFill>
            <a:schemeClr val="bg1"/>
          </a:solidFill>
          <a:latin typeface="+mj-lt"/>
          <a:ea typeface="+mj-ea"/>
          <a:cs typeface="+mj-cs"/>
        </a:defRPr>
      </a:lvl1pPr>
      <a:lvl2pPr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2pPr>
      <a:lvl3pPr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3pPr>
      <a:lvl4pPr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4pPr>
      <a:lvl5pPr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5pPr>
      <a:lvl6pPr marL="457200"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6pPr>
      <a:lvl7pPr marL="914400"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7pPr>
      <a:lvl8pPr marL="1371600"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8pPr>
      <a:lvl9pPr marL="1828800"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custDataLst>
              <p:tags r:id="rId1"/>
            </p:custDataLst>
          </p:nvPr>
        </p:nvPicPr>
        <p:blipFill>
          <a:blip r:embed="rId2">
            <a:alphaModFix amt="40000"/>
          </a:blip>
          <a:srcRect r="72619"/>
          <a:stretch>
            <a:fillRect/>
          </a:stretch>
        </p:blipFill>
        <p:spPr>
          <a:xfrm>
            <a:off x="10692765" y="141605"/>
            <a:ext cx="1095375" cy="1417320"/>
          </a:xfrm>
          <a:prstGeom prst="rect">
            <a:avLst/>
          </a:prstGeom>
        </p:spPr>
      </p:pic>
      <p:sp>
        <p:nvSpPr>
          <p:cNvPr id="2" name="Title 1"/>
          <p:cNvSpPr>
            <a:spLocks noGrp="1"/>
          </p:cNvSpPr>
          <p:nvPr>
            <p:ph type="ctrTitle"/>
          </p:nvPr>
        </p:nvSpPr>
        <p:spPr/>
        <p:txBody>
          <a:bodyPr/>
          <a:lstStyle/>
          <a:p>
            <a:r>
              <a:rPr lang="en-IN" altLang="en-US" dirty="0">
                <a:latin typeface="Times New Roman" panose="02020603050405020304" charset="0"/>
                <a:cs typeface="Times New Roman" panose="02020603050405020304" charset="0"/>
              </a:rPr>
              <a:t>Forensic Analysis of Linux and MAC System Artifacts</a:t>
            </a:r>
            <a:endParaRPr lang="en-IN" altLang="en-US" dirty="0">
              <a:latin typeface="Times New Roman" panose="02020603050405020304" charset="0"/>
              <a:cs typeface="Times New Roman" panose="02020603050405020304" charset="0"/>
            </a:endParaRPr>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IN" altLang="en-US"/>
              <a:t>Operating Sytem</a:t>
            </a:r>
            <a:endParaRPr lang="en-IN" altLang="en-US"/>
          </a:p>
        </p:txBody>
      </p:sp>
      <p:sp>
        <p:nvSpPr>
          <p:cNvPr id="3" name="Content Placeholder 2"/>
          <p:cNvSpPr>
            <a:spLocks noGrp="1"/>
          </p:cNvSpPr>
          <p:nvPr>
            <p:ph idx="1"/>
          </p:nvPr>
        </p:nvSpPr>
        <p:spPr/>
        <p:txBody>
          <a:bodyPr/>
          <a:p>
            <a:r>
              <a:rPr lang="en-US" sz="2800"/>
              <a:t>An operating system (OS) serves as the fundamental software that takes control upon its initial loading through a boot program, orchestrating the seamless execution of various application programs within a computer system. These application programs interact with the operating system by submitting service requests through a well-defined interface known as an application program interface (API). Furthermore, end users engage with the operating system directly, utilizing a user interface to facilitate interactions. This interface can take the form of a command-line interface (CLI), where text-based commands are employed, or a graphical user interface (GUI), offering a visual and intuitive means of interaction.</a:t>
            </a:r>
            <a:endParaRPr lang="en-US" sz="28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IN" altLang="en-US"/>
              <a:t>History Of Operating System</a:t>
            </a:r>
            <a:endParaRPr lang="en-IN" altLang="en-US"/>
          </a:p>
        </p:txBody>
      </p:sp>
      <p:sp>
        <p:nvSpPr>
          <p:cNvPr id="3" name="Content Placeholder 2"/>
          <p:cNvSpPr>
            <a:spLocks noGrp="1"/>
          </p:cNvSpPr>
          <p:nvPr>
            <p:ph idx="1"/>
          </p:nvPr>
        </p:nvSpPr>
        <p:spPr/>
        <p:txBody>
          <a:bodyPr/>
          <a:p>
            <a:r>
              <a:rPr lang="en-US" sz="2800"/>
              <a:t>In 1956, two decades following the introduction of the Z1 computer that operated without an operating system, the initial operating system emerged, primarily aimed at managing tape storage.</a:t>
            </a:r>
            <a:endParaRPr lang="en-US" sz="2800"/>
          </a:p>
          <a:p>
            <a:r>
              <a:rPr lang="en-US" sz="2800"/>
              <a:t>Subsequently, Bell Labs pioneered UNIX, and marked the inception of the first multitasking operating system.</a:t>
            </a:r>
            <a:endParaRPr lang="en-US" sz="2800"/>
          </a:p>
          <a:p>
            <a:r>
              <a:rPr lang="en-US" sz="2800"/>
              <a:t>In 1985, Microsoft fused MS-DOS with a Graphics User Interface (GUI), which gave rise to an integrated computing experience.</a:t>
            </a:r>
            <a:endParaRPr lang="en-US" sz="2800"/>
          </a:p>
          <a:p>
            <a:r>
              <a:rPr lang="en-US" sz="2800"/>
              <a:t>As of October 202</a:t>
            </a:r>
            <a:r>
              <a:rPr lang="en-IN" altLang="en-US" sz="2800"/>
              <a:t>4</a:t>
            </a:r>
            <a:r>
              <a:rPr lang="en-US" sz="2800"/>
              <a:t>, the latest iteration of Windows designed for personal computers and tablets is Windows 11</a:t>
            </a:r>
            <a:r>
              <a:rPr lang="en-IN" altLang="en-US" sz="2800"/>
              <a:t> Pro</a:t>
            </a:r>
            <a:r>
              <a:rPr lang="en-US" sz="2800"/>
              <a:t>, identified as version 21H2.</a:t>
            </a:r>
            <a:endParaRPr lang="en-US" sz="2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IN" altLang="en-US"/>
              <a:t>Operating Sytem </a:t>
            </a:r>
            <a:endParaRPr lang="en-IN" altLang="en-US"/>
          </a:p>
        </p:txBody>
      </p:sp>
      <p:pic>
        <p:nvPicPr>
          <p:cNvPr id="4" name="Content Placeholder 3"/>
          <p:cNvPicPr>
            <a:picLocks noChangeAspect="1"/>
          </p:cNvPicPr>
          <p:nvPr>
            <p:ph idx="1"/>
          </p:nvPr>
        </p:nvPicPr>
        <p:blipFill>
          <a:blip r:embed="rId1"/>
          <a:stretch>
            <a:fillRect/>
          </a:stretch>
        </p:blipFill>
        <p:spPr>
          <a:xfrm>
            <a:off x="879475" y="1230630"/>
            <a:ext cx="2592070" cy="3845560"/>
          </a:xfrm>
          <a:prstGeom prst="rect">
            <a:avLst/>
          </a:prstGeom>
        </p:spPr>
      </p:pic>
      <p:pic>
        <p:nvPicPr>
          <p:cNvPr id="8" name="Picture 7"/>
          <p:cNvPicPr>
            <a:picLocks noChangeAspect="1"/>
          </p:cNvPicPr>
          <p:nvPr/>
        </p:nvPicPr>
        <p:blipFill>
          <a:blip r:embed="rId2"/>
          <a:srcRect l="15436" t="19689" r="10132" b="11043"/>
          <a:stretch>
            <a:fillRect/>
          </a:stretch>
        </p:blipFill>
        <p:spPr>
          <a:xfrm>
            <a:off x="4694555" y="1231265"/>
            <a:ext cx="6019800" cy="506666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a:xfrm>
            <a:off x="609600" y="864235"/>
            <a:ext cx="10972800" cy="5263515"/>
          </a:xfrm>
        </p:spPr>
        <p:txBody>
          <a:bodyPr/>
          <a:p>
            <a:pPr marL="0" indent="0">
              <a:buNone/>
            </a:pPr>
            <a:r>
              <a:rPr lang="en-US" sz="2800"/>
              <a:t>Processor Management</a:t>
            </a:r>
            <a:endParaRPr lang="en-US" sz="2800"/>
          </a:p>
          <a:p>
            <a:r>
              <a:rPr lang="en-US" sz="2800"/>
              <a:t>Within a multi-programming setting, the operating system assumes the responsibility of determining the sequence in which processes are granted access to the central processing unit (CPU) and allocating time for processing to each individual process. This role fulfilled by the operating system is formally referred to as Process Scheduling. Further, an operating system is responsible for managing the processor’s work by allocating different jobs to it and ensuring that each process is allotted an adequate amount of processing time to operate effectively.</a:t>
            </a:r>
            <a:endParaRPr lang="en-US" sz="28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a:xfrm>
            <a:off x="609600" y="773430"/>
            <a:ext cx="10972800" cy="5354320"/>
          </a:xfrm>
        </p:spPr>
        <p:txBody>
          <a:bodyPr/>
          <a:p>
            <a:pPr marL="0" indent="0">
              <a:buNone/>
            </a:pPr>
            <a:r>
              <a:rPr lang="en-US" sz="2400"/>
              <a:t>Device Management</a:t>
            </a:r>
            <a:endParaRPr lang="en-US" sz="2400"/>
          </a:p>
          <a:p>
            <a:r>
              <a:rPr lang="en-US" sz="2400"/>
              <a:t>An operating system oversees the interaction with hardware devices through dedicated drivers. It undertakes the subsequent functions to manage devices:</a:t>
            </a:r>
            <a:endParaRPr lang="en-US" sz="2400"/>
          </a:p>
          <a:p>
            <a:r>
              <a:rPr lang="en-US" sz="2400"/>
              <a:t>Maintains a record of all linked devices within the system.</a:t>
            </a:r>
            <a:endParaRPr lang="en-US" sz="2400"/>
          </a:p>
          <a:p>
            <a:r>
              <a:rPr lang="en-US" sz="2400"/>
              <a:t>Designates an Input/Output controller which is responsible for the operation of each device.</a:t>
            </a:r>
            <a:endParaRPr lang="en-US" sz="2400"/>
          </a:p>
          <a:p>
            <a:r>
              <a:rPr lang="en-US" sz="2400"/>
              <a:t>Determines access privileges and time allocations for processes requesting device usage.</a:t>
            </a:r>
            <a:endParaRPr lang="en-US" sz="2400"/>
          </a:p>
          <a:p>
            <a:r>
              <a:rPr lang="en-US" sz="2400"/>
              <a:t>Efficiently allocates and effectively manages devices.</a:t>
            </a:r>
            <a:endParaRPr lang="en-US" sz="2400"/>
          </a:p>
          <a:p>
            <a:r>
              <a:rPr lang="en-US" sz="2400"/>
              <a:t>Releases devices when their use is no longer necessary.</a:t>
            </a:r>
            <a:endParaRPr lang="en-US" sz="2400"/>
          </a:p>
          <a:p>
            <a:r>
              <a:rPr lang="en-US" sz="2400"/>
              <a:t>Diverse input and output devices exist, and the operating system regulates their operation. It receives requests from these devices, executes specific tasks, and subsequently communicates the outcomes back to the requesting processes.</a:t>
            </a:r>
            <a:endParaRPr lang="en-US" sz="24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pPr marL="0" indent="0">
              <a:buNone/>
            </a:pPr>
            <a:r>
              <a:rPr lang="en-US" sz="2800"/>
              <a:t>File Management</a:t>
            </a:r>
            <a:endParaRPr lang="en-US" sz="2800"/>
          </a:p>
          <a:p>
            <a:r>
              <a:rPr lang="en-US" sz="2800"/>
              <a:t>A file system is structured with directories to streamline navigation and utilization. These directories can encompass additional directories and files. Operating Systems execute the subsequent file management tasks:</a:t>
            </a:r>
            <a:endParaRPr lang="en-US" sz="2800"/>
          </a:p>
          <a:p>
            <a:r>
              <a:rPr lang="en-US" sz="2800"/>
              <a:t>Monitoring file locations, user permissions, file statuses, and related details.</a:t>
            </a:r>
            <a:endParaRPr lang="en-US" sz="2800"/>
          </a:p>
          <a:p>
            <a:r>
              <a:rPr lang="en-US" sz="2800"/>
              <a:t>Supervising organized records of file creation, deletion, transfer, duplication, and storage.</a:t>
            </a:r>
            <a:endParaRPr lang="en-US" sz="2800"/>
          </a:p>
          <a:p>
            <a:r>
              <a:rPr lang="en-US" sz="2800"/>
              <a:t>Safeguarding data integrity within files, including the directory arrangement, by thwarting unauthorized entry.</a:t>
            </a:r>
            <a:endParaRPr lang="en-US" sz="28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sym typeface="+mn-ea"/>
              </a:rPr>
              <a:t>Features of Operating Systems</a:t>
            </a:r>
            <a:endParaRPr lang="en-US"/>
          </a:p>
        </p:txBody>
      </p:sp>
      <p:sp>
        <p:nvSpPr>
          <p:cNvPr id="3" name="Content Placeholder 2"/>
          <p:cNvSpPr>
            <a:spLocks noGrp="1"/>
          </p:cNvSpPr>
          <p:nvPr>
            <p:ph idx="1"/>
          </p:nvPr>
        </p:nvSpPr>
        <p:spPr/>
        <p:txBody>
          <a:bodyPr/>
          <a:p>
            <a:r>
              <a:rPr lang="en-US"/>
              <a:t>Serves as a foundation for executing applications</a:t>
            </a:r>
            <a:endParaRPr lang="en-US"/>
          </a:p>
          <a:p>
            <a:r>
              <a:rPr lang="en-US"/>
              <a:t>Manages memory and orchestrates CPU allocation</a:t>
            </a:r>
            <a:endParaRPr lang="en-US"/>
          </a:p>
          <a:p>
            <a:r>
              <a:rPr lang="en-US"/>
              <a:t>Offers an abstract approach to file systems</a:t>
            </a:r>
            <a:endParaRPr lang="en-US"/>
          </a:p>
          <a:p>
            <a:r>
              <a:rPr lang="en-US"/>
              <a:t>Facilitates networking capabilities</a:t>
            </a:r>
            <a:endParaRPr lang="en-US"/>
          </a:p>
          <a:p>
            <a:r>
              <a:rPr lang="en-US"/>
              <a:t>Implements security functionalities</a:t>
            </a:r>
            <a:endParaRPr lang="en-US"/>
          </a:p>
          <a:p>
            <a:r>
              <a:rPr lang="en-US"/>
              <a:t>Presents a user interface</a:t>
            </a:r>
            <a:endParaRPr lang="en-US"/>
          </a:p>
          <a:p>
            <a:r>
              <a:rPr lang="en-US"/>
              <a:t>Delivers system utilities and services</a:t>
            </a:r>
            <a:endParaRPr lang="en-US"/>
          </a:p>
          <a:p>
            <a:r>
              <a:rPr lang="en-US"/>
              <a:t>Takes care of application development support</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pPr marL="0" indent="0">
              <a:buNone/>
            </a:pPr>
            <a:r>
              <a:rPr lang="en-US" sz="2800"/>
              <a:t>I/O Device Management</a:t>
            </a:r>
            <a:endParaRPr lang="en-US" sz="2800"/>
          </a:p>
          <a:p>
            <a:r>
              <a:rPr lang="en-US" sz="2800"/>
              <a:t>An integral role of an operating system is to shield users from the unique intricacies of distinct hardware components. I/O Device Management achieves this by creating a higher-level abstraction of hardware devices, concealing intricate specifics from applications. This abstraction ensures the correct utilization of devices, safeguards against errors, and furnishes users with a user-friendly and effective programming environment.</a:t>
            </a:r>
            <a:endParaRPr lang="en-US" sz="2800"/>
          </a:p>
          <a:p>
            <a:r>
              <a:rPr lang="en-US" sz="2800"/>
              <a:t>Functions of I/O management:</a:t>
            </a:r>
            <a:endParaRPr lang="en-US" sz="2800"/>
          </a:p>
          <a:p>
            <a:r>
              <a:rPr lang="en-US" sz="2800"/>
              <a:t>Offers buffer caching system.</a:t>
            </a:r>
            <a:endParaRPr lang="en-US" sz="2800"/>
          </a:p>
          <a:p>
            <a:r>
              <a:rPr lang="en-US" sz="2800"/>
              <a:t>Provides general device driver code.</a:t>
            </a:r>
            <a:endParaRPr lang="en-US" sz="2800"/>
          </a:p>
          <a:p>
            <a:r>
              <a:rPr lang="en-US" sz="2800"/>
              <a:t>Provides drivers for particular hardware devices.</a:t>
            </a:r>
            <a:endParaRPr lang="en-US" sz="28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pPr marL="0" indent="0">
              <a:buNone/>
            </a:pPr>
            <a:r>
              <a:rPr lang="en-US" sz="2400"/>
              <a:t>Network Management</a:t>
            </a:r>
            <a:endParaRPr lang="en-US" sz="2400"/>
          </a:p>
          <a:p>
            <a:r>
              <a:rPr lang="en-US" sz="2400"/>
              <a:t>Network management encompasses overseeing and governing computer networks. This involves tasks like monitoring performance, diagnosing faults, provisioning network resources, and upholding service quality.</a:t>
            </a:r>
            <a:endParaRPr lang="en-US" sz="2400"/>
          </a:p>
          <a:p>
            <a:r>
              <a:rPr lang="en-US" sz="2400"/>
              <a:t>Functions of Network Management:</a:t>
            </a:r>
            <a:endParaRPr lang="en-US" sz="2400"/>
          </a:p>
          <a:p>
            <a:r>
              <a:rPr lang="en-US" sz="2400"/>
              <a:t>Network management encompasses several key tasks, including configuring network equipment and connections, monitoring performance, and managing faults. Furthermore, security and accounting also constitute integral aspects of network management functions. While a majority of management activities are carried out using a centralized system hierarchy, specific functions such as recovering from failures or utilizing defect indicators to mitigate alarms, are executed in a decentralized manner.</a:t>
            </a:r>
            <a:endParaRPr lang="en-US" sz="24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a:xfrm>
            <a:off x="609600" y="774065"/>
            <a:ext cx="10972800" cy="5353685"/>
          </a:xfrm>
        </p:spPr>
        <p:txBody>
          <a:bodyPr/>
          <a:p>
            <a:pPr marL="0" indent="0">
              <a:buNone/>
            </a:pPr>
            <a:r>
              <a:rPr lang="en-US" sz="2400"/>
              <a:t>Main Memory Management</a:t>
            </a:r>
            <a:endParaRPr lang="en-US" sz="2400"/>
          </a:p>
          <a:p>
            <a:r>
              <a:rPr lang="en-US" sz="2400"/>
              <a:t>Main Memory constitutes an expansive arrangement of storage units, each associated with a unique address. Memory management involves orchestrating a series of read or write operations targeted at specific memory addresses.</a:t>
            </a:r>
            <a:endParaRPr lang="en-US" sz="2400"/>
          </a:p>
          <a:p>
            <a:r>
              <a:rPr lang="en-US" sz="2400"/>
              <a:t>Main memory is a versatile and volatile form of storage mechanism. Comprising a substantial series of bytes and addresses, it serves as a temporary repository for volatile information. Commonly known as Random Access Memory (RAM), Whenever computer routines are initiated, they find a temporary abode in the primary memory for processing. Subsequently, users have the option to preserve data</a:t>
            </a:r>
            <a:endParaRPr lang="en-US" sz="2400"/>
          </a:p>
          <a:p>
            <a:r>
              <a:rPr lang="en-US" sz="2400"/>
              <a:t>Functions of Main Memory Management:</a:t>
            </a:r>
            <a:endParaRPr lang="en-US" sz="2400"/>
          </a:p>
          <a:p>
            <a:r>
              <a:rPr lang="en-US" sz="2400"/>
              <a:t>It helps to track primary memory.</a:t>
            </a:r>
            <a:endParaRPr lang="en-US" sz="2400"/>
          </a:p>
          <a:p>
            <a:r>
              <a:rPr lang="en-US" sz="2400"/>
              <a:t>De-allocates the memory when a process no longer requires it or has been terminated.</a:t>
            </a:r>
            <a:endParaRPr lang="en-US" sz="24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pPr marL="0" indent="0">
              <a:buNone/>
            </a:pPr>
            <a:r>
              <a:rPr lang="en-US"/>
              <a:t>Security Management</a:t>
            </a:r>
            <a:endParaRPr lang="en-US"/>
          </a:p>
          <a:p>
            <a:r>
              <a:rPr lang="en-US"/>
              <a:t>To safeguard processes within an operating system, it becomes imperative to shield them from potential interference by others. This necessitates the implementation of diverse mechanisms, aiming to validate that processes seeking to access hardware resources such as files, memory, and CPU and possess the appropriate authorization granted by the operating system.</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a:xfrm>
            <a:off x="609600" y="919480"/>
            <a:ext cx="10972800" cy="5208270"/>
          </a:xfrm>
        </p:spPr>
        <p:txBody>
          <a:bodyPr/>
          <a:p>
            <a:pPr marL="0" indent="0">
              <a:buNone/>
            </a:pPr>
            <a:r>
              <a:rPr lang="en-US"/>
              <a:t>Secondary Storage Management</a:t>
            </a:r>
            <a:endParaRPr lang="en-US"/>
          </a:p>
          <a:p>
            <a:r>
              <a:rPr lang="en-US"/>
              <a:t>Free space management.</a:t>
            </a:r>
            <a:endParaRPr lang="en-US"/>
          </a:p>
          <a:p>
            <a:r>
              <a:rPr lang="en-US"/>
              <a:t>Storage allocation.</a:t>
            </a:r>
            <a:endParaRPr lang="en-US"/>
          </a:p>
          <a:p>
            <a:r>
              <a:rPr lang="en-US"/>
              <a:t>Disk scheduling</a:t>
            </a:r>
            <a:endParaRPr lang="en-US"/>
          </a:p>
          <a:p>
            <a:pPr marL="0" indent="0">
              <a:buNone/>
            </a:pPr>
            <a:r>
              <a:rPr lang="en-US"/>
              <a:t>Command Interpreter System</a:t>
            </a:r>
            <a:endParaRPr lang="en-US"/>
          </a:p>
          <a:p>
            <a:pPr marL="0" indent="0">
              <a:buNone/>
            </a:pPr>
            <a:r>
              <a:rPr lang="en-US"/>
              <a:t>An integral element within an operating system is its command interpreter, serving as the pivotal link connecting the user with the system’s functionalities. </a:t>
            </a:r>
            <a:endParaRPr lang="en-US"/>
          </a:p>
          <a:p>
            <a:pPr marL="0" indent="0">
              <a:buNone/>
            </a:pPr>
            <a:r>
              <a:rPr lang="en-US"/>
              <a:t>The command interpreter functions by executing user commands,</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a:xfrm>
            <a:off x="272415" y="1174750"/>
            <a:ext cx="11581765" cy="4953000"/>
          </a:xfrm>
        </p:spPr>
        <p:txBody>
          <a:bodyPr/>
          <a:p>
            <a:pPr marL="0" indent="0">
              <a:buNone/>
            </a:pPr>
            <a:r>
              <a:rPr lang="en-US"/>
              <a:t>32-bit OS versus 64-bit OS</a:t>
            </a:r>
            <a:endParaRPr lang="en-US"/>
          </a:p>
          <a:p>
            <a:r>
              <a:rPr lang="en-US"/>
              <a:t>A 64-bit processor surpasses a 32-bit processor in capability due to its ability to process larger amounts of data simultaneously. With a 64-bit processor, there’s increased capacity to hold computational values, such as memory addresses, resulting in access to over four billion times the physical memory compared to a 32-bit processor. One other notable distinction between 32-bit processors and 64-bit processors lies in their computational speed, impacting the rate at which tasks can be accomplished.</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4" name="Content Placeholder 3"/>
          <p:cNvPicPr>
            <a:picLocks noChangeAspect="1"/>
          </p:cNvPicPr>
          <p:nvPr>
            <p:ph idx="1"/>
          </p:nvPr>
        </p:nvPicPr>
        <p:blipFill>
          <a:blip r:embed="rId1"/>
          <a:stretch>
            <a:fillRect/>
          </a:stretch>
        </p:blipFill>
        <p:spPr>
          <a:xfrm>
            <a:off x="2670175" y="1021080"/>
            <a:ext cx="6190615" cy="541401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latin typeface="Times New Roman" panose="02020603050405020304" charset="0"/>
                <a:cs typeface="Times New Roman" panose="02020603050405020304" charset="0"/>
              </a:rPr>
              <a:t>MAC File-system and Artifacts</a:t>
            </a:r>
            <a:endParaRPr lang="en-US">
              <a:latin typeface="Times New Roman" panose="02020603050405020304" charset="0"/>
              <a:cs typeface="Times New Roman" panose="02020603050405020304" charset="0"/>
            </a:endParaRPr>
          </a:p>
        </p:txBody>
      </p:sp>
      <p:sp>
        <p:nvSpPr>
          <p:cNvPr id="3" name="Content Placeholder 2"/>
          <p:cNvSpPr>
            <a:spLocks noGrp="1"/>
          </p:cNvSpPr>
          <p:nvPr>
            <p:ph idx="1"/>
          </p:nvPr>
        </p:nvSpPr>
        <p:spPr/>
        <p:txBody>
          <a:bodyPr/>
          <a:p>
            <a:pPr marL="0" indent="0" algn="l">
              <a:buClrTx/>
              <a:buSzTx/>
              <a:buFontTx/>
              <a:buNone/>
            </a:pPr>
            <a:r>
              <a:rPr lang="en-US" b="1" u="sng">
                <a:solidFill>
                  <a:srgbClr val="FF0000"/>
                </a:solidFill>
                <a:latin typeface="Times New Roman" panose="02020603050405020304" charset="0"/>
                <a:cs typeface="Times New Roman" panose="02020603050405020304" charset="0"/>
              </a:rPr>
              <a:t>Introduction to MAC OS</a:t>
            </a:r>
            <a:endParaRPr lang="en-US" b="1" u="sng">
              <a:solidFill>
                <a:srgbClr val="FF0000"/>
              </a:solidFill>
              <a:latin typeface="Times New Roman" panose="02020603050405020304" charset="0"/>
              <a:cs typeface="Times New Roman" panose="02020603050405020304" charset="0"/>
            </a:endParaRPr>
          </a:p>
          <a:p>
            <a:pPr algn="l">
              <a:buClrTx/>
              <a:buSzTx/>
            </a:pPr>
            <a:r>
              <a:rPr lang="en-US">
                <a:solidFill>
                  <a:schemeClr val="tx1"/>
                </a:solidFill>
                <a:latin typeface="Times New Roman" panose="02020603050405020304" charset="0"/>
                <a:cs typeface="Times New Roman" panose="02020603050405020304" charset="0"/>
              </a:rPr>
              <a:t>macOS is an operating system designed by Apple for its Mac computers. It is based on UNIX, making it secure, stable, and efficient.</a:t>
            </a:r>
            <a:endParaRPr lang="en-US" u="sng">
              <a:solidFill>
                <a:schemeClr val="tx1"/>
              </a:solidFill>
              <a:latin typeface="Times New Roman" panose="02020603050405020304" charset="0"/>
              <a:cs typeface="Times New Roman" panose="02020603050405020304" charset="0"/>
            </a:endParaRPr>
          </a:p>
          <a:p>
            <a:pPr algn="l">
              <a:buClrTx/>
              <a:buSzTx/>
            </a:pPr>
            <a:r>
              <a:rPr lang="en-US">
                <a:latin typeface="Times New Roman" panose="02020603050405020304" charset="0"/>
                <a:cs typeface="Times New Roman" panose="02020603050405020304" charset="0"/>
              </a:rPr>
              <a:t>In </a:t>
            </a:r>
            <a:r>
              <a:rPr lang="en-IN" altLang="en-US">
                <a:latin typeface="Times New Roman" panose="02020603050405020304" charset="0"/>
                <a:cs typeface="Times New Roman" panose="02020603050405020304" charset="0"/>
              </a:rPr>
              <a:t>1984, Apple introduced the Macintosh PC with the mac os</a:t>
            </a:r>
            <a:endParaRPr lang="en-IN" altLang="en-US">
              <a:latin typeface="Times New Roman" panose="02020603050405020304" charset="0"/>
              <a:cs typeface="Times New Roman" panose="02020603050405020304" charset="0"/>
            </a:endParaRPr>
          </a:p>
          <a:p>
            <a:pPr algn="l">
              <a:buClrTx/>
              <a:buSzTx/>
            </a:pPr>
            <a:r>
              <a:rPr lang="en-IN" altLang="en-US">
                <a:latin typeface="Times New Roman" panose="02020603050405020304" charset="0"/>
                <a:cs typeface="Times New Roman" panose="02020603050405020304" charset="0"/>
              </a:rPr>
              <a:t>Apple name its OS as “Mac OS”,beginning in 1997 which was previously known as “System”.</a:t>
            </a:r>
            <a:endParaRPr lang="en-US">
              <a:latin typeface="Times New Roman" panose="02020603050405020304" charset="0"/>
              <a:cs typeface="Times New Roman" panose="02020603050405020304" charset="0"/>
            </a:endParaRPr>
          </a:p>
          <a:p>
            <a:endParaRPr lang="en-US" b="1" u="sng">
              <a:solidFill>
                <a:srgbClr val="FF0000"/>
              </a:solidFill>
              <a:latin typeface="Times New Roman" panose="02020603050405020304" charset="0"/>
              <a:cs typeface="Times New Roman" panose="0202060305040502030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pPr marL="0" algn="l">
              <a:buClrTx/>
              <a:buSzTx/>
              <a:buFontTx/>
              <a:buNone/>
            </a:pPr>
            <a:r>
              <a:rPr lang="en-US" b="1" u="sng">
                <a:solidFill>
                  <a:srgbClr val="FF0000"/>
                </a:solidFill>
                <a:latin typeface="Times New Roman" panose="02020603050405020304" charset="0"/>
                <a:cs typeface="Times New Roman" panose="02020603050405020304" charset="0"/>
              </a:rPr>
              <a:t>Key Features:</a:t>
            </a:r>
            <a:endParaRPr lang="en-US" b="1" u="sng">
              <a:solidFill>
                <a:srgbClr val="FF0000"/>
              </a:solidFill>
              <a:latin typeface="Times New Roman" panose="02020603050405020304" charset="0"/>
              <a:cs typeface="Times New Roman" panose="02020603050405020304" charset="0"/>
            </a:endParaRPr>
          </a:p>
          <a:p>
            <a:pPr algn="l">
              <a:buClrTx/>
              <a:buSzTx/>
            </a:pPr>
            <a:r>
              <a:rPr lang="en-IN" altLang="en-US">
                <a:solidFill>
                  <a:schemeClr val="tx1"/>
                </a:solidFill>
                <a:latin typeface="Times New Roman" panose="02020603050405020304" charset="0"/>
                <a:cs typeface="Times New Roman" panose="02020603050405020304" charset="0"/>
              </a:rPr>
              <a:t>Graphical User Interface (GUI): A user-friendly interface designed for ease of navigation.</a:t>
            </a:r>
            <a:endParaRPr lang="en-IN" altLang="en-US">
              <a:solidFill>
                <a:schemeClr val="tx1"/>
              </a:solidFill>
              <a:latin typeface="Times New Roman" panose="02020603050405020304" charset="0"/>
              <a:cs typeface="Times New Roman" panose="02020603050405020304" charset="0"/>
            </a:endParaRPr>
          </a:p>
          <a:p>
            <a:pPr algn="l">
              <a:buClrTx/>
              <a:buSzTx/>
            </a:pPr>
            <a:r>
              <a:rPr lang="en-IN" altLang="en-US">
                <a:solidFill>
                  <a:schemeClr val="tx1"/>
                </a:solidFill>
                <a:latin typeface="Times New Roman" panose="02020603050405020304" charset="0"/>
                <a:cs typeface="Times New Roman" panose="02020603050405020304" charset="0"/>
              </a:rPr>
              <a:t>Built-in Security: Features like Gatekeeper, SIP (System Integrity Protection), and FileVault ensure high-level data protection.</a:t>
            </a:r>
            <a:endParaRPr lang="en-IN" altLang="en-US">
              <a:solidFill>
                <a:schemeClr val="tx1"/>
              </a:solidFill>
              <a:latin typeface="Times New Roman" panose="02020603050405020304" charset="0"/>
              <a:cs typeface="Times New Roman" panose="02020603050405020304" charset="0"/>
            </a:endParaRPr>
          </a:p>
          <a:p>
            <a:pPr algn="l">
              <a:buClrTx/>
              <a:buSzTx/>
            </a:pPr>
            <a:r>
              <a:rPr lang="en-IN" altLang="en-US">
                <a:solidFill>
                  <a:schemeClr val="tx1"/>
                </a:solidFill>
                <a:latin typeface="Times New Roman" panose="02020603050405020304" charset="0"/>
                <a:cs typeface="Times New Roman" panose="02020603050405020304" charset="0"/>
              </a:rPr>
              <a:t>Cross-Device Integration: Works seamlessly with iPhones, iPads, and other Apple devices using features like Handoff and Universal Clipboard.</a:t>
            </a:r>
            <a:endParaRPr lang="en-IN" altLang="en-US">
              <a:solidFill>
                <a:schemeClr val="tx1"/>
              </a:solidFill>
              <a:latin typeface="Times New Roman" panose="02020603050405020304" charset="0"/>
              <a:cs typeface="Times New Roman" panose="0202060305040502030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IN" altLang="en-US"/>
              <a:t>File System</a:t>
            </a:r>
            <a:endParaRPr lang="en-IN" altLang="en-US"/>
          </a:p>
        </p:txBody>
      </p:sp>
      <p:sp>
        <p:nvSpPr>
          <p:cNvPr id="3" name="Content Placeholder 2"/>
          <p:cNvSpPr>
            <a:spLocks noGrp="1"/>
          </p:cNvSpPr>
          <p:nvPr>
            <p:ph idx="1"/>
          </p:nvPr>
        </p:nvSpPr>
        <p:spPr/>
        <p:txBody>
          <a:bodyPr/>
          <a:p>
            <a:pPr marL="0" indent="0">
              <a:buNone/>
            </a:pPr>
            <a:r>
              <a:rPr lang="en-US"/>
              <a:t>1. File System Overview</a:t>
            </a:r>
            <a:endParaRPr lang="en-US"/>
          </a:p>
          <a:p>
            <a:r>
              <a:rPr lang="en-US"/>
              <a:t>A file system organizes and manages how data is stored and retrieved on a disk. In macOS, </a:t>
            </a:r>
            <a:r>
              <a:rPr lang="en-US">
                <a:solidFill>
                  <a:srgbClr val="FF0000"/>
                </a:solidFill>
              </a:rPr>
              <a:t>APFS</a:t>
            </a:r>
            <a:r>
              <a:rPr lang="en-US"/>
              <a:t> (Apple File System) is the default file system.</a:t>
            </a:r>
            <a:endParaRPr lang="en-US"/>
          </a:p>
          <a:p>
            <a:r>
              <a:rPr lang="en-US"/>
              <a:t>APFS replaces the aging HFS+ (Hierarchical File System Plus) that had been in use for many years. APFS is designed to offer improved performance, reliability, and security, especially in the context of modern storage technologies and computing environments. Here are some key features and aspects of APFS</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t>APFS (Apple File System)</a:t>
            </a:r>
            <a:endParaRPr lang="en-US"/>
          </a:p>
        </p:txBody>
      </p:sp>
      <p:sp>
        <p:nvSpPr>
          <p:cNvPr id="3" name="Content Placeholder 2"/>
          <p:cNvSpPr>
            <a:spLocks noGrp="1"/>
          </p:cNvSpPr>
          <p:nvPr>
            <p:ph idx="1"/>
          </p:nvPr>
        </p:nvSpPr>
        <p:spPr>
          <a:xfrm>
            <a:off x="609600" y="774065"/>
            <a:ext cx="10972800" cy="5353685"/>
          </a:xfrm>
        </p:spPr>
        <p:txBody>
          <a:bodyPr/>
          <a:p>
            <a:pPr marL="0" indent="0">
              <a:buNone/>
            </a:pPr>
            <a:r>
              <a:rPr lang="en-IN" altLang="en-US"/>
              <a:t>1.</a:t>
            </a:r>
            <a:r>
              <a:rPr lang="en-US"/>
              <a:t>Space Sharing:</a:t>
            </a:r>
            <a:endParaRPr lang="en-US"/>
          </a:p>
          <a:p>
            <a:r>
              <a:rPr lang="en-US"/>
              <a:t>Multiple volumes can dynamically share available storage space instead of being fixed to specific sizes.</a:t>
            </a:r>
            <a:endParaRPr lang="en-US"/>
          </a:p>
          <a:p>
            <a:r>
              <a:rPr lang="en-US"/>
              <a:t>Example: If you have two volumes on a 500 GB drive, one volume can use 400 GB, and the other can use 100 GB if needed.</a:t>
            </a:r>
            <a:endParaRPr lang="en-US"/>
          </a:p>
          <a:p>
            <a:pPr marL="0" indent="0">
              <a:buNone/>
            </a:pPr>
            <a:r>
              <a:rPr lang="en-IN" altLang="en-US"/>
              <a:t>2.</a:t>
            </a:r>
            <a:r>
              <a:rPr lang="en-US"/>
              <a:t>Snapshots:</a:t>
            </a:r>
            <a:endParaRPr lang="en-US"/>
          </a:p>
          <a:p>
            <a:r>
              <a:rPr lang="en-US"/>
              <a:t>A snapshot is a read-only copy of the file system at a particular moment.</a:t>
            </a:r>
            <a:endParaRPr lang="en-US"/>
          </a:p>
          <a:p>
            <a:r>
              <a:rPr lang="en-US"/>
              <a:t>Use Case: Time Machine uses snapshots to back up data, allowing users to restore files to a previous state.</a:t>
            </a: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a:xfrm>
            <a:off x="609600" y="774065"/>
            <a:ext cx="10972800" cy="5353685"/>
          </a:xfrm>
        </p:spPr>
        <p:txBody>
          <a:bodyPr/>
          <a:p>
            <a:pPr marL="0" indent="0">
              <a:buNone/>
            </a:pPr>
            <a:r>
              <a:rPr lang="en-IN" altLang="en-US"/>
              <a:t>3.</a:t>
            </a:r>
            <a:r>
              <a:rPr lang="en-US"/>
              <a:t>Crash Protection (Copy-on-Write):</a:t>
            </a:r>
            <a:endParaRPr lang="en-US"/>
          </a:p>
          <a:p>
            <a:r>
              <a:rPr lang="en-US"/>
              <a:t>Data changes are written to a new location before updating metadata, ensuring that the system remains stable in case of a crash.</a:t>
            </a:r>
            <a:endParaRPr lang="en-US"/>
          </a:p>
          <a:p>
            <a:r>
              <a:rPr lang="en-US"/>
              <a:t>Example: While editing a file, the original remains untouched until the new version is saved successfully.</a:t>
            </a:r>
            <a:endParaRPr lang="en-US"/>
          </a:p>
          <a:p>
            <a:pPr marL="0" indent="0">
              <a:buNone/>
            </a:pPr>
            <a:r>
              <a:rPr lang="en-IN" altLang="en-US"/>
              <a:t>4.</a:t>
            </a:r>
            <a:r>
              <a:rPr lang="en-US"/>
              <a:t>Native Encryption:</a:t>
            </a:r>
            <a:endParaRPr lang="en-US"/>
          </a:p>
          <a:p>
            <a:r>
              <a:rPr lang="en-US"/>
              <a:t>APFS supports full-disk encryption and per-file encryption.</a:t>
            </a:r>
            <a:endParaRPr lang="en-US"/>
          </a:p>
          <a:p>
            <a:r>
              <a:rPr lang="en-US"/>
              <a:t>Example: FileVault uses this feature to secure macOS drives.</a:t>
            </a:r>
            <a:endParaRPr lang="en-US"/>
          </a:p>
          <a:p>
            <a:r>
              <a:rPr lang="en-US"/>
              <a:t>APFS uses the XTS-AES-128 encryption algorithm</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pPr marL="0" indent="0">
              <a:buNone/>
            </a:pPr>
            <a:r>
              <a:rPr lang="en-IN" altLang="en-US"/>
              <a:t>5.</a:t>
            </a:r>
            <a:r>
              <a:rPr lang="en-US"/>
              <a:t>Cloning:</a:t>
            </a:r>
            <a:endParaRPr lang="en-US"/>
          </a:p>
          <a:p>
            <a:r>
              <a:rPr lang="en-US"/>
              <a:t>Creates a copy of a file or directory without duplicating data until changes are made.</a:t>
            </a:r>
            <a:endParaRPr lang="en-US"/>
          </a:p>
          <a:p>
            <a:r>
              <a:rPr lang="en-US"/>
              <a:t>Example: If you duplicate a 1 GB file, no extra space is used unless you modify the duplicate.</a:t>
            </a:r>
            <a:endParaRPr lang="en-US"/>
          </a:p>
          <a:p>
            <a:pPr marL="0" indent="0">
              <a:buNone/>
            </a:pPr>
            <a:r>
              <a:rPr lang="en-IN" altLang="en-US"/>
              <a:t>6.Sparse File Support:</a:t>
            </a:r>
            <a:endParaRPr lang="en-IN" altLang="en-US"/>
          </a:p>
          <a:p>
            <a:r>
              <a:rPr lang="en-IN" altLang="en-US"/>
              <a:t>  APFS supports sparse files, which are files that have large amounts of unallocated space within them. This is beneficial for applications that use large data sets with portions of empty or zeroed data.</a:t>
            </a:r>
            <a:endParaRPr lang="en-I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pPr marL="0" indent="0">
              <a:buNone/>
            </a:pPr>
            <a:r>
              <a:rPr lang="en-IN" altLang="en-US"/>
              <a:t>7. Optimized for Flash/SSD Storage:</a:t>
            </a:r>
            <a:endParaRPr lang="en-IN" altLang="en-US"/>
          </a:p>
          <a:p>
            <a:r>
              <a:rPr lang="en-IN" altLang="en-US"/>
              <a:t> APFS is optimized for modern storage technologies, particularly flash storage and solid-state drives (SSDs). It includes features that take advantage of the performance characteristics of these storage devices, such as efficient space allocation and improved read and write performance.</a:t>
            </a:r>
            <a:endParaRPr lang="en-I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t>Important Directories</a:t>
            </a:r>
            <a:endParaRPr lang="en-US"/>
          </a:p>
        </p:txBody>
      </p:sp>
      <p:sp>
        <p:nvSpPr>
          <p:cNvPr id="3" name="Content Placeholder 2"/>
          <p:cNvSpPr>
            <a:spLocks noGrp="1"/>
          </p:cNvSpPr>
          <p:nvPr>
            <p:ph idx="1"/>
          </p:nvPr>
        </p:nvSpPr>
        <p:spPr/>
        <p:txBody>
          <a:bodyPr/>
          <a:p>
            <a:pPr marL="0" indent="0">
              <a:buNone/>
            </a:pPr>
            <a:r>
              <a:rPr lang="en-IN" altLang="en-US"/>
              <a:t>1. Root Directory /: -/system,/users</a:t>
            </a:r>
            <a:endParaRPr lang="en-IN" altLang="en-US"/>
          </a:p>
          <a:p>
            <a:pPr marL="0" indent="0">
              <a:buNone/>
            </a:pPr>
            <a:r>
              <a:rPr lang="en-IN" altLang="en-US"/>
              <a:t>2. /System Directory - Store core macos files</a:t>
            </a:r>
            <a:endParaRPr lang="en-IN" altLang="en-US"/>
          </a:p>
          <a:p>
            <a:pPr marL="0" indent="0">
              <a:buNone/>
            </a:pPr>
            <a:r>
              <a:rPr lang="en-IN" altLang="en-US"/>
              <a:t>3. /Users </a:t>
            </a:r>
            <a:endParaRPr lang="en-IN" altLang="en-US"/>
          </a:p>
          <a:p>
            <a:pPr marL="0" indent="0">
              <a:buNone/>
            </a:pPr>
            <a:r>
              <a:rPr lang="en-IN" altLang="en-US"/>
              <a:t>4. /library</a:t>
            </a:r>
            <a:endParaRPr lang="en-IN" altLang="en-US"/>
          </a:p>
          <a:p>
            <a:pPr marL="0" indent="0">
              <a:buNone/>
            </a:pPr>
            <a:r>
              <a:rPr lang="en-IN" altLang="en-US"/>
              <a:t>5. /tmp</a:t>
            </a:r>
            <a:endParaRPr lang="en-IN" altLang="en-US"/>
          </a:p>
          <a:p>
            <a:pPr marL="0" indent="0">
              <a:buNone/>
            </a:pPr>
            <a:r>
              <a:rPr lang="en-IN" altLang="en-US"/>
              <a:t>6. Hidden Directories:</a:t>
            </a:r>
            <a:endParaRPr lang="en-IN" altLang="en-US"/>
          </a:p>
          <a:p>
            <a:r>
              <a:rPr lang="en-IN" altLang="en-US"/>
              <a:t>Directories starting with a dot (e.g., .bash_profile).</a:t>
            </a:r>
            <a:endParaRPr lang="en-IN" altLang="en-US"/>
          </a:p>
          <a:p>
            <a:r>
              <a:rPr lang="en-IN" altLang="en-US"/>
              <a:t>Often used for configuration files or system processes.</a:t>
            </a:r>
            <a:endParaRPr lang="en-IN" altLang="en-US"/>
          </a:p>
          <a:p>
            <a:r>
              <a:rPr lang="en-IN" altLang="en-US"/>
              <a:t>Command: Use ls -la in the terminal to view hidden files.</a:t>
            </a:r>
            <a:endParaRPr lang="en-I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IN" altLang="en-US"/>
              <a:t>Booting Process</a:t>
            </a:r>
            <a:endParaRPr lang="en-IN" altLang="en-US"/>
          </a:p>
        </p:txBody>
      </p:sp>
      <p:sp>
        <p:nvSpPr>
          <p:cNvPr id="3" name="Content Placeholder 2"/>
          <p:cNvSpPr>
            <a:spLocks noGrp="1"/>
          </p:cNvSpPr>
          <p:nvPr>
            <p:ph idx="1"/>
          </p:nvPr>
        </p:nvSpPr>
        <p:spPr>
          <a:xfrm>
            <a:off x="609600" y="967740"/>
            <a:ext cx="11322050" cy="5600065"/>
          </a:xfrm>
        </p:spPr>
        <p:txBody>
          <a:bodyPr/>
          <a:p>
            <a:pPr marL="0" indent="0">
              <a:buNone/>
            </a:pPr>
            <a:r>
              <a:rPr lang="en-IN" altLang="en-US" sz="2400"/>
              <a:t>1. </a:t>
            </a:r>
            <a:r>
              <a:rPr lang="en-US" sz="2400"/>
              <a:t>Power-On Self-Test (POST):</a:t>
            </a:r>
            <a:endParaRPr lang="en-US" sz="2400"/>
          </a:p>
          <a:p>
            <a:r>
              <a:rPr lang="en-US" sz="2400"/>
              <a:t>Performed by the BootROM to check hardware.</a:t>
            </a:r>
            <a:endParaRPr lang="en-US" sz="2400"/>
          </a:p>
          <a:p>
            <a:r>
              <a:rPr lang="en-US" sz="2400"/>
              <a:t>Example: Ensures the CPU, RAM, and peripherals are functional.</a:t>
            </a:r>
            <a:endParaRPr lang="en-US" sz="2400"/>
          </a:p>
          <a:p>
            <a:pPr marL="0" indent="0">
              <a:buNone/>
            </a:pPr>
            <a:r>
              <a:rPr lang="en-IN" altLang="en-US" sz="2400"/>
              <a:t>2. </a:t>
            </a:r>
            <a:r>
              <a:rPr lang="en-US" sz="2400"/>
              <a:t>EFI (Extensible Firmware Interface):</a:t>
            </a:r>
            <a:endParaRPr lang="en-US" sz="2400"/>
          </a:p>
          <a:p>
            <a:r>
              <a:rPr lang="en-US" sz="2400"/>
              <a:t>Similar to BIOS in Windows but more advanced.</a:t>
            </a:r>
            <a:endParaRPr lang="en-US" sz="2400"/>
          </a:p>
          <a:p>
            <a:r>
              <a:rPr lang="en-US" sz="2400"/>
              <a:t>Loads drivers and initializes hardware for macOS to start.</a:t>
            </a:r>
            <a:endParaRPr lang="en-US" sz="2400"/>
          </a:p>
          <a:p>
            <a:pPr marL="0" indent="0">
              <a:buNone/>
            </a:pPr>
            <a:r>
              <a:rPr lang="en-IN" altLang="en-US" sz="2400"/>
              <a:t>3.</a:t>
            </a:r>
            <a:r>
              <a:rPr lang="en-US" sz="2400"/>
              <a:t>Kernel Initialization:</a:t>
            </a:r>
            <a:endParaRPr lang="en-US" sz="2400"/>
          </a:p>
          <a:p>
            <a:r>
              <a:rPr lang="en-US" sz="2400"/>
              <a:t>The kernel (core of macOS) starts. It manages hardware like memory and CPU.</a:t>
            </a:r>
            <a:endParaRPr lang="en-US" sz="2400"/>
          </a:p>
          <a:p>
            <a:r>
              <a:rPr lang="en-US" sz="2400"/>
              <a:t>Loads drivers and mounts the APFS root file system.</a:t>
            </a:r>
            <a:endParaRPr lang="en-US" sz="2400"/>
          </a:p>
          <a:p>
            <a:pPr marL="0" indent="0">
              <a:buNone/>
            </a:pPr>
            <a:r>
              <a:rPr lang="en-IN" altLang="en-US" sz="2400"/>
              <a:t>4.</a:t>
            </a:r>
            <a:r>
              <a:rPr lang="en-US" sz="2400"/>
              <a:t>launchd:</a:t>
            </a:r>
            <a:endParaRPr lang="en-US" sz="2400"/>
          </a:p>
          <a:p>
            <a:r>
              <a:rPr lang="en-US" sz="2400"/>
              <a:t>The first system process to start.</a:t>
            </a:r>
            <a:endParaRPr lang="en-US" sz="2400"/>
          </a:p>
          <a:p>
            <a:r>
              <a:rPr lang="en-US" sz="2400"/>
              <a:t>Manages all other processes, like login screens and background tasks.</a:t>
            </a:r>
            <a:endParaRPr lang="en-US" sz="24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pPr marL="0" indent="0">
              <a:buNone/>
            </a:pPr>
            <a:r>
              <a:rPr lang="en-US"/>
              <a:t>Boot Example</a:t>
            </a:r>
            <a:endParaRPr lang="en-US"/>
          </a:p>
          <a:p>
            <a:r>
              <a:rPr lang="en-US"/>
              <a:t>When you turn on a MacBook:</a:t>
            </a:r>
            <a:endParaRPr lang="en-US"/>
          </a:p>
          <a:p>
            <a:endParaRPr lang="en-US"/>
          </a:p>
          <a:p>
            <a:pPr marL="514350" indent="-514350">
              <a:buAutoNum type="arabicPeriod"/>
            </a:pPr>
            <a:r>
              <a:rPr lang="en-US"/>
              <a:t>The Apple logo appears (indicating the kernel is loading).</a:t>
            </a:r>
            <a:endParaRPr lang="en-US"/>
          </a:p>
          <a:p>
            <a:pPr marL="514350" indent="-514350">
              <a:buAutoNum type="arabicPeriod"/>
            </a:pPr>
            <a:r>
              <a:rPr lang="en-US"/>
              <a:t>The login screen appears (managed by launchd).</a:t>
            </a:r>
            <a:endParaRPr lang="en-US"/>
          </a:p>
          <a:p>
            <a:pPr marL="514350" indent="-514350">
              <a:buAutoNum type="arabicPeriod"/>
            </a:pPr>
            <a:r>
              <a:rPr lang="en-US"/>
              <a:t>After logging in, your desktop and apps load.</a:t>
            </a:r>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pPr marL="0" indent="0">
              <a:buNone/>
            </a:pPr>
            <a:r>
              <a:rPr lang="en-US"/>
              <a:t>Important Hidden Directories</a:t>
            </a:r>
            <a:endParaRPr lang="en-US"/>
          </a:p>
          <a:p>
            <a:r>
              <a:rPr lang="en-US"/>
              <a:t>/etc: Stores network settings like the hosts file.</a:t>
            </a:r>
            <a:endParaRPr lang="en-US"/>
          </a:p>
          <a:p>
            <a:r>
              <a:rPr lang="en-US"/>
              <a:t>/usr: Holds command-line tools and system utilities.</a:t>
            </a:r>
            <a:endParaRPr lang="en-US"/>
          </a:p>
          <a:p>
            <a:r>
              <a:rPr lang="en-US"/>
              <a:t>/var: Contains logs, temporary files, and system data.</a:t>
            </a:r>
            <a:endParaRPr lang="en-US"/>
          </a:p>
          <a:p>
            <a:r>
              <a:rPr lang="en-US"/>
              <a:t>/private: Stores links to /tmp and /var.</a:t>
            </a:r>
            <a:endParaRPr lang="en-US"/>
          </a:p>
          <a:p>
            <a:pPr marL="0" indent="0">
              <a:buNone/>
            </a:pPr>
            <a:r>
              <a:rPr lang="en-IN" altLang="en-US"/>
              <a:t> * </a:t>
            </a:r>
            <a:r>
              <a:rPr lang="en-US">
                <a:solidFill>
                  <a:srgbClr val="FF0000"/>
                </a:solidFill>
              </a:rPr>
              <a:t>ls -la /</a:t>
            </a:r>
            <a:endParaRPr lang="en-US">
              <a:solidFill>
                <a:srgbClr val="FF0000"/>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t>System Services in macOS</a:t>
            </a:r>
            <a:endParaRPr lang="en-US"/>
          </a:p>
        </p:txBody>
      </p:sp>
      <p:sp>
        <p:nvSpPr>
          <p:cNvPr id="3" name="Content Placeholder 2"/>
          <p:cNvSpPr>
            <a:spLocks noGrp="1"/>
          </p:cNvSpPr>
          <p:nvPr>
            <p:ph idx="1"/>
          </p:nvPr>
        </p:nvSpPr>
        <p:spPr/>
        <p:txBody>
          <a:bodyPr/>
          <a:p>
            <a:pPr marL="0" indent="0">
              <a:buNone/>
            </a:pPr>
            <a:r>
              <a:rPr lang="en-US"/>
              <a:t>System services in macOS are background processes and components that ensure the operating system and applications function smoothly. They handle critical tasks such as user authentication, hardware management, scheduling, and system monitoring. </a:t>
            </a: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pPr marL="0" indent="0">
              <a:buNone/>
            </a:pPr>
            <a:r>
              <a:rPr lang="en-US"/>
              <a:t>a. Core Services</a:t>
            </a:r>
            <a:endParaRPr lang="en-US"/>
          </a:p>
          <a:p>
            <a:r>
              <a:rPr lang="en-US"/>
              <a:t>launchd: Manages the initialization of services and processes.</a:t>
            </a:r>
            <a:endParaRPr lang="en-US"/>
          </a:p>
          <a:p>
            <a:r>
              <a:rPr lang="en-US"/>
              <a:t>kextd: Loads kernel extensions (drivers).</a:t>
            </a:r>
            <a:endParaRPr lang="en-US"/>
          </a:p>
          <a:p>
            <a:r>
              <a:rPr lang="en-US"/>
              <a:t>notifyd: Manages notifications between applications.</a:t>
            </a:r>
            <a:endParaRPr lang="en-US"/>
          </a:p>
          <a:p>
            <a:pPr marL="0" indent="0">
              <a:buNone/>
            </a:pPr>
            <a:r>
              <a:rPr lang="en-US"/>
              <a:t>b. Hardware Management</a:t>
            </a:r>
            <a:endParaRPr lang="en-US"/>
          </a:p>
          <a:p>
            <a:pPr marL="0" indent="0">
              <a:buNone/>
            </a:pPr>
            <a:r>
              <a:rPr lang="en-US"/>
              <a:t>powerd: Manages power-related events like sleep, wake, and battery usage.</a:t>
            </a:r>
            <a:endParaRPr lang="en-US"/>
          </a:p>
          <a:p>
            <a:pPr marL="0" indent="0">
              <a:buNone/>
            </a:pPr>
            <a:r>
              <a:rPr lang="en-US"/>
              <a:t>airportd: Handles Wi-Fi connections.</a:t>
            </a: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pPr marL="0" indent="0">
              <a:buNone/>
            </a:pPr>
            <a:r>
              <a:rPr lang="en-US"/>
              <a:t>c. User Services</a:t>
            </a:r>
            <a:endParaRPr lang="en-US"/>
          </a:p>
          <a:p>
            <a:r>
              <a:rPr lang="en-US"/>
              <a:t>Services specific to the logged-in user.</a:t>
            </a:r>
            <a:endParaRPr lang="en-US"/>
          </a:p>
          <a:p>
            <a:r>
              <a:rPr lang="en-US"/>
              <a:t>cfprefsd: Manages user preferences and settings.</a:t>
            </a:r>
            <a:endParaRPr lang="en-US"/>
          </a:p>
          <a:p>
            <a:r>
              <a:rPr lang="en-US"/>
              <a:t>tccd: Handles app permissions for accessing data like location, contacts, and files.</a:t>
            </a:r>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t>Forensic Acquisition and Analysis of Plists</a:t>
            </a:r>
            <a:endParaRPr lang="en-US"/>
          </a:p>
        </p:txBody>
      </p:sp>
      <p:sp>
        <p:nvSpPr>
          <p:cNvPr id="3" name="Content Placeholder 2"/>
          <p:cNvSpPr>
            <a:spLocks noGrp="1"/>
          </p:cNvSpPr>
          <p:nvPr>
            <p:ph idx="1"/>
          </p:nvPr>
        </p:nvSpPr>
        <p:spPr/>
        <p:txBody>
          <a:bodyPr/>
          <a:p>
            <a:r>
              <a:rPr lang="en-US"/>
              <a:t>Property List Files:</a:t>
            </a:r>
            <a:endParaRPr lang="en-US"/>
          </a:p>
          <a:p>
            <a:r>
              <a:rPr lang="en-US"/>
              <a:t>XML or binary files storing app and system settings.</a:t>
            </a:r>
            <a:endParaRPr lang="en-US"/>
          </a:p>
          <a:p>
            <a:endParaRPr lang="en-US"/>
          </a:p>
          <a:p>
            <a:r>
              <a:rPr lang="en-US"/>
              <a:t>Examples:</a:t>
            </a:r>
            <a:endParaRPr lang="en-US"/>
          </a:p>
          <a:p>
            <a:r>
              <a:rPr lang="en-US"/>
              <a:t>com.apple.finder.plist: Tracks recently accessed folders.</a:t>
            </a:r>
            <a:endParaRPr lang="en-US"/>
          </a:p>
          <a:p>
            <a:r>
              <a:rPr lang="en-US"/>
              <a:t>com.apple.recentitems.plist: Logs recent apps and documents.</a:t>
            </a:r>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pPr marL="0" indent="0">
              <a:buNone/>
            </a:pPr>
            <a:r>
              <a:rPr lang="en-IN" altLang="en-US"/>
              <a:t>#</a:t>
            </a:r>
            <a:r>
              <a:rPr lang="en-US"/>
              <a:t>Tools for Analysis</a:t>
            </a:r>
            <a:endParaRPr lang="en-US"/>
          </a:p>
          <a:p>
            <a:r>
              <a:rPr lang="en-US"/>
              <a:t>plutil: A built-in tool to view plist files.</a:t>
            </a:r>
            <a:endParaRPr lang="en-US"/>
          </a:p>
          <a:p>
            <a:r>
              <a:rPr lang="en-US"/>
              <a:t>plutil -convert xml1 com.apple.finder.plist</a:t>
            </a:r>
            <a:endParaRPr lang="en-US"/>
          </a:p>
          <a:p>
            <a:r>
              <a:rPr lang="en-US"/>
              <a:t>Third-Party Tools: Tools like PlistViewer or macOS Forensic Toolkit.</a:t>
            </a:r>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IN" altLang="en-US"/>
              <a:t>F</a:t>
            </a:r>
            <a:r>
              <a:rPr lang="en-US"/>
              <a:t>ile vault and key chain</a:t>
            </a:r>
            <a:endParaRPr lang="en-US"/>
          </a:p>
        </p:txBody>
      </p:sp>
      <p:sp>
        <p:nvSpPr>
          <p:cNvPr id="3" name="Content Placeholder 2"/>
          <p:cNvSpPr>
            <a:spLocks noGrp="1"/>
          </p:cNvSpPr>
          <p:nvPr>
            <p:ph idx="1"/>
          </p:nvPr>
        </p:nvSpPr>
        <p:spPr/>
        <p:txBody>
          <a:bodyPr/>
          <a:p>
            <a:pPr marL="0" indent="0">
              <a:buNone/>
            </a:pPr>
            <a:r>
              <a:rPr lang="en-US"/>
              <a:t>FileVault: Full-Disk Encryption</a:t>
            </a:r>
            <a:endParaRPr lang="en-US"/>
          </a:p>
          <a:p>
            <a:r>
              <a:rPr lang="en-US"/>
              <a:t>FileVault is macOS's built-in disk encryption feature that protects the entire storage drive.</a:t>
            </a:r>
            <a:endParaRPr lang="en-US"/>
          </a:p>
          <a:p>
            <a:pPr marL="0" indent="0">
              <a:buNone/>
            </a:pPr>
            <a:endParaRPr lang="en-IN" altLang="en-US"/>
          </a:p>
          <a:p>
            <a:pPr marL="0" indent="0">
              <a:buNone/>
            </a:pPr>
            <a:r>
              <a:rPr lang="en-IN" altLang="en-US"/>
              <a:t>1.Full-Disk Encryption (FDE):XTS-AES-128 algorithm with a 256-bit key.</a:t>
            </a:r>
            <a:endParaRPr lang="en-IN" altLang="en-US"/>
          </a:p>
          <a:p>
            <a:pPr marL="0" indent="0">
              <a:buNone/>
            </a:pPr>
            <a:r>
              <a:rPr lang="en-IN" altLang="en-US"/>
              <a:t>2.Encryption at Rest:</a:t>
            </a:r>
            <a:endParaRPr lang="en-IN" altLang="en-US"/>
          </a:p>
          <a:p>
            <a:pPr marL="0" indent="0">
              <a:buNone/>
            </a:pPr>
            <a:r>
              <a:rPr lang="en-IN" altLang="en-US"/>
              <a:t>The data is encrypted when stored on disk and decrypted on-the-fly when accessed.</a:t>
            </a:r>
            <a:endParaRPr lang="en-I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pPr marL="0" indent="0">
              <a:buNone/>
            </a:pPr>
            <a:r>
              <a:rPr lang="en-IN" altLang="en-US"/>
              <a:t>3.</a:t>
            </a:r>
            <a:r>
              <a:rPr lang="en-US"/>
              <a:t>Integration with Login Credentials:</a:t>
            </a:r>
            <a:endParaRPr lang="en-US"/>
          </a:p>
          <a:p>
            <a:r>
              <a:rPr lang="en-US"/>
              <a:t>A user’s login password is tied to the decryption key, ensuring seamless authentication.</a:t>
            </a:r>
            <a:endParaRPr lang="en-US"/>
          </a:p>
          <a:p>
            <a:pPr marL="0" indent="0">
              <a:buNone/>
            </a:pPr>
            <a:r>
              <a:rPr lang="en-IN" altLang="en-US"/>
              <a:t>4.Recovery Key:</a:t>
            </a:r>
            <a:endParaRPr lang="en-IN" altLang="en-US"/>
          </a:p>
          <a:p>
            <a:pPr marL="0" indent="0">
              <a:buNone/>
            </a:pPr>
            <a:r>
              <a:rPr lang="en-IN" altLang="en-US"/>
              <a:t>A recovery key is generated during FileVault setup to regain access if the login password is forgotten.</a:t>
            </a:r>
            <a:endParaRPr lang="en-IN"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t>Keychain: Credential and Secure Data Management</a:t>
            </a:r>
            <a:endParaRPr lang="en-US"/>
          </a:p>
        </p:txBody>
      </p:sp>
      <p:sp>
        <p:nvSpPr>
          <p:cNvPr id="3" name="Content Placeholder 2"/>
          <p:cNvSpPr>
            <a:spLocks noGrp="1"/>
          </p:cNvSpPr>
          <p:nvPr>
            <p:ph idx="1"/>
          </p:nvPr>
        </p:nvSpPr>
        <p:spPr/>
        <p:txBody>
          <a:bodyPr/>
          <a:p>
            <a:pPr marL="0" indent="0">
              <a:buNone/>
            </a:pPr>
            <a:r>
              <a:rPr lang="en-US"/>
              <a:t>Keychain is macOS's built-in password manager and secure storage system. It securely stores:</a:t>
            </a:r>
            <a:endParaRPr lang="en-US"/>
          </a:p>
          <a:p>
            <a:r>
              <a:rPr lang="en-US"/>
              <a:t>Passwords for applications, websites, and Wi-Fi networks.</a:t>
            </a:r>
            <a:endParaRPr lang="en-US"/>
          </a:p>
          <a:p>
            <a:r>
              <a:rPr lang="en-US"/>
              <a:t>Encryption keys and certificates.</a:t>
            </a:r>
            <a:endParaRPr lang="en-US"/>
          </a:p>
          <a:p>
            <a:r>
              <a:rPr lang="en-US"/>
              <a:t>Secure notes.</a:t>
            </a:r>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sym typeface="+mn-ea"/>
              </a:rPr>
              <a:t>Key Features of Keychain</a:t>
            </a:r>
            <a:endParaRPr lang="en-US"/>
          </a:p>
        </p:txBody>
      </p:sp>
      <p:sp>
        <p:nvSpPr>
          <p:cNvPr id="3" name="Content Placeholder 2"/>
          <p:cNvSpPr>
            <a:spLocks noGrp="1"/>
          </p:cNvSpPr>
          <p:nvPr>
            <p:ph idx="1"/>
          </p:nvPr>
        </p:nvSpPr>
        <p:spPr>
          <a:xfrm>
            <a:off x="609600" y="853440"/>
            <a:ext cx="10972800" cy="5274310"/>
          </a:xfrm>
        </p:spPr>
        <p:txBody>
          <a:bodyPr/>
          <a:p>
            <a:pPr marL="0" indent="0">
              <a:buNone/>
            </a:pPr>
            <a:r>
              <a:rPr lang="en-IN" altLang="en-US"/>
              <a:t>1.</a:t>
            </a:r>
            <a:r>
              <a:rPr lang="en-US"/>
              <a:t>Centralized Storage:</a:t>
            </a:r>
            <a:endParaRPr lang="en-US"/>
          </a:p>
          <a:p>
            <a:r>
              <a:rPr lang="en-US"/>
              <a:t>One place to manage all credentials and sensitive information.</a:t>
            </a:r>
            <a:endParaRPr lang="en-US"/>
          </a:p>
          <a:p>
            <a:pPr marL="0" indent="0">
              <a:buNone/>
            </a:pPr>
            <a:r>
              <a:rPr lang="en-IN" altLang="en-US"/>
              <a:t>2.</a:t>
            </a:r>
            <a:r>
              <a:rPr lang="en-US"/>
              <a:t>Encryption:</a:t>
            </a:r>
            <a:endParaRPr lang="en-US"/>
          </a:p>
          <a:p>
            <a:r>
              <a:rPr lang="en-US"/>
              <a:t>Data is encrypted using the AES-256 algorithm.</a:t>
            </a:r>
            <a:endParaRPr lang="en-US"/>
          </a:p>
          <a:p>
            <a:pPr marL="0" indent="0">
              <a:buNone/>
            </a:pPr>
            <a:r>
              <a:rPr lang="en-IN" altLang="en-US"/>
              <a:t>3.</a:t>
            </a:r>
            <a:r>
              <a:rPr lang="en-US"/>
              <a:t>Auto-Fill:</a:t>
            </a:r>
            <a:endParaRPr lang="en-US"/>
          </a:p>
          <a:p>
            <a:r>
              <a:rPr lang="en-US"/>
              <a:t>Automatically fills in stored credentials in web browsers and apps.</a:t>
            </a:r>
            <a:endParaRPr lang="en-US"/>
          </a:p>
          <a:p>
            <a:pPr marL="0" indent="0">
              <a:buNone/>
            </a:pPr>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pPr marL="0" indent="0">
              <a:buNone/>
            </a:pPr>
            <a:r>
              <a:rPr lang="en-IN" altLang="en-US">
                <a:sym typeface="+mn-ea"/>
              </a:rPr>
              <a:t>4.</a:t>
            </a:r>
            <a:r>
              <a:rPr lang="en-US">
                <a:sym typeface="+mn-ea"/>
              </a:rPr>
              <a:t>Multiple Keychains:</a:t>
            </a:r>
            <a:endParaRPr lang="en-US"/>
          </a:p>
          <a:p>
            <a:r>
              <a:rPr lang="en-US">
                <a:sym typeface="+mn-ea"/>
              </a:rPr>
              <a:t>System Keychain: For system-wide credentials (e.g., root certificates).</a:t>
            </a:r>
            <a:endParaRPr lang="en-US"/>
          </a:p>
          <a:p>
            <a:r>
              <a:rPr lang="en-US">
                <a:sym typeface="+mn-ea"/>
              </a:rPr>
              <a:t>Login Keychain: Tied to the user’s login password.</a:t>
            </a:r>
            <a:endParaRPr lang="en-US"/>
          </a:p>
          <a:p>
            <a:pPr marL="0" indent="0">
              <a:buNone/>
            </a:pPr>
            <a:r>
              <a:rPr lang="en-IN" altLang="en-US">
                <a:sym typeface="+mn-ea"/>
              </a:rPr>
              <a:t>5.</a:t>
            </a:r>
            <a:r>
              <a:rPr lang="en-US">
                <a:sym typeface="+mn-ea"/>
              </a:rPr>
              <a:t>Synchronization with iCloud:</a:t>
            </a:r>
            <a:endParaRPr lang="en-US"/>
          </a:p>
          <a:p>
            <a:r>
              <a:rPr lang="en-US">
                <a:sym typeface="+mn-ea"/>
              </a:rPr>
              <a:t>Synchronizes credentials across Apple devices using iCloud Keychain.</a:t>
            </a:r>
            <a:endParaRPr lang="en-US"/>
          </a:p>
          <a:p>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graphicFrame>
        <p:nvGraphicFramePr>
          <p:cNvPr id="6" name="Content Placeholder 5"/>
          <p:cNvGraphicFramePr/>
          <p:nvPr>
            <p:ph idx="1"/>
            <p:custDataLst>
              <p:tags r:id="rId1"/>
            </p:custDataLst>
          </p:nvPr>
        </p:nvGraphicFramePr>
        <p:xfrm>
          <a:off x="609600" y="1174750"/>
          <a:ext cx="10768965" cy="4865370"/>
        </p:xfrm>
        <a:graphic>
          <a:graphicData uri="http://schemas.openxmlformats.org/drawingml/2006/table">
            <a:tbl>
              <a:tblPr firstRow="1" bandRow="1">
                <a:tableStyleId>{5C22544A-7EE6-4342-B048-85BDC9FD1C3A}</a:tableStyleId>
              </a:tblPr>
              <a:tblGrid>
                <a:gridCol w="3589655"/>
                <a:gridCol w="3589655"/>
                <a:gridCol w="3589655"/>
              </a:tblGrid>
              <a:tr h="810895">
                <a:tc>
                  <a:txBody>
                    <a:bodyPr/>
                    <a:p>
                      <a:r>
                        <a:rPr sz="1100"/>
                        <a:t>Feature</a:t>
                      </a:r>
                      <a:endParaRPr sz="1100"/>
                    </a:p>
                  </a:txBody>
                  <a:tcPr anchor="ctr" anchorCtr="0"/>
                </a:tc>
                <a:tc>
                  <a:txBody>
                    <a:bodyPr/>
                    <a:p>
                      <a:r>
                        <a:rPr sz="1100"/>
                        <a:t>FileVault</a:t>
                      </a:r>
                      <a:endParaRPr sz="1100"/>
                    </a:p>
                  </a:txBody>
                  <a:tcPr anchor="ctr" anchorCtr="0"/>
                </a:tc>
                <a:tc>
                  <a:txBody>
                    <a:bodyPr/>
                    <a:p>
                      <a:r>
                        <a:rPr sz="1100"/>
                        <a:t>Keychain</a:t>
                      </a:r>
                      <a:endParaRPr sz="1100"/>
                    </a:p>
                  </a:txBody>
                  <a:tcPr anchor="ctr" anchorCtr="0"/>
                </a:tc>
              </a:tr>
              <a:tr h="810895">
                <a:tc>
                  <a:txBody>
                    <a:bodyPr/>
                    <a:p>
                      <a:r>
                        <a:rPr sz="1100"/>
                        <a:t>Purpose</a:t>
                      </a:r>
                      <a:endParaRPr sz="1100"/>
                    </a:p>
                  </a:txBody>
                  <a:tcPr anchor="ctr" anchorCtr="0"/>
                </a:tc>
                <a:tc>
                  <a:txBody>
                    <a:bodyPr/>
                    <a:p>
                      <a:r>
                        <a:rPr sz="1100"/>
                        <a:t>Encrypts entire disk.</a:t>
                      </a:r>
                      <a:endParaRPr sz="1100"/>
                    </a:p>
                  </a:txBody>
                  <a:tcPr anchor="ctr" anchorCtr="0"/>
                </a:tc>
                <a:tc>
                  <a:txBody>
                    <a:bodyPr/>
                    <a:p>
                      <a:r>
                        <a:rPr sz="1100"/>
                        <a:t>Stores passwords and secure data.</a:t>
                      </a:r>
                      <a:endParaRPr sz="1100"/>
                    </a:p>
                  </a:txBody>
                  <a:tcPr anchor="ctr" anchorCtr="0"/>
                </a:tc>
              </a:tr>
              <a:tr h="810895">
                <a:tc>
                  <a:txBody>
                    <a:bodyPr/>
                    <a:p>
                      <a:r>
                        <a:rPr sz="1100"/>
                        <a:t>Scope</a:t>
                      </a:r>
                      <a:endParaRPr sz="1100"/>
                    </a:p>
                  </a:txBody>
                  <a:tcPr anchor="ctr" anchorCtr="0"/>
                </a:tc>
                <a:tc>
                  <a:txBody>
                    <a:bodyPr/>
                    <a:p>
                      <a:r>
                        <a:rPr sz="1100"/>
                        <a:t>Protects all files on the disk.</a:t>
                      </a:r>
                      <a:endParaRPr sz="1100"/>
                    </a:p>
                  </a:txBody>
                  <a:tcPr anchor="ctr" anchorCtr="0"/>
                </a:tc>
                <a:tc>
                  <a:txBody>
                    <a:bodyPr/>
                    <a:p>
                      <a:r>
                        <a:rPr sz="1100"/>
                        <a:t>Manages specific credentials and keys.</a:t>
                      </a:r>
                      <a:endParaRPr sz="1100"/>
                    </a:p>
                  </a:txBody>
                  <a:tcPr anchor="ctr" anchorCtr="0"/>
                </a:tc>
              </a:tr>
              <a:tr h="810895">
                <a:tc>
                  <a:txBody>
                    <a:bodyPr/>
                    <a:p>
                      <a:r>
                        <a:rPr sz="1100"/>
                        <a:t>Encryption</a:t>
                      </a:r>
                      <a:endParaRPr sz="1100"/>
                    </a:p>
                  </a:txBody>
                  <a:tcPr anchor="ctr" anchorCtr="0"/>
                </a:tc>
                <a:tc>
                  <a:txBody>
                    <a:bodyPr/>
                    <a:p>
                      <a:r>
                        <a:rPr sz="1100"/>
                        <a:t>Full-disk AES encryption.</a:t>
                      </a:r>
                      <a:endParaRPr sz="1100"/>
                    </a:p>
                  </a:txBody>
                  <a:tcPr anchor="ctr" anchorCtr="0"/>
                </a:tc>
                <a:tc>
                  <a:txBody>
                    <a:bodyPr/>
                    <a:p>
                      <a:r>
                        <a:rPr sz="1100"/>
                        <a:t>Item-specific AES encryption.</a:t>
                      </a:r>
                      <a:endParaRPr sz="1100"/>
                    </a:p>
                  </a:txBody>
                  <a:tcPr anchor="ctr" anchorCtr="0"/>
                </a:tc>
              </a:tr>
              <a:tr h="810895">
                <a:tc>
                  <a:txBody>
                    <a:bodyPr/>
                    <a:p>
                      <a:r>
                        <a:rPr sz="1100"/>
                        <a:t>Access Control</a:t>
                      </a:r>
                      <a:endParaRPr sz="1100"/>
                    </a:p>
                  </a:txBody>
                  <a:tcPr anchor="ctr" anchorCtr="0"/>
                </a:tc>
                <a:tc>
                  <a:txBody>
                    <a:bodyPr/>
                    <a:p>
                      <a:r>
                        <a:rPr sz="1100"/>
                        <a:t>Requires login credentials or recovery key.</a:t>
                      </a:r>
                      <a:endParaRPr sz="1100"/>
                    </a:p>
                  </a:txBody>
                  <a:tcPr anchor="ctr" anchorCtr="0"/>
                </a:tc>
                <a:tc>
                  <a:txBody>
                    <a:bodyPr/>
                    <a:p>
                      <a:r>
                        <a:rPr sz="1100"/>
                        <a:t>Requires user authentication.</a:t>
                      </a:r>
                      <a:endParaRPr sz="1100"/>
                    </a:p>
                  </a:txBody>
                  <a:tcPr anchor="ctr" anchorCtr="0"/>
                </a:tc>
              </a:tr>
              <a:tr h="810895">
                <a:tc>
                  <a:txBody>
                    <a:bodyPr/>
                    <a:p>
                      <a:r>
                        <a:rPr sz="1100"/>
                        <a:t>Forensic Challenge</a:t>
                      </a:r>
                      <a:endParaRPr sz="1100"/>
                    </a:p>
                  </a:txBody>
                  <a:tcPr anchor="ctr" anchorCtr="0"/>
                </a:tc>
                <a:tc>
                  <a:txBody>
                    <a:bodyPr/>
                    <a:p>
                      <a:r>
                        <a:rPr sz="1100"/>
                        <a:t>Difficult to bypass without credentials.</a:t>
                      </a:r>
                      <a:endParaRPr sz="1100"/>
                    </a:p>
                  </a:txBody>
                  <a:tcPr anchor="ctr" anchorCtr="0"/>
                </a:tc>
                <a:tc>
                  <a:txBody>
                    <a:bodyPr/>
                    <a:p>
                      <a:r>
                        <a:rPr sz="1100"/>
                        <a:t>Keychain files need credentials to access.</a:t>
                      </a:r>
                      <a:endParaRPr sz="1100"/>
                    </a:p>
                  </a:txBody>
                  <a:tcPr anchor="ctr" anchorCtr="0"/>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t>Linux File-system and Artifacts</a:t>
            </a:r>
            <a:endParaRPr lang="en-US"/>
          </a:p>
        </p:txBody>
      </p:sp>
      <p:sp>
        <p:nvSpPr>
          <p:cNvPr id="3" name="Content Placeholder 2"/>
          <p:cNvSpPr>
            <a:spLocks noGrp="1"/>
          </p:cNvSpPr>
          <p:nvPr>
            <p:ph idx="1"/>
          </p:nvPr>
        </p:nvSpPr>
        <p:spPr/>
        <p:txBody>
          <a:bodyPr/>
          <a:p>
            <a:r>
              <a:rPr lang="en-US"/>
              <a:t>Linux is an open-source, Unix-like operating system</a:t>
            </a:r>
            <a:endParaRPr lang="en-US"/>
          </a:p>
          <a:p>
            <a:r>
              <a:rPr lang="en-US"/>
              <a:t>widely known for its stability, security, and flexibility</a:t>
            </a:r>
            <a:endParaRPr lang="en-US"/>
          </a:p>
          <a:p>
            <a:r>
              <a:rPr lang="en-IN" altLang="en-US"/>
              <a:t>used in various  from desktop systems to servers, mobile devices, and embedded systems.</a:t>
            </a:r>
            <a:endParaRPr lang="en-IN" altLang="en-US"/>
          </a:p>
          <a:p>
            <a:r>
              <a:rPr lang="en-IN" altLang="en-US"/>
              <a:t>Linux is free to use, and its source code is open to the public</a:t>
            </a:r>
            <a:endParaRPr lang="en-IN" altLang="en-US"/>
          </a:p>
          <a:p>
            <a:r>
              <a:rPr lang="en-IN" altLang="en-US"/>
              <a:t>It can run on 32bit and 64bit os </a:t>
            </a:r>
            <a:endParaRPr lang="en-IN"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t>Key Features of Linux:</a:t>
            </a:r>
            <a:endParaRPr lang="en-US"/>
          </a:p>
        </p:txBody>
      </p:sp>
      <p:sp>
        <p:nvSpPr>
          <p:cNvPr id="3" name="Content Placeholder 2"/>
          <p:cNvSpPr>
            <a:spLocks noGrp="1"/>
          </p:cNvSpPr>
          <p:nvPr>
            <p:ph idx="1"/>
          </p:nvPr>
        </p:nvSpPr>
        <p:spPr/>
        <p:txBody>
          <a:bodyPr/>
          <a:p>
            <a:r>
              <a:rPr lang="en-US"/>
              <a:t>Open Source</a:t>
            </a:r>
            <a:endParaRPr lang="en-US"/>
          </a:p>
          <a:p>
            <a:r>
              <a:rPr lang="en-US"/>
              <a:t>Multi-user</a:t>
            </a:r>
            <a:endParaRPr lang="en-US"/>
          </a:p>
          <a:p>
            <a:r>
              <a:rPr lang="en-US"/>
              <a:t>Multitasking</a:t>
            </a:r>
            <a:endParaRPr lang="en-US"/>
          </a:p>
          <a:p>
            <a:r>
              <a:rPr lang="en-US"/>
              <a:t>Portability</a:t>
            </a:r>
            <a:endParaRPr lang="en-US"/>
          </a:p>
          <a:p>
            <a:r>
              <a:rPr lang="en-US"/>
              <a:t>Networking</a:t>
            </a:r>
            <a:endParaRPr lang="en-US"/>
          </a:p>
          <a:p>
            <a:r>
              <a:rPr lang="en-US"/>
              <a:t>Performance</a:t>
            </a:r>
            <a:endParaRPr lang="en-US"/>
          </a:p>
          <a:p>
            <a:r>
              <a:rPr lang="en-US"/>
              <a:t>Command-Line and GUI</a:t>
            </a:r>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t>Linux OS Architecture</a:t>
            </a:r>
            <a:endParaRPr lang="en-US"/>
          </a:p>
        </p:txBody>
      </p:sp>
      <p:sp>
        <p:nvSpPr>
          <p:cNvPr id="3" name="Content Placeholder 2"/>
          <p:cNvSpPr>
            <a:spLocks noGrp="1"/>
          </p:cNvSpPr>
          <p:nvPr>
            <p:ph idx="1"/>
          </p:nvPr>
        </p:nvSpPr>
        <p:spPr/>
        <p:txBody>
          <a:bodyPr/>
          <a:p>
            <a:pPr marL="514350" indent="-514350">
              <a:buAutoNum type="arabicPeriod"/>
            </a:pPr>
            <a:r>
              <a:rPr lang="en-US"/>
              <a:t>Hardware</a:t>
            </a:r>
            <a:endParaRPr lang="en-US"/>
          </a:p>
          <a:p>
            <a:pPr marL="514350" indent="-514350">
              <a:buAutoNum type="arabicPeriod"/>
            </a:pPr>
            <a:r>
              <a:rPr lang="en-US"/>
              <a:t>Kernel</a:t>
            </a:r>
            <a:endParaRPr lang="en-US"/>
          </a:p>
          <a:p>
            <a:pPr marL="514350" indent="-514350">
              <a:buAutoNum type="arabicPeriod"/>
            </a:pPr>
            <a:r>
              <a:rPr lang="en-US"/>
              <a:t>System Libraries</a:t>
            </a:r>
            <a:r>
              <a:rPr lang="en-IN" altLang="en-US"/>
              <a:t>(Programs)</a:t>
            </a:r>
            <a:endParaRPr lang="en-IN" altLang="en-US"/>
          </a:p>
          <a:p>
            <a:pPr marL="514350" indent="-514350">
              <a:buAutoNum type="arabicPeriod"/>
            </a:pPr>
            <a:r>
              <a:rPr lang="en-IN" altLang="en-US"/>
              <a:t>System Utilities(file management, process control, system monitoring, and network administration)-ls,cp,ps</a:t>
            </a:r>
            <a:endParaRPr lang="en-IN" altLang="en-US"/>
          </a:p>
          <a:p>
            <a:pPr marL="514350" indent="-514350">
              <a:buAutoNum type="arabicPeriod"/>
            </a:pPr>
            <a:r>
              <a:rPr lang="en-IN" altLang="en-US"/>
              <a:t>User Space(cli/gui)</a:t>
            </a:r>
            <a:endParaRPr lang="en-IN" altLang="en-US"/>
          </a:p>
          <a:p>
            <a:pPr marL="0" indent="0">
              <a:buNone/>
            </a:pPr>
            <a:endParaRPr lang="en-IN"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t>Basics of Linux file-system</a:t>
            </a:r>
            <a:endParaRPr lang="en-US"/>
          </a:p>
        </p:txBody>
      </p:sp>
      <p:sp>
        <p:nvSpPr>
          <p:cNvPr id="3" name="Content Placeholder 2"/>
          <p:cNvSpPr>
            <a:spLocks noGrp="1"/>
          </p:cNvSpPr>
          <p:nvPr>
            <p:ph idx="1"/>
          </p:nvPr>
        </p:nvSpPr>
        <p:spPr/>
        <p:txBody>
          <a:bodyPr/>
          <a:p>
            <a:r>
              <a:rPr lang="en-US"/>
              <a:t>Linux file system is a hierarchical structure</a:t>
            </a:r>
            <a:endParaRPr lang="en-US"/>
          </a:p>
          <a:p>
            <a:r>
              <a:rPr lang="en-US"/>
              <a:t>Windows,(e.g., C:\, D:\), Linux follows a single-rooted director</a:t>
            </a:r>
            <a:r>
              <a:rPr lang="en-IN" altLang="en-US"/>
              <a:t>y</a:t>
            </a:r>
            <a:r>
              <a:rPr lang="en-US"/>
              <a:t> a /</a:t>
            </a:r>
            <a:r>
              <a:rPr lang="en-IN" altLang="en-US"/>
              <a:t>.</a:t>
            </a:r>
            <a:endParaRPr lang="en-IN" altLang="en-US"/>
          </a:p>
          <a:p>
            <a:r>
              <a:rPr lang="en-IN" altLang="en-US"/>
              <a:t>/ (Root directory): The top-level directory, from which all other directories branch.</a:t>
            </a:r>
            <a:endParaRPr lang="en-IN" altLang="en-US"/>
          </a:p>
          <a:p>
            <a:endParaRPr lang="en-IN" altLang="en-US"/>
          </a:p>
          <a:p>
            <a:endParaRPr lang="en-IN"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a:xfrm>
            <a:off x="609600" y="1005840"/>
            <a:ext cx="10972800" cy="6210300"/>
          </a:xfrm>
        </p:spPr>
        <p:txBody>
          <a:bodyPr/>
          <a:p>
            <a:pPr marL="0" indent="0">
              <a:buNone/>
            </a:pPr>
            <a:r>
              <a:rPr lang="en-US" sz="2800"/>
              <a:t>The main types of files in Linux include:</a:t>
            </a:r>
            <a:endParaRPr lang="en-US" sz="2800"/>
          </a:p>
          <a:p>
            <a:r>
              <a:rPr lang="en-US" sz="2800"/>
              <a:t>Regular files: These are the usual files that store data, such as text files, images, and executable files.</a:t>
            </a:r>
            <a:endParaRPr lang="en-US" sz="2800"/>
          </a:p>
          <a:p>
            <a:r>
              <a:rPr lang="en-US" sz="2800"/>
              <a:t>Directories: These are special files that store information about other files and directories.</a:t>
            </a:r>
            <a:endParaRPr lang="en-US" sz="2800"/>
          </a:p>
          <a:p>
            <a:r>
              <a:rPr lang="en-US" sz="2800"/>
              <a:t>Special files:</a:t>
            </a:r>
            <a:endParaRPr lang="en-US" sz="2800"/>
          </a:p>
          <a:p>
            <a:r>
              <a:rPr lang="en-US" sz="2800"/>
              <a:t>Block files: Used for devices that handle data in blocks (e.g., hard drives).</a:t>
            </a:r>
            <a:endParaRPr lang="en-US" sz="2800"/>
          </a:p>
          <a:p>
            <a:r>
              <a:rPr lang="en-US" sz="2800"/>
              <a:t>Character files: Used for devices that handle data one character at a time (e.g., terminals).</a:t>
            </a:r>
            <a:endParaRPr lang="en-US" sz="2800"/>
          </a:p>
          <a:p>
            <a:pPr marL="0" indent="0">
              <a:buNone/>
            </a:pPr>
            <a:endParaRPr lang="en-US" sz="28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a:xfrm>
            <a:off x="609600" y="851535"/>
            <a:ext cx="10972800" cy="5276215"/>
          </a:xfrm>
        </p:spPr>
        <p:txBody>
          <a:bodyPr/>
          <a:p>
            <a:pPr marL="0" indent="0">
              <a:buNone/>
            </a:pPr>
            <a:r>
              <a:rPr lang="en-US"/>
              <a:t>File Permissions:</a:t>
            </a:r>
            <a:endParaRPr lang="en-US"/>
          </a:p>
          <a:p>
            <a:r>
              <a:rPr lang="en-US" sz="2800"/>
              <a:t>Each file in Linux has permissions that determine who can read, write, or execute the file. These permissions are divided into three categories:</a:t>
            </a:r>
            <a:endParaRPr lang="en-US" sz="2800"/>
          </a:p>
          <a:p>
            <a:r>
              <a:rPr lang="en-US" sz="2800"/>
              <a:t>Owner: The user who owns the file.</a:t>
            </a:r>
            <a:endParaRPr lang="en-US" sz="2800"/>
          </a:p>
          <a:p>
            <a:r>
              <a:rPr lang="en-US" sz="2800"/>
              <a:t>Group: A set of users grouped together.</a:t>
            </a:r>
            <a:endParaRPr lang="en-US" sz="2800"/>
          </a:p>
          <a:p>
            <a:r>
              <a:rPr lang="en-US" sz="2800"/>
              <a:t>Others: Everyone else.</a:t>
            </a:r>
            <a:endParaRPr lang="en-US" sz="2800"/>
          </a:p>
          <a:p>
            <a:r>
              <a:rPr lang="en-US" sz="2800"/>
              <a:t>Each file permission can be one of the following:</a:t>
            </a:r>
            <a:endParaRPr lang="en-US" sz="2800"/>
          </a:p>
          <a:p>
            <a:r>
              <a:rPr lang="en-US" sz="2800"/>
              <a:t>r (read): Permission to read the file.</a:t>
            </a:r>
            <a:endParaRPr lang="en-US" sz="2800"/>
          </a:p>
          <a:p>
            <a:r>
              <a:rPr lang="en-US" sz="2800"/>
              <a:t>w (write): Permission to modify the file.</a:t>
            </a:r>
            <a:endParaRPr lang="en-US" sz="2800"/>
          </a:p>
          <a:p>
            <a:r>
              <a:rPr lang="en-US" sz="2800"/>
              <a:t>x (execute): Permission to execute the file (if it's a program or script).</a:t>
            </a:r>
            <a:endParaRPr lang="en-US" sz="28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pPr marL="0" indent="0">
              <a:buNone/>
            </a:pPr>
            <a:r>
              <a:rPr lang="en-US" sz="2800"/>
              <a:t>Inodes:</a:t>
            </a:r>
            <a:endParaRPr lang="en-US" sz="2800"/>
          </a:p>
          <a:p>
            <a:pPr marL="0" indent="0">
              <a:buNone/>
            </a:pPr>
            <a:r>
              <a:rPr lang="en-US" sz="2800"/>
              <a:t>Every file in Linux is represented by an inode. An inode is a data structure that contains metadata about a file, such as:</a:t>
            </a:r>
            <a:endParaRPr lang="en-US" sz="2800"/>
          </a:p>
          <a:p>
            <a:r>
              <a:rPr lang="en-US" sz="2800"/>
              <a:t>File type</a:t>
            </a:r>
            <a:endParaRPr lang="en-US" sz="2800"/>
          </a:p>
          <a:p>
            <a:r>
              <a:rPr lang="en-US" sz="2800"/>
              <a:t>Permissions</a:t>
            </a:r>
            <a:endParaRPr lang="en-US" sz="2800"/>
          </a:p>
          <a:p>
            <a:r>
              <a:rPr lang="en-US" sz="2800"/>
              <a:t>Owner and group</a:t>
            </a:r>
            <a:endParaRPr lang="en-US" sz="2800"/>
          </a:p>
          <a:p>
            <a:r>
              <a:rPr lang="en-US" sz="2800"/>
              <a:t>File size</a:t>
            </a:r>
            <a:endParaRPr lang="en-US" sz="2800"/>
          </a:p>
          <a:p>
            <a:r>
              <a:rPr lang="en-US" sz="2800"/>
              <a:t>Creation, modification, and access times</a:t>
            </a:r>
            <a:endParaRPr lang="en-US" sz="2800"/>
          </a:p>
          <a:p>
            <a:r>
              <a:rPr lang="en-US" sz="2800"/>
              <a:t>Pointers to the data blocks where the file's content is stored</a:t>
            </a:r>
            <a:endParaRPr lang="en-US" sz="28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pPr marL="0" indent="0">
              <a:buNone/>
            </a:pPr>
            <a:r>
              <a:rPr lang="en-US"/>
              <a:t>Mounting:</a:t>
            </a:r>
            <a:endParaRPr lang="en-US"/>
          </a:p>
          <a:p>
            <a:r>
              <a:rPr lang="en-US"/>
              <a:t>In Linux, different file systems (e.g., hard drives, external devices, or network drives) are mounted into the directory tree. When you mount a device or partition, it is attached to a specific directory, making it part of the overall file system. The root file system is mounted at /, and other file systems may be mounted at other points (e.g., /home, /mnt).</a:t>
            </a:r>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t>Common Linux Directories and Their Functions</a:t>
            </a:r>
            <a:endParaRPr lang="en-US"/>
          </a:p>
        </p:txBody>
      </p:sp>
      <p:sp>
        <p:nvSpPr>
          <p:cNvPr id="3" name="Content Placeholder 2"/>
          <p:cNvSpPr>
            <a:spLocks noGrp="1"/>
          </p:cNvSpPr>
          <p:nvPr>
            <p:ph idx="1"/>
          </p:nvPr>
        </p:nvSpPr>
        <p:spPr>
          <a:xfrm>
            <a:off x="609600" y="772795"/>
            <a:ext cx="10972800" cy="5354955"/>
          </a:xfrm>
        </p:spPr>
        <p:txBody>
          <a:bodyPr/>
          <a:p>
            <a:pPr marL="514350" indent="-514350">
              <a:buAutoNum type="arabicPeriod"/>
            </a:pPr>
            <a:r>
              <a:rPr lang="en-US"/>
              <a:t>/ (Root):</a:t>
            </a:r>
            <a:endParaRPr lang="en-US"/>
          </a:p>
          <a:p>
            <a:pPr marL="0" indent="0">
              <a:buNone/>
            </a:pPr>
            <a:r>
              <a:rPr lang="en-US"/>
              <a:t>The root directory is the top-level directory of the entire file system. All other directories are contained within it.</a:t>
            </a:r>
            <a:endParaRPr lang="en-US"/>
          </a:p>
          <a:p>
            <a:pPr marL="0" indent="0">
              <a:buNone/>
            </a:pPr>
            <a:r>
              <a:rPr lang="en-IN" altLang="en-US"/>
              <a:t>2. /bin:</a:t>
            </a:r>
            <a:endParaRPr lang="en-IN" altLang="en-US"/>
          </a:p>
          <a:p>
            <a:pPr marL="0" indent="0">
              <a:buNone/>
            </a:pPr>
            <a:r>
              <a:rPr lang="en-IN" altLang="en-US"/>
              <a:t>Contains essential binary executables (programs) that are required for the system to boot and operate in single-user mode. For example, ls, cp, mv.</a:t>
            </a:r>
            <a:endParaRPr lang="en-IN" altLang="en-US"/>
          </a:p>
          <a:p>
            <a:pPr marL="0" indent="0">
              <a:buNone/>
            </a:pPr>
            <a:r>
              <a:rPr lang="en-IN" altLang="en-US"/>
              <a:t>3. /sbin:</a:t>
            </a:r>
            <a:endParaRPr lang="en-IN" altLang="en-US"/>
          </a:p>
          <a:p>
            <a:pPr marL="0" indent="0">
              <a:buNone/>
            </a:pPr>
            <a:r>
              <a:rPr lang="en-IN" altLang="en-US"/>
              <a:t>Contains system binaries for administrative tasks. These are programs typically used by the system administrator (root user), such as fdisk, reboot, and ifconfig.</a:t>
            </a:r>
            <a:endParaRPr lang="en-IN"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a:xfrm>
            <a:off x="609600" y="774065"/>
            <a:ext cx="10972800" cy="5353685"/>
          </a:xfrm>
        </p:spPr>
        <p:txBody>
          <a:bodyPr/>
          <a:p>
            <a:pPr marL="0" indent="0">
              <a:buNone/>
            </a:pPr>
            <a:r>
              <a:rPr lang="en-IN" altLang="en-US"/>
              <a:t>4./etc:</a:t>
            </a:r>
            <a:endParaRPr lang="en-IN" altLang="en-US"/>
          </a:p>
          <a:p>
            <a:pPr marL="0" indent="0">
              <a:buNone/>
            </a:pPr>
            <a:r>
              <a:rPr lang="en-IN" altLang="en-US"/>
              <a:t>Contains configuration files that control system settings. Files here define system-wide settings for the shell, networking, user management, etc. Examples include /etc/passwd (user information) and /etc/fstab (filesystem mounting).</a:t>
            </a:r>
            <a:endParaRPr lang="en-IN" altLang="en-US"/>
          </a:p>
          <a:p>
            <a:pPr marL="0" indent="0">
              <a:buNone/>
            </a:pPr>
            <a:r>
              <a:rPr lang="en-IN" altLang="en-US"/>
              <a:t>5. /dev:</a:t>
            </a:r>
            <a:endParaRPr lang="en-IN" altLang="en-US"/>
          </a:p>
          <a:p>
            <a:pPr marL="0" indent="0">
              <a:buNone/>
            </a:pPr>
            <a:r>
              <a:rPr lang="en-IN" altLang="en-US"/>
              <a:t>Contains device files, which represent hardware devices (e.g., /dev/sda for a hard disk, /dev/tty1 for a terminal). These files allow programs to interact with hardware devices.</a:t>
            </a:r>
            <a:endParaRPr lang="en-IN"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pPr marL="0" indent="0">
              <a:buNone/>
            </a:pPr>
            <a:r>
              <a:rPr lang="en-IN" altLang="en-US"/>
              <a:t>6. /home:</a:t>
            </a:r>
            <a:endParaRPr lang="en-IN" altLang="en-US"/>
          </a:p>
          <a:p>
            <a:pPr marL="0" indent="0">
              <a:buNone/>
            </a:pPr>
            <a:r>
              <a:rPr lang="en-IN" altLang="en-US"/>
              <a:t>This is where user directories are stored. Each user typically has a subdirectory here (e.g., /home/john), where personal files and configurations are stored.</a:t>
            </a:r>
            <a:endParaRPr lang="en-IN" altLang="en-US"/>
          </a:p>
          <a:p>
            <a:pPr marL="0" indent="0">
              <a:buNone/>
            </a:pPr>
            <a:r>
              <a:rPr lang="en-IN" altLang="en-US"/>
              <a:t>7. /lib:</a:t>
            </a:r>
            <a:endParaRPr lang="en-IN" altLang="en-US"/>
          </a:p>
          <a:p>
            <a:pPr marL="0" indent="0">
              <a:buNone/>
            </a:pPr>
            <a:r>
              <a:rPr lang="en-IN" altLang="en-US"/>
              <a:t>Contains essential shared libraries and kernel modules that are required for basic system operation. These libraries are used by programs in /bin and /sbin.</a:t>
            </a:r>
            <a:endParaRPr lang="en-IN"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a:xfrm>
            <a:off x="609600" y="1174750"/>
            <a:ext cx="10972800" cy="5535295"/>
          </a:xfrm>
        </p:spPr>
        <p:txBody>
          <a:bodyPr/>
          <a:p>
            <a:pPr marL="0" indent="0">
              <a:buNone/>
            </a:pPr>
            <a:r>
              <a:rPr lang="en-IN" altLang="en-US"/>
              <a:t>8./tmp:</a:t>
            </a:r>
            <a:endParaRPr lang="en-IN" altLang="en-US"/>
          </a:p>
          <a:p>
            <a:pPr marL="0" indent="0">
              <a:buNone/>
            </a:pPr>
            <a:r>
              <a:rPr lang="en-IN" altLang="en-US"/>
              <a:t>Contains temporary files that are created by applications or users, which may be deleted on reboot or periodically.</a:t>
            </a:r>
            <a:endParaRPr lang="en-IN" altLang="en-US"/>
          </a:p>
          <a:p>
            <a:pPr marL="0" indent="0">
              <a:buNone/>
            </a:pPr>
            <a:r>
              <a:rPr lang="en-IN" altLang="en-US"/>
              <a:t>9./var:</a:t>
            </a:r>
            <a:endParaRPr lang="en-IN" altLang="en-US"/>
          </a:p>
          <a:p>
            <a:pPr marL="0" indent="0">
              <a:buNone/>
            </a:pPr>
            <a:r>
              <a:rPr lang="en-IN" altLang="en-US"/>
              <a:t>Contains files that are expected to change frequently during the system's operation, such as log files (/var/log), spool directories for printing (/var/spool), and caches.</a:t>
            </a:r>
            <a:endParaRPr lang="en-IN" altLang="en-US"/>
          </a:p>
          <a:p>
            <a:pPr marL="0" indent="0">
              <a:buNone/>
            </a:pPr>
            <a:endParaRPr lang="en-IN" alt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pPr marL="0" indent="0">
              <a:buNone/>
            </a:pPr>
            <a:r>
              <a:rPr lang="en-IN" altLang="en-US"/>
              <a:t>10. /usr:</a:t>
            </a:r>
            <a:endParaRPr lang="en-IN" altLang="en-US"/>
          </a:p>
          <a:p>
            <a:pPr marL="0" indent="0">
              <a:buNone/>
            </a:pPr>
            <a:r>
              <a:rPr lang="en-IN" altLang="en-US"/>
              <a:t>Contains user-related programs, libraries, and documentation that are not essential for the system to boot. It's divided into subdirectories:</a:t>
            </a:r>
            <a:endParaRPr lang="en-IN" altLang="en-US"/>
          </a:p>
          <a:p>
            <a:pPr marL="0" indent="0">
              <a:buNone/>
            </a:pPr>
            <a:r>
              <a:rPr lang="en-IN" altLang="en-US"/>
              <a:t>/usr/bin: Most user commands.</a:t>
            </a:r>
            <a:endParaRPr lang="en-IN" altLang="en-US"/>
          </a:p>
          <a:p>
            <a:pPr marL="0" indent="0">
              <a:buNone/>
            </a:pPr>
            <a:r>
              <a:rPr lang="en-IN" altLang="en-US"/>
              <a:t>/usr/lib: Shared libraries for binaries in /usr/bin.</a:t>
            </a:r>
            <a:endParaRPr lang="en-IN" altLang="en-US"/>
          </a:p>
          <a:p>
            <a:pPr marL="0" indent="0">
              <a:buNone/>
            </a:pPr>
            <a:r>
              <a:rPr lang="en-IN" altLang="en-US"/>
              <a:t>/usr/share: Architecture-independent data (e.g., documentation, man pages)</a:t>
            </a:r>
            <a:endParaRPr lang="en-IN"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IN" altLang="en-US"/>
              <a:t>Types of file system</a:t>
            </a:r>
            <a:endParaRPr lang="en-IN" altLang="en-US"/>
          </a:p>
        </p:txBody>
      </p:sp>
      <p:sp>
        <p:nvSpPr>
          <p:cNvPr id="3" name="Content Placeholder 2"/>
          <p:cNvSpPr>
            <a:spLocks noGrp="1"/>
          </p:cNvSpPr>
          <p:nvPr>
            <p:ph idx="1"/>
          </p:nvPr>
        </p:nvSpPr>
        <p:spPr>
          <a:xfrm>
            <a:off x="182880" y="774065"/>
            <a:ext cx="11839575" cy="5962015"/>
          </a:xfrm>
        </p:spPr>
        <p:txBody>
          <a:bodyPr/>
          <a:p>
            <a:pPr marL="0" indent="0">
              <a:buNone/>
            </a:pPr>
            <a:r>
              <a:rPr lang="en-US" sz="2800"/>
              <a:t>1. ext4 (Fourth Extended File System)</a:t>
            </a:r>
            <a:endParaRPr lang="en-US" sz="2800"/>
          </a:p>
          <a:p>
            <a:pPr marL="0" indent="0">
              <a:buNone/>
            </a:pPr>
            <a:r>
              <a:rPr lang="en-US" sz="2800"/>
              <a:t>Key Features:</a:t>
            </a:r>
            <a:endParaRPr lang="en-US" sz="2800"/>
          </a:p>
          <a:p>
            <a:r>
              <a:rPr lang="en-US" sz="2800"/>
              <a:t>Supports large file sizes and volumes (up to 16 TiB file sizes and 1 EiB volumes).</a:t>
            </a:r>
            <a:endParaRPr lang="en-US" sz="2800"/>
          </a:p>
          <a:p>
            <a:r>
              <a:rPr lang="en-US" sz="2800"/>
              <a:t>Faster file system checks due to journaling.</a:t>
            </a:r>
            <a:endParaRPr lang="en-US" sz="2800"/>
          </a:p>
          <a:p>
            <a:r>
              <a:rPr lang="en-US" sz="2800"/>
              <a:t>Extends support for metadata checksums, which improves data integrity.</a:t>
            </a:r>
            <a:endParaRPr lang="en-US" sz="2800"/>
          </a:p>
          <a:p>
            <a:r>
              <a:rPr lang="en-US" sz="2800"/>
              <a:t>Backward compatibility with ext3 and ext2.</a:t>
            </a:r>
            <a:endParaRPr lang="en-US" sz="2800"/>
          </a:p>
          <a:p>
            <a:r>
              <a:rPr lang="en-US" sz="2800"/>
              <a:t>Uses journaling to track changes, making it more robust against crashes.</a:t>
            </a:r>
            <a:endParaRPr lang="en-US" sz="2800"/>
          </a:p>
          <a:p>
            <a:pPr marL="0" indent="0">
              <a:buNone/>
            </a:pPr>
            <a:r>
              <a:rPr lang="en-US" sz="2800"/>
              <a:t>Usage: Ext4 is the default file system for most modern Linux distributions  It is ideal for general-purpose file storage, including both desktop and server environments.</a:t>
            </a:r>
            <a:endParaRPr lang="en-US" sz="2800"/>
          </a:p>
          <a:p>
            <a:pPr marL="0" indent="0">
              <a:buNone/>
            </a:pPr>
            <a:endParaRPr lang="en-US" sz="2800"/>
          </a:p>
          <a:p>
            <a:pPr marL="0" indent="0">
              <a:buNone/>
            </a:pPr>
            <a:endParaRPr lang="en-US" sz="280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a:xfrm>
            <a:off x="609600" y="774065"/>
            <a:ext cx="10972800" cy="6083300"/>
          </a:xfrm>
        </p:spPr>
        <p:txBody>
          <a:bodyPr/>
          <a:p>
            <a:pPr marL="0" indent="0">
              <a:buNone/>
            </a:pPr>
            <a:r>
              <a:rPr lang="en-IN" altLang="en-US"/>
              <a:t>2.ext3 (Third Extended File System)</a:t>
            </a:r>
            <a:endParaRPr lang="en-IN" altLang="en-US"/>
          </a:p>
          <a:p>
            <a:pPr marL="0" indent="0">
              <a:buNone/>
            </a:pPr>
            <a:r>
              <a:rPr lang="en-IN" altLang="en-US"/>
              <a:t> It introduced journaling, which logs changes to the file system, reducing the risk of file system corruption after a crash or power failure.</a:t>
            </a:r>
            <a:endParaRPr lang="en-IN" altLang="en-US"/>
          </a:p>
          <a:p>
            <a:pPr marL="0" indent="0">
              <a:buNone/>
            </a:pPr>
            <a:r>
              <a:rPr lang="en-IN" altLang="en-US"/>
              <a:t>Key Features:</a:t>
            </a:r>
            <a:endParaRPr lang="en-IN" altLang="en-US"/>
          </a:p>
          <a:p>
            <a:r>
              <a:rPr lang="en-IN" altLang="en-US"/>
              <a:t>Journaling improves the reliability of the file system.</a:t>
            </a:r>
            <a:endParaRPr lang="en-IN" altLang="en-US"/>
          </a:p>
          <a:p>
            <a:r>
              <a:rPr lang="en-IN" altLang="en-US"/>
              <a:t>Compatible with ext2, meaning ext3 can be mounted as ext2 if journaling is turned off.</a:t>
            </a:r>
            <a:endParaRPr lang="en-IN" altLang="en-US"/>
          </a:p>
          <a:p>
            <a:r>
              <a:rPr lang="en-IN" altLang="en-US"/>
              <a:t>Less efficient than ext4 in terms of performance and features.</a:t>
            </a:r>
            <a:endParaRPr lang="en-IN" altLang="en-US"/>
          </a:p>
          <a:p>
            <a:r>
              <a:rPr lang="en-IN" altLang="en-US"/>
              <a:t>Supports up to 2 TiB of file size and 16 TiB of volume size.</a:t>
            </a:r>
            <a:endParaRPr lang="en-IN" alt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pPr marL="0" indent="0">
              <a:buNone/>
            </a:pPr>
            <a:r>
              <a:rPr lang="en-IN" altLang="en-US"/>
              <a:t>3. ext2 (Second Extended File System)</a:t>
            </a:r>
            <a:endParaRPr lang="en-IN" altLang="en-US"/>
          </a:p>
          <a:p>
            <a:r>
              <a:rPr lang="en-IN" altLang="en-US"/>
              <a:t>Key Features:</a:t>
            </a:r>
            <a:endParaRPr lang="en-IN" altLang="en-US"/>
          </a:p>
          <a:p>
            <a:r>
              <a:rPr lang="en-IN" altLang="en-US"/>
              <a:t>No journaling, which means fewer writes to disk, and thus faster in certain conditions.</a:t>
            </a:r>
            <a:endParaRPr lang="en-IN" altLang="en-US"/>
          </a:p>
          <a:p>
            <a:r>
              <a:rPr lang="en-IN" altLang="en-US"/>
              <a:t>Basic file system, simple design, and widely supported.</a:t>
            </a:r>
            <a:endParaRPr lang="en-IN" altLang="en-US"/>
          </a:p>
          <a:p>
            <a:r>
              <a:rPr lang="en-IN" altLang="en-US"/>
              <a:t>Maximum file size is 2 TiB, and maximum volume size is 32 TiB.</a:t>
            </a:r>
            <a:endParaRPr lang="en-IN" altLang="en-US"/>
          </a:p>
          <a:p>
            <a:r>
              <a:rPr lang="en-IN" altLang="en-US"/>
              <a:t>Suitable for flash drives, non-critical partitions, or older systems.</a:t>
            </a:r>
            <a:endParaRPr lang="en-IN" alt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4" name="Content Placeholder 3"/>
          <p:cNvPicPr>
            <a:picLocks noChangeAspect="1"/>
          </p:cNvPicPr>
          <p:nvPr>
            <p:ph idx="1"/>
          </p:nvPr>
        </p:nvPicPr>
        <p:blipFill>
          <a:blip r:embed="rId1"/>
          <a:stretch>
            <a:fillRect/>
          </a:stretch>
        </p:blipFill>
        <p:spPr>
          <a:xfrm>
            <a:off x="1914525" y="27305"/>
            <a:ext cx="8100695" cy="683006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endParaRPr lang="en-US"/>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TABLE_ENDDRAG_ORIGIN_RECT" val="847*382"/>
  <p:tag name="TABLE_ENDDRAG_RECT" val="48*92*847*383"/>
</p:tagLst>
</file>

<file path=ppt/theme/theme1.xml><?xml version="1.0" encoding="utf-8"?>
<a:theme xmlns:a="http://schemas.openxmlformats.org/drawingml/2006/main" name="Communications and Dialogues">
  <a:themeElements>
    <a:clrScheme name="Communications and Dialogu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fontScheme name="Communications and Dialogu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Communications and Dialogu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ommunications and Dialogu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ommunications and Dialogu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ommunications and Dialogu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ommunications and Dialogu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ommunications and Dialogu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ommunications and Dialogu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ommunications and Dialogu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ommunications and Dialogu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ommunications and Dialogu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ommunications and Dialogu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ommunications and Dialogu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Communications and Dialogu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19496</Words>
  <Application>WPS Presentation</Application>
  <PresentationFormat>Widescreen</PresentationFormat>
  <Paragraphs>392</Paragraphs>
  <Slides>55</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55</vt:i4>
      </vt:variant>
    </vt:vector>
  </HeadingPairs>
  <TitlesOfParts>
    <vt:vector size="64" baseType="lpstr">
      <vt:lpstr>Arial</vt:lpstr>
      <vt:lpstr>SimSun</vt:lpstr>
      <vt:lpstr>Wingdings</vt:lpstr>
      <vt:lpstr>Calibri Light</vt:lpstr>
      <vt:lpstr>Calibri</vt:lpstr>
      <vt:lpstr>Microsoft YaHei</vt:lpstr>
      <vt:lpstr>Arial Unicode MS</vt:lpstr>
      <vt:lpstr>Times New Roman</vt:lpstr>
      <vt:lpstr>Communications and Dialogues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Forensic Analysis of Linux and MAC System Artifacts</dc:title>
  <dc:creator/>
  <cp:lastModifiedBy>Dheerender singh</cp:lastModifiedBy>
  <cp:revision>2</cp:revision>
  <dcterms:created xsi:type="dcterms:W3CDTF">2024-11-20T08:06:49Z</dcterms:created>
  <dcterms:modified xsi:type="dcterms:W3CDTF">2024-11-21T19:25:07Z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E9FC2F3E055E423FA6481A9F5994F37C_11</vt:lpwstr>
  </property>
  <property fmtid="{D5CDD505-2E9C-101B-9397-08002B2CF9AE}" pid="3" name="KSOProductBuildVer">
    <vt:lpwstr>1033-12.2.0.17119</vt:lpwstr>
  </property>
</Properties>
</file>