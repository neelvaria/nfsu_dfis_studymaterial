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57" r:id="rId4"/>
    <p:sldId id="263" r:id="rId5"/>
    <p:sldId id="260" r:id="rId6"/>
    <p:sldId id="258" r:id="rId7"/>
    <p:sldId id="264" r:id="rId8"/>
    <p:sldId id="262" r:id="rId9"/>
    <p:sldId id="265" r:id="rId10"/>
    <p:sldId id="259"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719"/>
  </p:normalViewPr>
  <p:slideViewPr>
    <p:cSldViewPr snapToGrid="0">
      <p:cViewPr varScale="1">
        <p:scale>
          <a:sx n="152" d="100"/>
          <a:sy n="152" d="100"/>
        </p:scale>
        <p:origin x="85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2905E-9DFD-C44D-3983-94B0237BEF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C4D604-7511-8D8B-0B62-000B176071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0C0BAA-B359-2396-4A0E-6DC94D7D90E7}"/>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5" name="Footer Placeholder 4">
            <a:extLst>
              <a:ext uri="{FF2B5EF4-FFF2-40B4-BE49-F238E27FC236}">
                <a16:creationId xmlns:a16="http://schemas.microsoft.com/office/drawing/2014/main" id="{22C653C2-4FED-4E6B-FDB7-CDF96C3CD7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FDE4B7-403B-CC3B-A0BF-FE4DADA793B3}"/>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533756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ECE1-EA1C-B277-838D-3A0051C7D3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ED73A7-33E6-C267-A4DF-BC06DFBA66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61C94E-779C-57B1-DC67-14CF9DB6A7C3}"/>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5" name="Footer Placeholder 4">
            <a:extLst>
              <a:ext uri="{FF2B5EF4-FFF2-40B4-BE49-F238E27FC236}">
                <a16:creationId xmlns:a16="http://schemas.microsoft.com/office/drawing/2014/main" id="{C4B5E94D-0289-3C76-7C6B-3A2CE5895D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DBED9A-CB77-C0AC-4CE4-64FAF49DCF5F}"/>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1968532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C1C33-F0EF-11B5-CBC7-412E782BF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0C89A0-4DF2-149B-04DE-F4F965382C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EFFFB7-A779-1360-6DB5-5A9E0896CB8F}"/>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5" name="Footer Placeholder 4">
            <a:extLst>
              <a:ext uri="{FF2B5EF4-FFF2-40B4-BE49-F238E27FC236}">
                <a16:creationId xmlns:a16="http://schemas.microsoft.com/office/drawing/2014/main" id="{A3C1EC47-60C7-6EE4-F67F-E876707F21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C3619-5359-38F4-5AB1-FB56B680E7F8}"/>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212609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238E-0971-3B8B-15C5-6A9C8FE495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2B6F29-E377-0280-1F04-EDE2D733EF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C86ED8-673C-AD7E-0BAA-8F8CC7B79C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B00DA1D-112A-C7FC-DB1D-DD675FDD6531}"/>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6" name="Footer Placeholder 5">
            <a:extLst>
              <a:ext uri="{FF2B5EF4-FFF2-40B4-BE49-F238E27FC236}">
                <a16:creationId xmlns:a16="http://schemas.microsoft.com/office/drawing/2014/main" id="{8CB88C58-5DA4-B1EE-FA46-A7B356A169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B8B6E-B7D9-19DD-845F-65147D9F25B1}"/>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327632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98326-2735-00A6-3D39-CADD7C15E1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A8A817-5096-79E0-FC10-CD243D6457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E414A9-BAE7-FD6B-3AA7-711A9D76B8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FC4BF9-CF59-27DC-2CBE-DEDFFDDDD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FA9855-2D95-E407-1D97-23FB468AAD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A833C3-06E7-B929-A574-EBF6695ACE89}"/>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8" name="Footer Placeholder 7">
            <a:extLst>
              <a:ext uri="{FF2B5EF4-FFF2-40B4-BE49-F238E27FC236}">
                <a16:creationId xmlns:a16="http://schemas.microsoft.com/office/drawing/2014/main" id="{DB270A14-1B75-2E66-DD46-94F48A7EF7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48550F-58F0-AB16-10C1-859197E955C1}"/>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1545971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BB67-DDD0-7AEA-6CEF-F421AE0E448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A620CF-CB23-6F2D-5B97-B8158903F1D7}"/>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4" name="Footer Placeholder 3">
            <a:extLst>
              <a:ext uri="{FF2B5EF4-FFF2-40B4-BE49-F238E27FC236}">
                <a16:creationId xmlns:a16="http://schemas.microsoft.com/office/drawing/2014/main" id="{BE1D5A05-7341-0935-B4A5-703D95F17E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3A1C88-7695-D6E9-7DCF-382DA67068C1}"/>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336357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144FA3-08A4-A731-C139-233393ECCB8E}"/>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3" name="Footer Placeholder 2">
            <a:extLst>
              <a:ext uri="{FF2B5EF4-FFF2-40B4-BE49-F238E27FC236}">
                <a16:creationId xmlns:a16="http://schemas.microsoft.com/office/drawing/2014/main" id="{60113D39-0B18-17EB-B9B8-BE27DB08F5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FAC362-7F29-BA1B-C474-790396CF882B}"/>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2398849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59A9-0913-EC6E-F8ED-B2B5AE90C7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813D04-AB1F-5F02-E57D-98CD3E2C8F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5A3192-848A-FF3B-66AD-1B798DF7D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6846F3-9500-8BC0-37DD-9FE001742574}"/>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6" name="Footer Placeholder 5">
            <a:extLst>
              <a:ext uri="{FF2B5EF4-FFF2-40B4-BE49-F238E27FC236}">
                <a16:creationId xmlns:a16="http://schemas.microsoft.com/office/drawing/2014/main" id="{C956A195-01EE-BC65-0B8A-07B81F449F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BFA30C-BB04-8FD8-F39E-4FC06A1AA8B1}"/>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994533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39325-93DA-1B44-A975-CB40EDC85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8DAD82-EDD5-8532-3AB5-FF73405DBC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DFE4BA-5DCC-DC52-73CD-D5B60D094B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CBE2A-9979-7BA8-7AB2-4CB81741F7D1}"/>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6" name="Footer Placeholder 5">
            <a:extLst>
              <a:ext uri="{FF2B5EF4-FFF2-40B4-BE49-F238E27FC236}">
                <a16:creationId xmlns:a16="http://schemas.microsoft.com/office/drawing/2014/main" id="{3EFDC6E7-6FF3-86B2-F2DB-9F5C5F56E2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7157F7-2B12-DDBB-84CC-D07AD00ADB25}"/>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1584584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21EDE-4478-B9A5-E1A7-EBC3E9A4AE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C58519-08CE-17C9-2E7D-AE691D1E15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19D0C1-6F4C-9219-CC11-233018908D75}"/>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5" name="Footer Placeholder 4">
            <a:extLst>
              <a:ext uri="{FF2B5EF4-FFF2-40B4-BE49-F238E27FC236}">
                <a16:creationId xmlns:a16="http://schemas.microsoft.com/office/drawing/2014/main" id="{5C7C3254-2D72-7C9C-9F0B-6CA8BF86FD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8C0AE-7199-177D-D1C5-9ACE953BF56E}"/>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12545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860937-E12C-E0F8-1225-01CC9F6314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B1921C-4F03-E0EE-61D3-8B93CCE55A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E047E9-F567-54C6-5F73-6EDC2259CCAF}"/>
              </a:ext>
            </a:extLst>
          </p:cNvPr>
          <p:cNvSpPr>
            <a:spLocks noGrp="1"/>
          </p:cNvSpPr>
          <p:nvPr>
            <p:ph type="dt" sz="half" idx="10"/>
          </p:nvPr>
        </p:nvSpPr>
        <p:spPr/>
        <p:txBody>
          <a:bodyPr/>
          <a:lstStyle/>
          <a:p>
            <a:fld id="{1F16CEA1-E78B-43A9-984F-0DA3945039F3}" type="datetimeFigureOut">
              <a:rPr lang="en-IN" smtClean="0"/>
              <a:t>25/08/25</a:t>
            </a:fld>
            <a:endParaRPr lang="en-IN"/>
          </a:p>
        </p:txBody>
      </p:sp>
      <p:sp>
        <p:nvSpPr>
          <p:cNvPr id="5" name="Footer Placeholder 4">
            <a:extLst>
              <a:ext uri="{FF2B5EF4-FFF2-40B4-BE49-F238E27FC236}">
                <a16:creationId xmlns:a16="http://schemas.microsoft.com/office/drawing/2014/main" id="{ACCC0CF7-6E9C-65A7-0CC6-A116F120BC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2103EA-3BB3-2065-136E-5ACAA6312B06}"/>
              </a:ext>
            </a:extLst>
          </p:cNvPr>
          <p:cNvSpPr>
            <a:spLocks noGrp="1"/>
          </p:cNvSpPr>
          <p:nvPr>
            <p:ph type="sldNum" sz="quarter" idx="12"/>
          </p:nvPr>
        </p:nvSpPr>
        <p:spPr/>
        <p:txBody>
          <a:bodyPr/>
          <a:lstStyle/>
          <a:p>
            <a:fld id="{0A6668A8-A1B4-4F97-82DE-4B6D0BB6C276}" type="slidenum">
              <a:rPr lang="en-IN" smtClean="0"/>
              <a:t>‹#›</a:t>
            </a:fld>
            <a:endParaRPr lang="en-IN"/>
          </a:p>
        </p:txBody>
      </p:sp>
    </p:spTree>
    <p:extLst>
      <p:ext uri="{BB962C8B-B14F-4D97-AF65-F5344CB8AC3E}">
        <p14:creationId xmlns:p14="http://schemas.microsoft.com/office/powerpoint/2010/main" val="3849331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8E59D8-2362-557F-32A6-724F531AF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B0DC1D-A079-2CB1-8A02-F367BD28CC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8D976E-B359-0F07-CA8D-6672733695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16CEA1-E78B-43A9-984F-0DA3945039F3}" type="datetimeFigureOut">
              <a:rPr lang="en-IN" smtClean="0"/>
              <a:t>25/08/25</a:t>
            </a:fld>
            <a:endParaRPr lang="en-IN"/>
          </a:p>
        </p:txBody>
      </p:sp>
      <p:sp>
        <p:nvSpPr>
          <p:cNvPr id="5" name="Footer Placeholder 4">
            <a:extLst>
              <a:ext uri="{FF2B5EF4-FFF2-40B4-BE49-F238E27FC236}">
                <a16:creationId xmlns:a16="http://schemas.microsoft.com/office/drawing/2014/main" id="{FA0BD5F2-BD01-478C-2296-C3E75C51B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503D52-653B-9049-3617-C01DBF06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6668A8-A1B4-4F97-82DE-4B6D0BB6C276}" type="slidenum">
              <a:rPr lang="en-IN" smtClean="0"/>
              <a:t>‹#›</a:t>
            </a:fld>
            <a:endParaRPr lang="en-IN"/>
          </a:p>
        </p:txBody>
      </p:sp>
    </p:spTree>
    <p:extLst>
      <p:ext uri="{BB962C8B-B14F-4D97-AF65-F5344CB8AC3E}">
        <p14:creationId xmlns:p14="http://schemas.microsoft.com/office/powerpoint/2010/main" val="3468786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856B4-0B7C-F80F-9810-826256A105C5}"/>
              </a:ext>
            </a:extLst>
          </p:cNvPr>
          <p:cNvSpPr txBox="1"/>
          <p:nvPr/>
        </p:nvSpPr>
        <p:spPr>
          <a:xfrm>
            <a:off x="-8463" y="0"/>
            <a:ext cx="12200463" cy="523220"/>
          </a:xfrm>
          <a:prstGeom prst="rect">
            <a:avLst/>
          </a:prstGeom>
          <a:noFill/>
        </p:spPr>
        <p:txBody>
          <a:bodyPr wrap="square" rtlCol="0">
            <a:spAutoFit/>
          </a:bodyPr>
          <a:lstStyle/>
          <a:p>
            <a:pPr algn="ctr"/>
            <a:r>
              <a:rPr lang="en-IN" sz="2800" b="1" dirty="0">
                <a:solidFill>
                  <a:srgbClr val="0070C0"/>
                </a:solidFill>
              </a:rPr>
              <a:t>Data depiction in Forensics</a:t>
            </a:r>
          </a:p>
        </p:txBody>
      </p:sp>
      <p:sp>
        <p:nvSpPr>
          <p:cNvPr id="5" name="TextBox 4">
            <a:extLst>
              <a:ext uri="{FF2B5EF4-FFF2-40B4-BE49-F238E27FC236}">
                <a16:creationId xmlns:a16="http://schemas.microsoft.com/office/drawing/2014/main" id="{8A90D449-DF0C-C146-DE5D-A710E879638F}"/>
              </a:ext>
            </a:extLst>
          </p:cNvPr>
          <p:cNvSpPr txBox="1"/>
          <p:nvPr/>
        </p:nvSpPr>
        <p:spPr>
          <a:xfrm>
            <a:off x="0" y="523220"/>
            <a:ext cx="12192000" cy="6186309"/>
          </a:xfrm>
          <a:prstGeom prst="rect">
            <a:avLst/>
          </a:prstGeom>
          <a:noFill/>
        </p:spPr>
        <p:txBody>
          <a:bodyPr wrap="square" rtlCol="0">
            <a:spAutoFit/>
          </a:bodyPr>
          <a:lstStyle/>
          <a:p>
            <a:pPr marL="285750" indent="-285750">
              <a:buFont typeface="Arial" panose="020B0604020202020204" pitchFamily="34" charset="0"/>
              <a:buChar char="•"/>
            </a:pPr>
            <a:r>
              <a:rPr lang="en-IN" dirty="0"/>
              <a:t>Presenting data/reports is the most crucial part as it has the potential to influence justice.</a:t>
            </a:r>
          </a:p>
          <a:p>
            <a:pPr marL="285750" indent="-285750">
              <a:buFont typeface="Arial" panose="020B0604020202020204" pitchFamily="34" charset="0"/>
              <a:buChar char="•"/>
            </a:pPr>
            <a:r>
              <a:rPr lang="en-IN" dirty="0"/>
              <a:t>This report holds so much weight that it is actually a decision.</a:t>
            </a:r>
          </a:p>
          <a:p>
            <a:pPr marL="285750" indent="-285750">
              <a:buFont typeface="Arial" panose="020B0604020202020204" pitchFamily="34" charset="0"/>
              <a:buChar char="•"/>
            </a:pPr>
            <a:r>
              <a:rPr lang="en-IN" dirty="0"/>
              <a:t>Other than preparing a report data depiction is also very important in the investigation.</a:t>
            </a:r>
          </a:p>
          <a:p>
            <a:pPr marL="285750" indent="-285750">
              <a:buFont typeface="Arial" panose="020B0604020202020204" pitchFamily="34" charset="0"/>
              <a:buChar char="•"/>
            </a:pPr>
            <a:r>
              <a:rPr lang="en-IN" dirty="0"/>
              <a:t>In a report on sometime in the courtroom, Data needs to be presented.</a:t>
            </a:r>
          </a:p>
          <a:p>
            <a:endParaRPr lang="en-IN" dirty="0"/>
          </a:p>
          <a:p>
            <a:r>
              <a:rPr lang="en-IN" b="1" u="sng" dirty="0"/>
              <a:t>Essential mandates to depict data:</a:t>
            </a:r>
          </a:p>
          <a:p>
            <a:pPr marL="285750" indent="-285750">
              <a:buFont typeface="Arial" panose="020B0604020202020204" pitchFamily="34" charset="0"/>
              <a:buChar char="•"/>
            </a:pPr>
            <a:r>
              <a:rPr lang="en-IN" dirty="0"/>
              <a:t>Objectives and Principles should be mentioned.</a:t>
            </a:r>
          </a:p>
          <a:p>
            <a:pPr marL="285750" indent="-285750">
              <a:buFont typeface="Arial" panose="020B0604020202020204" pitchFamily="34" charset="0"/>
              <a:buChar char="•"/>
            </a:pPr>
            <a:r>
              <a:rPr lang="en-IN" dirty="0"/>
              <a:t>It should be clear and crisp and keep it simple.</a:t>
            </a:r>
          </a:p>
          <a:p>
            <a:pPr marL="285750" indent="-285750">
              <a:buFont typeface="Arial" panose="020B0604020202020204" pitchFamily="34" charset="0"/>
              <a:buChar char="•"/>
            </a:pPr>
            <a:r>
              <a:rPr lang="en-IN" dirty="0"/>
              <a:t>Maintain the originality of the evidence.</a:t>
            </a:r>
          </a:p>
          <a:p>
            <a:pPr marL="285750" indent="-285750">
              <a:buFont typeface="Arial" panose="020B0604020202020204" pitchFamily="34" charset="0"/>
              <a:buChar char="•"/>
            </a:pPr>
            <a:r>
              <a:rPr lang="en-IN" dirty="0"/>
              <a:t>Photographs should be presented with a scale bar.</a:t>
            </a:r>
          </a:p>
          <a:p>
            <a:pPr marL="285750" indent="-285750">
              <a:buFont typeface="Arial" panose="020B0604020202020204" pitchFamily="34" charset="0"/>
              <a:buChar char="•"/>
            </a:pPr>
            <a:r>
              <a:rPr lang="en-IN" dirty="0"/>
              <a:t>Appropriate tools should be used so that the least manipulations are possible.</a:t>
            </a:r>
          </a:p>
          <a:p>
            <a:pPr marL="719138" indent="-177800">
              <a:buFont typeface="Courier New" panose="02070309020205020404" pitchFamily="49" charset="0"/>
              <a:buChar char="o"/>
            </a:pPr>
            <a:r>
              <a:rPr lang="en-IN" dirty="0"/>
              <a:t>Charts</a:t>
            </a:r>
          </a:p>
          <a:p>
            <a:pPr marL="719138" indent="-177800">
              <a:buFont typeface="Courier New" panose="02070309020205020404" pitchFamily="49" charset="0"/>
              <a:buChar char="o"/>
            </a:pPr>
            <a:r>
              <a:rPr lang="en-IN" dirty="0"/>
              <a:t>Tables</a:t>
            </a:r>
          </a:p>
          <a:p>
            <a:pPr marL="719138" indent="-177800">
              <a:buFont typeface="Courier New" panose="02070309020205020404" pitchFamily="49" charset="0"/>
              <a:buChar char="o"/>
            </a:pPr>
            <a:r>
              <a:rPr lang="en-IN" dirty="0"/>
              <a:t>Texts and typography</a:t>
            </a:r>
          </a:p>
          <a:p>
            <a:pPr marL="719138" indent="-177800">
              <a:buFont typeface="Courier New" panose="02070309020205020404" pitchFamily="49" charset="0"/>
              <a:buChar char="o"/>
            </a:pPr>
            <a:r>
              <a:rPr lang="en-IN" dirty="0"/>
              <a:t>Maps</a:t>
            </a:r>
          </a:p>
          <a:p>
            <a:pPr marL="719138" indent="-177800">
              <a:buFont typeface="Courier New" panose="02070309020205020404" pitchFamily="49" charset="0"/>
              <a:buChar char="o"/>
            </a:pPr>
            <a:r>
              <a:rPr lang="en-IN" dirty="0"/>
              <a:t>Java script charts</a:t>
            </a:r>
          </a:p>
          <a:p>
            <a:pPr marL="719138" indent="-177800">
              <a:buFont typeface="Courier New" panose="02070309020205020404" pitchFamily="49" charset="0"/>
              <a:buChar char="o"/>
            </a:pPr>
            <a:r>
              <a:rPr lang="en-IN" dirty="0"/>
              <a:t>Images</a:t>
            </a:r>
          </a:p>
          <a:p>
            <a:pPr marL="719138" indent="-177800">
              <a:buFont typeface="Courier New" panose="02070309020205020404" pitchFamily="49" charset="0"/>
              <a:buChar char="o"/>
            </a:pPr>
            <a:r>
              <a:rPr lang="en-IN" dirty="0"/>
              <a:t>Shapes</a:t>
            </a:r>
          </a:p>
          <a:p>
            <a:pPr marL="719138" indent="-177800">
              <a:buFont typeface="Courier New" panose="02070309020205020404" pitchFamily="49" charset="0"/>
              <a:buChar char="o"/>
            </a:pPr>
            <a:r>
              <a:rPr lang="en-IN" dirty="0"/>
              <a:t>Canvas</a:t>
            </a:r>
          </a:p>
          <a:p>
            <a:pPr marL="719138" indent="-177800">
              <a:buFont typeface="Courier New" panose="02070309020205020404" pitchFamily="49" charset="0"/>
              <a:buChar char="o"/>
            </a:pPr>
            <a:r>
              <a:rPr lang="en-IN" dirty="0"/>
              <a:t>Flow chart</a:t>
            </a:r>
          </a:p>
          <a:p>
            <a:pPr marL="719138" indent="-177800">
              <a:buFont typeface="Courier New" panose="02070309020205020404" pitchFamily="49" charset="0"/>
              <a:buChar char="o"/>
            </a:pPr>
            <a:r>
              <a:rPr lang="en-IN" dirty="0"/>
              <a:t>Power point presentations</a:t>
            </a:r>
          </a:p>
          <a:p>
            <a:pPr marL="719138" indent="-177800">
              <a:buFont typeface="Courier New" panose="02070309020205020404" pitchFamily="49" charset="0"/>
              <a:buChar char="o"/>
            </a:pPr>
            <a:r>
              <a:rPr lang="en-IN" dirty="0" err="1"/>
              <a:t>Welllabelled</a:t>
            </a:r>
            <a:r>
              <a:rPr lang="en-IN" dirty="0"/>
              <a:t> figures/microscopic pictures</a:t>
            </a:r>
          </a:p>
        </p:txBody>
      </p:sp>
    </p:spTree>
    <p:extLst>
      <p:ext uri="{BB962C8B-B14F-4D97-AF65-F5344CB8AC3E}">
        <p14:creationId xmlns:p14="http://schemas.microsoft.com/office/powerpoint/2010/main" val="2236355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53D977-C984-E2B3-D77F-00455FCC0E96}"/>
              </a:ext>
            </a:extLst>
          </p:cNvPr>
          <p:cNvSpPr txBox="1"/>
          <p:nvPr/>
        </p:nvSpPr>
        <p:spPr>
          <a:xfrm>
            <a:off x="8464" y="859114"/>
            <a:ext cx="12183536" cy="5632311"/>
          </a:xfrm>
          <a:prstGeom prst="rect">
            <a:avLst/>
          </a:prstGeom>
          <a:noFill/>
        </p:spPr>
        <p:txBody>
          <a:bodyPr wrap="square">
            <a:spAutoFit/>
          </a:bodyPr>
          <a:lstStyle/>
          <a:p>
            <a:pPr marL="342900" indent="-342900">
              <a:buFont typeface="Arial" panose="020B0604020202020204" pitchFamily="34" charset="0"/>
              <a:buChar char="•"/>
            </a:pPr>
            <a:r>
              <a:rPr lang="en-US" sz="2000" dirty="0"/>
              <a:t>A forensic report is written for judicial purposes and is of high importance as it influences the court’s decision. It is about the subject. Because of this, it is considered as more than just a report. It is used as evidence.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It is a coherent/clear and comprehensive document used to present the evidence in the court so that the court can reason the admissible and bring the guilty to justice.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With the help of this report, retelling the events in a structured manner that had occurred at the crime scene, while backing up every claim with concrete evidence becomes easy and it helps in fair justice. As it is factual and very objective in nature.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They are the interdisciplinary focal point that tells the truth of what happened and documents the findings, all while presenting them in a factual yet understandable manner.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Digital forensics reports play an instrumental role in coordinating the work between multiple investigators, law enforcement officers, and administrative, and legal personnel involved in the case, not all of which may share the same professional background and field of expertise.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0" i="0" dirty="0">
                <a:solidFill>
                  <a:srgbClr val="040C28"/>
                </a:solidFill>
                <a:effectLst/>
                <a:latin typeface="Google Sans"/>
              </a:rPr>
              <a:t>Section 45 of the Indian Evidence Act allows the expert to give opinions and reports to the court in India.</a:t>
            </a:r>
            <a:endParaRPr lang="en-US" sz="2000" dirty="0"/>
          </a:p>
        </p:txBody>
      </p:sp>
      <p:sp>
        <p:nvSpPr>
          <p:cNvPr id="6" name="TextBox 5">
            <a:extLst>
              <a:ext uri="{FF2B5EF4-FFF2-40B4-BE49-F238E27FC236}">
                <a16:creationId xmlns:a16="http://schemas.microsoft.com/office/drawing/2014/main" id="{EAB76873-6080-9141-608F-10957A83A951}"/>
              </a:ext>
            </a:extLst>
          </p:cNvPr>
          <p:cNvSpPr txBox="1"/>
          <p:nvPr/>
        </p:nvSpPr>
        <p:spPr>
          <a:xfrm>
            <a:off x="-8463" y="0"/>
            <a:ext cx="12200463" cy="523220"/>
          </a:xfrm>
          <a:prstGeom prst="rect">
            <a:avLst/>
          </a:prstGeom>
          <a:noFill/>
        </p:spPr>
        <p:txBody>
          <a:bodyPr wrap="square" rtlCol="0">
            <a:spAutoFit/>
          </a:bodyPr>
          <a:lstStyle/>
          <a:p>
            <a:pPr algn="ctr"/>
            <a:r>
              <a:rPr lang="en-IN" sz="2800" b="1" dirty="0">
                <a:solidFill>
                  <a:srgbClr val="0070C0"/>
                </a:solidFill>
              </a:rPr>
              <a:t>What is a Forensic report? </a:t>
            </a:r>
          </a:p>
        </p:txBody>
      </p:sp>
    </p:spTree>
    <p:extLst>
      <p:ext uri="{BB962C8B-B14F-4D97-AF65-F5344CB8AC3E}">
        <p14:creationId xmlns:p14="http://schemas.microsoft.com/office/powerpoint/2010/main" val="993473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41475A-F585-F986-0BE7-21AF04AD3623}"/>
              </a:ext>
            </a:extLst>
          </p:cNvPr>
          <p:cNvSpPr txBox="1"/>
          <p:nvPr/>
        </p:nvSpPr>
        <p:spPr>
          <a:xfrm>
            <a:off x="-1" y="0"/>
            <a:ext cx="12191999" cy="461665"/>
          </a:xfrm>
          <a:prstGeom prst="rect">
            <a:avLst/>
          </a:prstGeom>
          <a:noFill/>
        </p:spPr>
        <p:txBody>
          <a:bodyPr wrap="square">
            <a:spAutoFit/>
          </a:bodyPr>
          <a:lstStyle/>
          <a:p>
            <a:pPr marL="342900" indent="-342900">
              <a:buFont typeface="Wingdings" panose="05000000000000000000" pitchFamily="2" charset="2"/>
              <a:buChar char="Ø"/>
            </a:pPr>
            <a:r>
              <a:rPr lang="en-US" sz="2400" b="1" dirty="0">
                <a:solidFill>
                  <a:srgbClr val="0070C0"/>
                </a:solidFill>
              </a:rPr>
              <a:t>Familiarize Yourself with the Best Practices of Writing a Forensic Report</a:t>
            </a:r>
            <a:endParaRPr lang="en-IN" sz="2400" b="1" dirty="0">
              <a:solidFill>
                <a:srgbClr val="0070C0"/>
              </a:solidFill>
            </a:endParaRPr>
          </a:p>
        </p:txBody>
      </p:sp>
      <p:sp>
        <p:nvSpPr>
          <p:cNvPr id="5" name="TextBox 4">
            <a:extLst>
              <a:ext uri="{FF2B5EF4-FFF2-40B4-BE49-F238E27FC236}">
                <a16:creationId xmlns:a16="http://schemas.microsoft.com/office/drawing/2014/main" id="{93A00B4D-31A5-3C40-6819-9D1A3FB17814}"/>
              </a:ext>
            </a:extLst>
          </p:cNvPr>
          <p:cNvSpPr txBox="1"/>
          <p:nvPr/>
        </p:nvSpPr>
        <p:spPr>
          <a:xfrm>
            <a:off x="-1" y="569357"/>
            <a:ext cx="12191998" cy="5909310"/>
          </a:xfrm>
          <a:prstGeom prst="rect">
            <a:avLst/>
          </a:prstGeom>
          <a:noFill/>
        </p:spPr>
        <p:txBody>
          <a:bodyPr wrap="square">
            <a:spAutoFit/>
          </a:bodyPr>
          <a:lstStyle/>
          <a:p>
            <a:pPr marL="285750" indent="-285750">
              <a:buFont typeface="Arial" panose="020B0604020202020204" pitchFamily="34" charset="0"/>
              <a:buChar char="•"/>
            </a:pPr>
            <a:r>
              <a:rPr lang="en-US" b="1" dirty="0"/>
              <a:t>Don’t break the law while collecting, processing, analyzing, or handling evidence.</a:t>
            </a:r>
          </a:p>
          <a:p>
            <a:endParaRPr lang="en-US" dirty="0"/>
          </a:p>
          <a:p>
            <a:pPr marL="285750" indent="-285750">
              <a:buFont typeface="Arial" panose="020B0604020202020204" pitchFamily="34" charset="0"/>
              <a:buChar char="•"/>
            </a:pPr>
            <a:r>
              <a:rPr lang="en-US" b="1" dirty="0"/>
              <a:t>Keep it simple. Only mention the information that’s relevant.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Focus on concrete facts rather than your subjective opinions.</a:t>
            </a:r>
          </a:p>
          <a:p>
            <a:r>
              <a:rPr lang="en-US" dirty="0"/>
              <a:t>      “Anyone can argue with someone’s opinion, but facts are indisputable”.</a:t>
            </a:r>
          </a:p>
          <a:p>
            <a:endParaRPr lang="en-US" dirty="0"/>
          </a:p>
          <a:p>
            <a:pPr marL="285750" indent="-285750">
              <a:buFont typeface="Arial" panose="020B0604020202020204" pitchFamily="34" charset="0"/>
              <a:buChar char="•"/>
            </a:pPr>
            <a:r>
              <a:rPr lang="en-US" b="1" dirty="0"/>
              <a:t>Utilize any forensics notes you’ve made during the investigation itself</a:t>
            </a:r>
          </a:p>
          <a:p>
            <a:r>
              <a:rPr lang="en-US" dirty="0"/>
              <a:t>      “Can add value and enrich the section where you talk about the stages of the investigation and how you came to your conclusions”.</a:t>
            </a:r>
          </a:p>
          <a:p>
            <a:endParaRPr lang="en-US" dirty="0"/>
          </a:p>
          <a:p>
            <a:pPr marL="285750" indent="-285750">
              <a:buFont typeface="Arial" panose="020B0604020202020204" pitchFamily="34" charset="0"/>
              <a:buChar char="•"/>
            </a:pPr>
            <a:r>
              <a:rPr lang="en-US" b="1" dirty="0"/>
              <a:t>Avoid using complex terms and focus on conveying the relevant information in a manner that is coherent and simple to understand.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Be familiar with multidisciplinary areas as investigation reports can be an amalgamation of all.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The report should have professional appearances.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They are the property of the court so should be kept confidential.</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Report could be short, long or comprehensive.</a:t>
            </a:r>
            <a:endParaRPr lang="en-IN" b="1" dirty="0"/>
          </a:p>
        </p:txBody>
      </p:sp>
    </p:spTree>
    <p:extLst>
      <p:ext uri="{BB962C8B-B14F-4D97-AF65-F5344CB8AC3E}">
        <p14:creationId xmlns:p14="http://schemas.microsoft.com/office/powerpoint/2010/main" val="209638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653F4B-7857-C94D-24BB-33F0D1F0997E}"/>
              </a:ext>
            </a:extLst>
          </p:cNvPr>
          <p:cNvSpPr txBox="1"/>
          <p:nvPr/>
        </p:nvSpPr>
        <p:spPr>
          <a:xfrm>
            <a:off x="0" y="0"/>
            <a:ext cx="12192000" cy="5539978"/>
          </a:xfrm>
          <a:prstGeom prst="rect">
            <a:avLst/>
          </a:prstGeom>
          <a:noFill/>
        </p:spPr>
        <p:txBody>
          <a:bodyPr wrap="square" rtlCol="0">
            <a:spAutoFit/>
          </a:bodyPr>
          <a:lstStyle/>
          <a:p>
            <a:r>
              <a:rPr lang="en-IN" dirty="0"/>
              <a:t>Continued………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Answer specific questions.</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Legal standards that define the forensic purpose of evaluation should be clearly stated.</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Do mention the list of sources of data for the evaluation.</a:t>
            </a:r>
          </a:p>
          <a:p>
            <a:pPr marL="285750" indent="-285750">
              <a:buFont typeface="Arial" panose="020B0604020202020204" pitchFamily="34" charset="0"/>
              <a:buChar char="•"/>
            </a:pPr>
            <a:endParaRPr lang="en-IN" dirty="0"/>
          </a:p>
          <a:p>
            <a:endParaRPr lang="en-IN" dirty="0"/>
          </a:p>
          <a:p>
            <a:r>
              <a:rPr lang="en-IN" sz="2400" dirty="0">
                <a:solidFill>
                  <a:srgbClr val="0070C0"/>
                </a:solidFill>
              </a:rPr>
              <a:t>Organization and style </a:t>
            </a:r>
          </a:p>
          <a:p>
            <a:endParaRPr lang="en-IN" sz="2400" dirty="0">
              <a:solidFill>
                <a:srgbClr val="0070C0"/>
              </a:solidFill>
            </a:endParaRPr>
          </a:p>
          <a:p>
            <a:pPr marL="285750" indent="-285750">
              <a:buFont typeface="Arial" panose="020B0604020202020204" pitchFamily="34" charset="0"/>
              <a:buChar char="•"/>
            </a:pPr>
            <a:r>
              <a:rPr lang="en-IN" dirty="0">
                <a:solidFill>
                  <a:srgbClr val="0070C0"/>
                </a:solidFill>
              </a:rPr>
              <a:t> </a:t>
            </a:r>
            <a:r>
              <a:rPr lang="en-IN" dirty="0"/>
              <a:t>The report should assist the reader.</a:t>
            </a:r>
          </a:p>
          <a:p>
            <a:endParaRPr lang="en-IN" dirty="0"/>
          </a:p>
          <a:p>
            <a:pPr marL="285750" indent="-285750">
              <a:buFont typeface="Arial" panose="020B0604020202020204" pitchFamily="34" charset="0"/>
              <a:buChar char="•"/>
            </a:pPr>
            <a:r>
              <a:rPr lang="en-IN" dirty="0"/>
              <a:t>In the Report data should be mentioned in the database section and inferences should be in different sections.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It should be written in a professional manner but in simple language.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It should be free from typographical errors.</a:t>
            </a:r>
          </a:p>
          <a:p>
            <a:endParaRPr lang="en-IN" dirty="0"/>
          </a:p>
        </p:txBody>
      </p:sp>
    </p:spTree>
    <p:extLst>
      <p:ext uri="{BB962C8B-B14F-4D97-AF65-F5344CB8AC3E}">
        <p14:creationId xmlns:p14="http://schemas.microsoft.com/office/powerpoint/2010/main" val="2179363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54E6FE-F59E-30F6-3FF0-8540A2E5DFFE}"/>
              </a:ext>
            </a:extLst>
          </p:cNvPr>
          <p:cNvSpPr txBox="1"/>
          <p:nvPr/>
        </p:nvSpPr>
        <p:spPr>
          <a:xfrm>
            <a:off x="0" y="0"/>
            <a:ext cx="12192000"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solidFill>
                  <a:srgbClr val="0070C0"/>
                </a:solidFill>
              </a:rPr>
              <a:t>Study Some Generic and Recommended Forensic Report Examples before Writing</a:t>
            </a:r>
            <a:endParaRPr lang="en-IN" sz="2400" b="1" dirty="0">
              <a:solidFill>
                <a:srgbClr val="0070C0"/>
              </a:solidFill>
            </a:endParaRPr>
          </a:p>
        </p:txBody>
      </p:sp>
      <p:sp>
        <p:nvSpPr>
          <p:cNvPr id="5" name="TextBox 4">
            <a:extLst>
              <a:ext uri="{FF2B5EF4-FFF2-40B4-BE49-F238E27FC236}">
                <a16:creationId xmlns:a16="http://schemas.microsoft.com/office/drawing/2014/main" id="{67A0EDBD-64BE-8B5C-CA40-58BB4ED8ED77}"/>
              </a:ext>
            </a:extLst>
          </p:cNvPr>
          <p:cNvSpPr txBox="1"/>
          <p:nvPr/>
        </p:nvSpPr>
        <p:spPr>
          <a:xfrm>
            <a:off x="0" y="1066760"/>
            <a:ext cx="12192000" cy="1846659"/>
          </a:xfrm>
          <a:prstGeom prst="rect">
            <a:avLst/>
          </a:prstGeom>
          <a:noFill/>
        </p:spPr>
        <p:txBody>
          <a:bodyPr wrap="square">
            <a:spAutoFit/>
          </a:bodyPr>
          <a:lstStyle/>
          <a:p>
            <a:r>
              <a:rPr lang="en-US" dirty="0"/>
              <a:t>Studying a computer forensic evidence report example written by others will not only get your creativity flowing, let you in on some ideas about what to include in your report, and give you a good overall image of what the finalized version is supposed to look like.</a:t>
            </a:r>
          </a:p>
          <a:p>
            <a:endParaRPr lang="en-US" dirty="0"/>
          </a:p>
          <a:p>
            <a:endParaRPr lang="en-US" dirty="0"/>
          </a:p>
          <a:p>
            <a:pPr algn="ctr"/>
            <a:r>
              <a:rPr lang="en-US" sz="2400" b="1" dirty="0"/>
              <a:t>“Read before you write”</a:t>
            </a:r>
            <a:endParaRPr lang="en-IN" sz="2400" b="1" dirty="0"/>
          </a:p>
        </p:txBody>
      </p:sp>
    </p:spTree>
    <p:extLst>
      <p:ext uri="{BB962C8B-B14F-4D97-AF65-F5344CB8AC3E}">
        <p14:creationId xmlns:p14="http://schemas.microsoft.com/office/powerpoint/2010/main" val="3075126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384E7E-A26B-F09B-AB00-2945C7B28F00}"/>
              </a:ext>
            </a:extLst>
          </p:cNvPr>
          <p:cNvSpPr txBox="1"/>
          <p:nvPr/>
        </p:nvSpPr>
        <p:spPr>
          <a:xfrm>
            <a:off x="1" y="0"/>
            <a:ext cx="12191999"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solidFill>
                  <a:srgbClr val="0070C0"/>
                </a:solidFill>
              </a:rPr>
              <a:t>Write the Forensics Report</a:t>
            </a:r>
            <a:endParaRPr lang="en-IN" sz="2400" b="1" dirty="0">
              <a:solidFill>
                <a:srgbClr val="0070C0"/>
              </a:solidFill>
            </a:endParaRPr>
          </a:p>
        </p:txBody>
      </p:sp>
      <p:sp>
        <p:nvSpPr>
          <p:cNvPr id="5" name="TextBox 4">
            <a:extLst>
              <a:ext uri="{FF2B5EF4-FFF2-40B4-BE49-F238E27FC236}">
                <a16:creationId xmlns:a16="http://schemas.microsoft.com/office/drawing/2014/main" id="{E552B167-B3C1-B821-6370-FCA02B096390}"/>
              </a:ext>
            </a:extLst>
          </p:cNvPr>
          <p:cNvSpPr txBox="1"/>
          <p:nvPr/>
        </p:nvSpPr>
        <p:spPr>
          <a:xfrm>
            <a:off x="1" y="592178"/>
            <a:ext cx="12191999" cy="6186309"/>
          </a:xfrm>
          <a:prstGeom prst="rect">
            <a:avLst/>
          </a:prstGeom>
          <a:noFill/>
        </p:spPr>
        <p:txBody>
          <a:bodyPr wrap="square">
            <a:spAutoFit/>
          </a:bodyPr>
          <a:lstStyle/>
          <a:p>
            <a:r>
              <a:rPr lang="en-US" b="1" dirty="0"/>
              <a:t>a) Title</a:t>
            </a:r>
          </a:p>
          <a:p>
            <a:r>
              <a:rPr lang="en-US" dirty="0">
                <a:solidFill>
                  <a:srgbClr val="00B0F0"/>
                </a:solidFill>
              </a:rPr>
              <a:t>Please include the name of the case, the investigator in charge, and the relevant dates.</a:t>
            </a:r>
          </a:p>
          <a:p>
            <a:r>
              <a:rPr lang="en-US" b="1" dirty="0"/>
              <a:t>b) Table of contents</a:t>
            </a:r>
          </a:p>
          <a:p>
            <a:r>
              <a:rPr lang="en-US" b="1" dirty="0"/>
              <a:t>c) Case summary</a:t>
            </a:r>
          </a:p>
          <a:p>
            <a:r>
              <a:rPr lang="en-US" dirty="0">
                <a:solidFill>
                  <a:srgbClr val="00B0F0"/>
                </a:solidFill>
              </a:rPr>
              <a:t>This section should provide a general overview of the case.</a:t>
            </a:r>
          </a:p>
          <a:p>
            <a:r>
              <a:rPr lang="en-US" b="1" dirty="0"/>
              <a:t>d) Evidence</a:t>
            </a:r>
          </a:p>
          <a:p>
            <a:r>
              <a:rPr lang="en-US" dirty="0">
                <a:solidFill>
                  <a:srgbClr val="00B0F0"/>
                </a:solidFill>
              </a:rPr>
              <a:t>The summary of the evidence submitted comes first. After that, list one after another and include photos if needed, besides, make sure to provide an explanation for each.</a:t>
            </a:r>
          </a:p>
          <a:p>
            <a:r>
              <a:rPr lang="en-US" b="1" dirty="0"/>
              <a:t>e) Objectives</a:t>
            </a:r>
          </a:p>
          <a:p>
            <a:r>
              <a:rPr lang="en-US" dirty="0">
                <a:solidFill>
                  <a:srgbClr val="00B0F0"/>
                </a:solidFill>
              </a:rPr>
              <a:t>In essence, the objectives section should attempt to answer the question of what you’re trying to prove. Include your hypothesis and any relevant search terms.</a:t>
            </a:r>
          </a:p>
          <a:p>
            <a:r>
              <a:rPr lang="en-US" b="1" dirty="0"/>
              <a:t>f) Steps were taken during an investigation</a:t>
            </a:r>
            <a:r>
              <a:rPr lang="en-US" dirty="0"/>
              <a:t> (aka. Forensic Analysis).</a:t>
            </a:r>
          </a:p>
          <a:p>
            <a:r>
              <a:rPr lang="en-US" dirty="0">
                <a:solidFill>
                  <a:srgbClr val="00B0F0"/>
                </a:solidFill>
              </a:rPr>
              <a:t>Should outline the steps taken during the investigation, including the methodology used and any interactable parts of the process. Also, mention additional explanations.</a:t>
            </a:r>
          </a:p>
          <a:p>
            <a:r>
              <a:rPr lang="en-US" sz="1800" b="1" dirty="0"/>
              <a:t>g) Tools used. </a:t>
            </a:r>
          </a:p>
          <a:p>
            <a:r>
              <a:rPr lang="en-US" sz="1800" dirty="0">
                <a:solidFill>
                  <a:srgbClr val="00B0F0"/>
                </a:solidFill>
              </a:rPr>
              <a:t>Outline the   used briefly and explain what purpose each of them served, including any limitations of said tools.</a:t>
            </a:r>
          </a:p>
          <a:p>
            <a:r>
              <a:rPr lang="en-US" sz="1800" b="1" dirty="0"/>
              <a:t>h) Relevant findings</a:t>
            </a:r>
          </a:p>
          <a:p>
            <a:r>
              <a:rPr lang="en-US" sz="1800" dirty="0">
                <a:solidFill>
                  <a:srgbClr val="00B0F0"/>
                </a:solidFill>
              </a:rPr>
              <a:t>Only mention the most important conclusions. This is where you explain each piece of evidence and clearly pinpoint what it proves in a way that even non-industry professionals can understand.</a:t>
            </a:r>
          </a:p>
          <a:p>
            <a:r>
              <a:rPr lang="en-US" sz="1800" b="1" dirty="0" err="1"/>
              <a:t>i</a:t>
            </a:r>
            <a:r>
              <a:rPr lang="en-US" sz="1800" b="1" dirty="0"/>
              <a:t>) Recommended next steps</a:t>
            </a:r>
          </a:p>
          <a:p>
            <a:r>
              <a:rPr lang="en-US" sz="1800" dirty="0">
                <a:solidFill>
                  <a:srgbClr val="00B0F0"/>
                </a:solidFill>
              </a:rPr>
              <a:t>In it, suggest what the council can do with these findings and how to go from here.</a:t>
            </a:r>
          </a:p>
          <a:p>
            <a:r>
              <a:rPr lang="en-US" sz="1800" dirty="0">
                <a:solidFill>
                  <a:srgbClr val="00B0F0"/>
                </a:solidFill>
              </a:rPr>
              <a:t>Should criminal charges be filed?</a:t>
            </a:r>
          </a:p>
        </p:txBody>
      </p:sp>
    </p:spTree>
    <p:extLst>
      <p:ext uri="{BB962C8B-B14F-4D97-AF65-F5344CB8AC3E}">
        <p14:creationId xmlns:p14="http://schemas.microsoft.com/office/powerpoint/2010/main" val="3589241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BF5DAE-AA11-A5E5-FD44-7BAAA2952C9A}"/>
              </a:ext>
            </a:extLst>
          </p:cNvPr>
          <p:cNvSpPr txBox="1"/>
          <p:nvPr/>
        </p:nvSpPr>
        <p:spPr>
          <a:xfrm>
            <a:off x="0" y="0"/>
            <a:ext cx="12192000" cy="4801314"/>
          </a:xfrm>
          <a:prstGeom prst="rect">
            <a:avLst/>
          </a:prstGeom>
          <a:noFill/>
        </p:spPr>
        <p:txBody>
          <a:bodyPr wrap="square">
            <a:spAutoFit/>
          </a:bodyPr>
          <a:lstStyle/>
          <a:p>
            <a:r>
              <a:rPr lang="en-US" b="1" dirty="0"/>
              <a:t>Continued……</a:t>
            </a:r>
          </a:p>
          <a:p>
            <a:endParaRPr lang="en-US" b="1" dirty="0"/>
          </a:p>
          <a:p>
            <a:r>
              <a:rPr lang="en-US" b="1" dirty="0"/>
              <a:t>j) Appendices (optional)</a:t>
            </a:r>
          </a:p>
          <a:p>
            <a:endParaRPr lang="en-US" b="1" dirty="0"/>
          </a:p>
          <a:p>
            <a:r>
              <a:rPr lang="en-US" b="1" dirty="0"/>
              <a:t>k) Formatting (optional)</a:t>
            </a:r>
          </a:p>
          <a:p>
            <a:r>
              <a:rPr lang="en-US" dirty="0">
                <a:solidFill>
                  <a:srgbClr val="00B0F0"/>
                </a:solidFill>
              </a:rPr>
              <a:t>This is mainly for the sake of the document having a professional appearance. For e.g.- having each page marked with a number makes it easy to detect if someone tried to tamper with the report by removing a page (or if one of them accidentally goes missing). Make sure the logo of your law enforcement organization is clearly visible in the header and footer of each page, as well as the corresponding address and the person in charge.</a:t>
            </a:r>
          </a:p>
          <a:p>
            <a:endParaRPr lang="en-US" dirty="0">
              <a:solidFill>
                <a:srgbClr val="00B0F0"/>
              </a:solidFill>
            </a:endParaRPr>
          </a:p>
          <a:p>
            <a:r>
              <a:rPr lang="en-US" b="1" dirty="0"/>
              <a:t>l) Figures (optional) but always better</a:t>
            </a:r>
          </a:p>
          <a:p>
            <a:r>
              <a:rPr lang="en-US" dirty="0">
                <a:solidFill>
                  <a:srgbClr val="00B0F0"/>
                </a:solidFill>
              </a:rPr>
              <a:t>It is always good to supplement the result with relevant data or figures with proper descriptions.</a:t>
            </a:r>
          </a:p>
          <a:p>
            <a:endParaRPr lang="en-US" dirty="0"/>
          </a:p>
          <a:p>
            <a:r>
              <a:rPr lang="en-US" b="1" dirty="0"/>
              <a:t>m) Glossary (optional)</a:t>
            </a:r>
          </a:p>
          <a:p>
            <a:r>
              <a:rPr lang="en-US" dirty="0">
                <a:solidFill>
                  <a:srgbClr val="00B0F0"/>
                </a:solidFill>
              </a:rPr>
              <a:t>It is good to provide a catalog of some technical or industry-specific terms, although the best practice is to avoid them in general or at least keep them to a minimum to help non-industry professionals understand the complex terms. </a:t>
            </a:r>
          </a:p>
          <a:p>
            <a:r>
              <a:rPr lang="en-US" dirty="0"/>
              <a:t>*Make sure to include only those that you actually referenced during writing.</a:t>
            </a:r>
          </a:p>
        </p:txBody>
      </p:sp>
    </p:spTree>
    <p:extLst>
      <p:ext uri="{BB962C8B-B14F-4D97-AF65-F5344CB8AC3E}">
        <p14:creationId xmlns:p14="http://schemas.microsoft.com/office/powerpoint/2010/main" val="1139821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5562C8-9331-C75B-9905-1BB84EDAF049}"/>
              </a:ext>
            </a:extLst>
          </p:cNvPr>
          <p:cNvSpPr txBox="1"/>
          <p:nvPr/>
        </p:nvSpPr>
        <p:spPr>
          <a:xfrm>
            <a:off x="0" y="-2511"/>
            <a:ext cx="12192000" cy="6894195"/>
          </a:xfrm>
          <a:prstGeom prst="rect">
            <a:avLst/>
          </a:prstGeom>
          <a:noFill/>
        </p:spPr>
        <p:txBody>
          <a:bodyPr wrap="square">
            <a:spAutoFit/>
          </a:bodyPr>
          <a:lstStyle/>
          <a:p>
            <a:endParaRPr lang="en-US" dirty="0"/>
          </a:p>
          <a:p>
            <a:pPr marL="285750" indent="-285750">
              <a:buFont typeface="Arial" panose="020B0604020202020204" pitchFamily="34" charset="0"/>
              <a:buChar char="•"/>
            </a:pPr>
            <a:r>
              <a:rPr lang="en-US" b="1" dirty="0"/>
              <a:t>Title of the Examination Report- </a:t>
            </a:r>
          </a:p>
          <a:p>
            <a:r>
              <a:rPr lang="en-US" sz="1600" dirty="0"/>
              <a:t>It means whether it is toxicological/handwriting opinion/ballistics etc. with proper legal section of the evidence act of that particular country or region.</a:t>
            </a:r>
          </a:p>
          <a:p>
            <a:pPr marL="285750" indent="-285750">
              <a:buFont typeface="Arial" panose="020B0604020202020204" pitchFamily="34" charset="0"/>
              <a:buChar char="•"/>
            </a:pPr>
            <a:r>
              <a:rPr lang="en-US" b="1" dirty="0"/>
              <a:t>Name and address of the laboratory with contact information like telephone, mobile, fax, email.</a:t>
            </a:r>
          </a:p>
          <a:p>
            <a:pPr marL="285750" indent="-285750">
              <a:buFont typeface="Arial" panose="020B0604020202020204" pitchFamily="34" charset="0"/>
              <a:buChar char="•"/>
            </a:pPr>
            <a:r>
              <a:rPr lang="en-US" b="1" dirty="0"/>
              <a:t>Affiliation of the laboratory </a:t>
            </a:r>
          </a:p>
          <a:p>
            <a:r>
              <a:rPr lang="en-US" sz="1600" dirty="0"/>
              <a:t>(showing its legal entity and accreditation status. In case you are a freelancer, your all credentials with your expertise and experience must be mentioned on the letterhead of the report or at the end of the report.)</a:t>
            </a:r>
          </a:p>
          <a:p>
            <a:pPr marL="285750" indent="-285750">
              <a:buFont typeface="Arial" panose="020B0604020202020204" pitchFamily="34" charset="0"/>
              <a:buChar char="•"/>
            </a:pPr>
            <a:r>
              <a:rPr lang="en-US" b="1" dirty="0"/>
              <a:t>Unique ID No. of the report with date (if applicable)</a:t>
            </a:r>
          </a:p>
          <a:p>
            <a:pPr marL="285750" indent="-285750">
              <a:buFont typeface="Arial" panose="020B0604020202020204" pitchFamily="34" charset="0"/>
              <a:buChar char="•"/>
            </a:pPr>
            <a:r>
              <a:rPr lang="en-US" b="1" dirty="0"/>
              <a:t>Name of the customer (client/attorney/individual) with reference letter  number and date (assignment letter)</a:t>
            </a:r>
          </a:p>
          <a:p>
            <a:pPr marL="285750" indent="-285750">
              <a:buFont typeface="Arial" panose="020B0604020202020204" pitchFamily="34" charset="0"/>
              <a:buChar char="•"/>
            </a:pPr>
            <a:r>
              <a:rPr lang="en-US" b="1" dirty="0"/>
              <a:t>Case Enquiry/ DD/ FIR no. ………date ………….u/s……….Police Station, under which court (if applicable)</a:t>
            </a:r>
          </a:p>
          <a:p>
            <a:pPr marL="285750" indent="-285750">
              <a:buFont typeface="Arial" panose="020B0604020202020204" pitchFamily="34" charset="0"/>
              <a:buChar char="•"/>
            </a:pPr>
            <a:r>
              <a:rPr lang="en-US" b="1" dirty="0"/>
              <a:t>Mode of receipt of material (evidences/specimens): </a:t>
            </a:r>
          </a:p>
          <a:p>
            <a:r>
              <a:rPr lang="en-US" dirty="0"/>
              <a:t>Through messenger or by post / by  mail</a:t>
            </a:r>
          </a:p>
          <a:p>
            <a:pPr marL="285750" indent="-285750">
              <a:buFont typeface="Arial" panose="020B0604020202020204" pitchFamily="34" charset="0"/>
              <a:buChar char="•"/>
            </a:pPr>
            <a:r>
              <a:rPr lang="en-US" b="1" dirty="0"/>
              <a:t>Sampling Method-</a:t>
            </a:r>
          </a:p>
          <a:p>
            <a:r>
              <a:rPr lang="en-US" b="1" dirty="0"/>
              <a:t> </a:t>
            </a:r>
            <a:r>
              <a:rPr lang="en-US" dirty="0"/>
              <a:t>How the sampling done by the IO/ Investigator/ Forensic Expert</a:t>
            </a:r>
          </a:p>
          <a:p>
            <a:pPr marL="285750" indent="-285750">
              <a:buFont typeface="Arial" panose="020B0604020202020204" pitchFamily="34" charset="0"/>
              <a:buChar char="•"/>
            </a:pPr>
            <a:r>
              <a:rPr lang="en-US" b="1" dirty="0"/>
              <a:t>Reference to the Test Method(s)</a:t>
            </a:r>
            <a:r>
              <a:rPr lang="en-US" dirty="0"/>
              <a:t> </a:t>
            </a:r>
          </a:p>
          <a:p>
            <a:r>
              <a:rPr lang="en-US" dirty="0"/>
              <a:t>Reference to lab procedure manual/ books/published standard method- used in the examination, or sometimes to the previous cases solved or convicted.</a:t>
            </a:r>
          </a:p>
          <a:p>
            <a:pPr marL="285750" indent="-285750">
              <a:buFont typeface="Arial" panose="020B0604020202020204" pitchFamily="34" charset="0"/>
              <a:buChar char="•"/>
            </a:pPr>
            <a:r>
              <a:rPr lang="en-US" b="1" dirty="0"/>
              <a:t>Condition of Parcels/Test samples and seals</a:t>
            </a:r>
          </a:p>
          <a:p>
            <a:r>
              <a:rPr lang="en-US" dirty="0"/>
              <a:t>Received. One sealed/ unsealed ..parcel. The seals were intact and tallied with the specimen seal as per the forwarding authority letter.</a:t>
            </a:r>
          </a:p>
          <a:p>
            <a:pPr marL="285750" indent="-285750">
              <a:buFont typeface="Arial" panose="020B0604020202020204" pitchFamily="34" charset="0"/>
              <a:buChar char="•"/>
            </a:pPr>
            <a:r>
              <a:rPr lang="en-US" b="1" dirty="0"/>
              <a:t>Description of Specimens/Parcels/Samples/Exhibits etc.</a:t>
            </a:r>
          </a:p>
          <a:p>
            <a:pPr marL="285750" indent="-285750">
              <a:buFont typeface="Arial" panose="020B0604020202020204" pitchFamily="34" charset="0"/>
              <a:buChar char="•"/>
            </a:pPr>
            <a:r>
              <a:rPr lang="en-US" b="1" dirty="0"/>
              <a:t>Methodology of Examination</a:t>
            </a:r>
          </a:p>
          <a:p>
            <a:pPr marL="285750" indent="-285750">
              <a:buFont typeface="Arial" panose="020B0604020202020204" pitchFamily="34" charset="0"/>
              <a:buChar char="•"/>
            </a:pPr>
            <a:r>
              <a:rPr lang="en-US" b="1" dirty="0"/>
              <a:t>Result of Examination &amp; Opinion</a:t>
            </a:r>
          </a:p>
          <a:p>
            <a:pPr marL="285750" indent="-285750">
              <a:buFont typeface="Arial" panose="020B0604020202020204" pitchFamily="34" charset="0"/>
              <a:buChar char="•"/>
            </a:pPr>
            <a:r>
              <a:rPr lang="en-US" b="1" dirty="0"/>
              <a:t>Signature or examining officer along with seal</a:t>
            </a:r>
            <a:endParaRPr lang="en-IN" b="1" dirty="0"/>
          </a:p>
        </p:txBody>
      </p:sp>
      <p:sp>
        <p:nvSpPr>
          <p:cNvPr id="4" name="TextBox 3">
            <a:extLst>
              <a:ext uri="{FF2B5EF4-FFF2-40B4-BE49-F238E27FC236}">
                <a16:creationId xmlns:a16="http://schemas.microsoft.com/office/drawing/2014/main" id="{2A21D00E-985F-61E0-55F7-70DFC7DEC369}"/>
              </a:ext>
            </a:extLst>
          </p:cNvPr>
          <p:cNvSpPr txBox="1"/>
          <p:nvPr/>
        </p:nvSpPr>
        <p:spPr>
          <a:xfrm>
            <a:off x="0" y="-2511"/>
            <a:ext cx="12192000" cy="461665"/>
          </a:xfrm>
          <a:prstGeom prst="rect">
            <a:avLst/>
          </a:prstGeom>
          <a:noFill/>
        </p:spPr>
        <p:txBody>
          <a:bodyPr wrap="square">
            <a:spAutoFit/>
          </a:bodyPr>
          <a:lstStyle/>
          <a:p>
            <a:pPr algn="ctr"/>
            <a:r>
              <a:rPr lang="en-US" sz="2400" b="1" dirty="0">
                <a:solidFill>
                  <a:srgbClr val="0070C0"/>
                </a:solidFill>
              </a:rPr>
              <a:t>General Structure of a Forensic Report-1</a:t>
            </a:r>
          </a:p>
        </p:txBody>
      </p:sp>
    </p:spTree>
    <p:extLst>
      <p:ext uri="{BB962C8B-B14F-4D97-AF65-F5344CB8AC3E}">
        <p14:creationId xmlns:p14="http://schemas.microsoft.com/office/powerpoint/2010/main" val="3099884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4A8010-9829-644B-85FD-CF30D12683E9}"/>
              </a:ext>
            </a:extLst>
          </p:cNvPr>
          <p:cNvSpPr txBox="1"/>
          <p:nvPr/>
        </p:nvSpPr>
        <p:spPr>
          <a:xfrm>
            <a:off x="0" y="337827"/>
            <a:ext cx="12191999" cy="6494085"/>
          </a:xfrm>
          <a:prstGeom prst="rect">
            <a:avLst/>
          </a:prstGeom>
          <a:noFill/>
        </p:spPr>
        <p:txBody>
          <a:bodyPr wrap="square" rtlCol="0">
            <a:spAutoFit/>
          </a:bodyPr>
          <a:lstStyle/>
          <a:p>
            <a:pPr marL="285750" indent="-285750">
              <a:buFont typeface="Arial" panose="020B0604020202020204" pitchFamily="34" charset="0"/>
              <a:buChar char="•"/>
            </a:pPr>
            <a:r>
              <a:rPr lang="en-IN" b="1" dirty="0"/>
              <a:t>Introduction</a:t>
            </a:r>
            <a:r>
              <a:rPr lang="en-IN" dirty="0"/>
              <a:t> – </a:t>
            </a:r>
          </a:p>
          <a:p>
            <a:r>
              <a:rPr lang="en-IN" sz="1600" dirty="0"/>
              <a:t>The introduction typically includes information about the referring part and the purpose of the evaluation, identifying information about the subject, and the general procedures used. Like-</a:t>
            </a:r>
          </a:p>
          <a:p>
            <a:pPr marL="536575" indent="-179388">
              <a:buFont typeface="Courier New" panose="02070309020205020404" pitchFamily="49" charset="0"/>
              <a:buChar char="o"/>
            </a:pPr>
            <a:r>
              <a:rPr lang="en-IN" sz="1600" dirty="0"/>
              <a:t>The case name, </a:t>
            </a:r>
          </a:p>
          <a:p>
            <a:pPr marL="536575" indent="-179388">
              <a:buFont typeface="Courier New" panose="02070309020205020404" pitchFamily="49" charset="0"/>
              <a:buChar char="o"/>
            </a:pPr>
            <a:r>
              <a:rPr lang="en-IN" sz="1600" dirty="0"/>
              <a:t>Date,</a:t>
            </a:r>
          </a:p>
          <a:p>
            <a:pPr marL="536575" indent="-179388">
              <a:buFont typeface="Courier New" panose="02070309020205020404" pitchFamily="49" charset="0"/>
              <a:buChar char="o"/>
            </a:pPr>
            <a:r>
              <a:rPr lang="en-IN" sz="1600" dirty="0"/>
              <a:t>Examinee Name</a:t>
            </a:r>
          </a:p>
          <a:p>
            <a:pPr marL="536575" indent="-179388">
              <a:buFont typeface="Courier New" panose="02070309020205020404" pitchFamily="49" charset="0"/>
              <a:buChar char="o"/>
            </a:pPr>
            <a:r>
              <a:rPr lang="en-IN" sz="1600" dirty="0"/>
              <a:t>Examiner’s Name with degree</a:t>
            </a:r>
          </a:p>
          <a:p>
            <a:pPr marL="536575" indent="-179388">
              <a:buFont typeface="Courier New" panose="02070309020205020404" pitchFamily="49" charset="0"/>
              <a:buChar char="o"/>
            </a:pPr>
            <a:r>
              <a:rPr lang="en-IN" sz="1600" dirty="0"/>
              <a:t>License number</a:t>
            </a:r>
          </a:p>
          <a:p>
            <a:pPr marL="536575" indent="-179388">
              <a:buFont typeface="Courier New" panose="02070309020205020404" pitchFamily="49" charset="0"/>
              <a:buChar char="o"/>
            </a:pPr>
            <a:r>
              <a:rPr lang="en-IN" sz="1600" dirty="0"/>
              <a:t>Contact information.</a:t>
            </a:r>
            <a:endParaRPr lang="en-IN" dirty="0"/>
          </a:p>
          <a:p>
            <a:pPr marL="285750" indent="-285750">
              <a:buFont typeface="Arial" panose="020B0604020202020204" pitchFamily="34" charset="0"/>
              <a:buChar char="•"/>
            </a:pPr>
            <a:r>
              <a:rPr lang="en-IN" b="1" dirty="0"/>
              <a:t>Summery of the report</a:t>
            </a:r>
            <a:r>
              <a:rPr lang="en-IN" dirty="0"/>
              <a:t>-</a:t>
            </a:r>
          </a:p>
          <a:p>
            <a:r>
              <a:rPr lang="en-IN" sz="1600" dirty="0"/>
              <a:t>Especially important for long reports, this allows the reader to get the high level view of important findings without having to go for looking on all the pages.</a:t>
            </a:r>
            <a:endParaRPr lang="en-IN" dirty="0"/>
          </a:p>
          <a:p>
            <a:pPr marL="285750" indent="-285750">
              <a:buFont typeface="Arial" panose="020B0604020202020204" pitchFamily="34" charset="0"/>
              <a:buChar char="•"/>
            </a:pPr>
            <a:r>
              <a:rPr lang="en-IN" b="1" dirty="0"/>
              <a:t>Instruments-</a:t>
            </a:r>
            <a:r>
              <a:rPr lang="en-IN" dirty="0"/>
              <a:t> </a:t>
            </a:r>
          </a:p>
          <a:p>
            <a:r>
              <a:rPr lang="en-IN" sz="1600" dirty="0"/>
              <a:t>A list of instruments and the systems used for conducting the tests with the model and version </a:t>
            </a:r>
            <a:r>
              <a:rPr lang="en-IN" sz="1600" dirty="0" err="1"/>
              <a:t>informations</a:t>
            </a:r>
            <a:r>
              <a:rPr lang="en-IN" sz="1600" dirty="0"/>
              <a:t> (for further use if needed).</a:t>
            </a:r>
            <a:endParaRPr lang="en-IN" dirty="0"/>
          </a:p>
          <a:p>
            <a:pPr marL="285750" indent="-285750">
              <a:buFont typeface="Arial" panose="020B0604020202020204" pitchFamily="34" charset="0"/>
              <a:buChar char="•"/>
            </a:pPr>
            <a:r>
              <a:rPr lang="en-IN" b="1" dirty="0"/>
              <a:t>Results-</a:t>
            </a:r>
            <a:r>
              <a:rPr lang="en-IN" dirty="0"/>
              <a:t> </a:t>
            </a:r>
          </a:p>
          <a:p>
            <a:r>
              <a:rPr lang="en-IN" sz="1600" dirty="0"/>
              <a:t>The obtained results should be explained with statical graphs and tables for a better understanding and comparing with normal person. (where needed)</a:t>
            </a:r>
            <a:endParaRPr lang="en-IN" dirty="0"/>
          </a:p>
          <a:p>
            <a:pPr marL="285750" indent="-285750">
              <a:buFont typeface="Arial" panose="020B0604020202020204" pitchFamily="34" charset="0"/>
              <a:buChar char="•"/>
            </a:pPr>
            <a:r>
              <a:rPr lang="en-IN" b="1" dirty="0"/>
              <a:t>Time-</a:t>
            </a:r>
            <a:r>
              <a:rPr lang="en-IN" dirty="0"/>
              <a:t> </a:t>
            </a:r>
            <a:r>
              <a:rPr lang="en-IN" sz="1600" dirty="0"/>
              <a:t>The test was started on ----/--/--- at-----AM/PM and ended on ----/--/--- at-------AM/PM</a:t>
            </a:r>
            <a:endParaRPr lang="en-IN" dirty="0"/>
          </a:p>
          <a:p>
            <a:pPr marL="285750" indent="-285750">
              <a:buFont typeface="Arial" panose="020B0604020202020204" pitchFamily="34" charset="0"/>
              <a:buChar char="•"/>
            </a:pPr>
            <a:r>
              <a:rPr lang="en-IN" b="1" dirty="0"/>
              <a:t>Remarks/Notes- </a:t>
            </a:r>
          </a:p>
          <a:p>
            <a:r>
              <a:rPr lang="en-IN" sz="1600" dirty="0"/>
              <a:t>If any.  Something that can add value to the investigation like the behaviour of the examinee</a:t>
            </a:r>
            <a:endParaRPr lang="en-IN" dirty="0"/>
          </a:p>
          <a:p>
            <a:pPr marL="285750" indent="-285750">
              <a:buFont typeface="Arial" panose="020B0604020202020204" pitchFamily="34" charset="0"/>
              <a:buChar char="•"/>
            </a:pPr>
            <a:r>
              <a:rPr lang="en-IN" b="1" dirty="0"/>
              <a:t>Conclusion</a:t>
            </a:r>
            <a:r>
              <a:rPr lang="en-IN" dirty="0"/>
              <a:t>-</a:t>
            </a:r>
          </a:p>
          <a:p>
            <a:r>
              <a:rPr lang="en-IN" sz="1600" dirty="0"/>
              <a:t>Highlight important issues. Form in a form of numbered list of concise findings.</a:t>
            </a:r>
            <a:endParaRPr lang="en-IN" dirty="0"/>
          </a:p>
          <a:p>
            <a:pPr marL="285750" indent="-285750">
              <a:buFont typeface="Arial" panose="020B0604020202020204" pitchFamily="34" charset="0"/>
              <a:buChar char="•"/>
            </a:pPr>
            <a:r>
              <a:rPr lang="en-IN" b="1" dirty="0"/>
              <a:t>Opinions and </a:t>
            </a:r>
            <a:r>
              <a:rPr lang="en-IN" b="1" dirty="0" err="1"/>
              <a:t>Recommandations</a:t>
            </a:r>
            <a:r>
              <a:rPr lang="en-IN" b="1" dirty="0"/>
              <a:t>- </a:t>
            </a:r>
          </a:p>
          <a:p>
            <a:r>
              <a:rPr lang="en-IN" sz="1600" dirty="0"/>
              <a:t>Start like- “This leads me to believe that----” ; “It is my professional opinion……” ;  “The evidence indicates……”</a:t>
            </a:r>
          </a:p>
          <a:p>
            <a:r>
              <a:rPr lang="en-IN" sz="1600" dirty="0"/>
              <a:t>*opinion regarding mental state should be only written when ordered or requested.</a:t>
            </a:r>
          </a:p>
        </p:txBody>
      </p:sp>
      <p:sp>
        <p:nvSpPr>
          <p:cNvPr id="7" name="TextBox 6">
            <a:extLst>
              <a:ext uri="{FF2B5EF4-FFF2-40B4-BE49-F238E27FC236}">
                <a16:creationId xmlns:a16="http://schemas.microsoft.com/office/drawing/2014/main" id="{C4108843-9A94-9EB3-5BC9-A65E7BC8740E}"/>
              </a:ext>
            </a:extLst>
          </p:cNvPr>
          <p:cNvSpPr txBox="1"/>
          <p:nvPr/>
        </p:nvSpPr>
        <p:spPr>
          <a:xfrm>
            <a:off x="0" y="-2511"/>
            <a:ext cx="12192000" cy="461665"/>
          </a:xfrm>
          <a:prstGeom prst="rect">
            <a:avLst/>
          </a:prstGeom>
          <a:noFill/>
        </p:spPr>
        <p:txBody>
          <a:bodyPr wrap="square">
            <a:spAutoFit/>
          </a:bodyPr>
          <a:lstStyle/>
          <a:p>
            <a:pPr algn="ctr"/>
            <a:r>
              <a:rPr lang="en-US" sz="2400" b="1" dirty="0">
                <a:solidFill>
                  <a:srgbClr val="0070C0"/>
                </a:solidFill>
              </a:rPr>
              <a:t>General Structure of a Forensic Report - 2</a:t>
            </a:r>
          </a:p>
        </p:txBody>
      </p:sp>
    </p:spTree>
    <p:extLst>
      <p:ext uri="{BB962C8B-B14F-4D97-AF65-F5344CB8AC3E}">
        <p14:creationId xmlns:p14="http://schemas.microsoft.com/office/powerpoint/2010/main" val="908748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BFAFFC-A42B-EA8C-F90D-0B8543C5F416}"/>
              </a:ext>
            </a:extLst>
          </p:cNvPr>
          <p:cNvSpPr txBox="1"/>
          <p:nvPr/>
        </p:nvSpPr>
        <p:spPr>
          <a:xfrm>
            <a:off x="0" y="0"/>
            <a:ext cx="12192000"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solidFill>
                  <a:srgbClr val="0070C0"/>
                </a:solidFill>
              </a:rPr>
              <a:t>Re-check Your Report for Factual Correctness and Apply Edits as Needed</a:t>
            </a:r>
          </a:p>
        </p:txBody>
      </p:sp>
      <p:sp>
        <p:nvSpPr>
          <p:cNvPr id="5" name="TextBox 4">
            <a:extLst>
              <a:ext uri="{FF2B5EF4-FFF2-40B4-BE49-F238E27FC236}">
                <a16:creationId xmlns:a16="http://schemas.microsoft.com/office/drawing/2014/main" id="{863DE7FC-CA61-6F6A-8B08-FAADEF1D3681}"/>
              </a:ext>
            </a:extLst>
          </p:cNvPr>
          <p:cNvSpPr txBox="1"/>
          <p:nvPr/>
        </p:nvSpPr>
        <p:spPr>
          <a:xfrm>
            <a:off x="0" y="946454"/>
            <a:ext cx="12192000" cy="3139321"/>
          </a:xfrm>
          <a:prstGeom prst="rect">
            <a:avLst/>
          </a:prstGeom>
          <a:noFill/>
        </p:spPr>
        <p:txBody>
          <a:bodyPr wrap="square">
            <a:spAutoFit/>
          </a:bodyPr>
          <a:lstStyle/>
          <a:p>
            <a:r>
              <a:rPr lang="en-US" dirty="0"/>
              <a:t>It is a mandatory step where you should re-check that everything is in order, and factually correct. </a:t>
            </a:r>
          </a:p>
          <a:p>
            <a:endParaRPr lang="en-US" dirty="0"/>
          </a:p>
          <a:p>
            <a:r>
              <a:rPr lang="en-US" b="1" u="sng" dirty="0"/>
              <a:t>As you refine the final version of the document, you should ask yourself:</a:t>
            </a:r>
          </a:p>
          <a:p>
            <a:endParaRPr lang="en-US" dirty="0"/>
          </a:p>
          <a:p>
            <a:r>
              <a:rPr lang="en-US" dirty="0"/>
              <a:t>Do the numbers check out?</a:t>
            </a:r>
          </a:p>
          <a:p>
            <a:r>
              <a:rPr lang="en-US" dirty="0"/>
              <a:t>Does the report list all crucial pieces of evidence and the people in charge?</a:t>
            </a:r>
          </a:p>
          <a:p>
            <a:r>
              <a:rPr lang="en-US" dirty="0"/>
              <a:t>Is it brief and to the point or do you feel like you could trim out some irrelevant parts?</a:t>
            </a:r>
          </a:p>
          <a:p>
            <a:r>
              <a:rPr lang="en-US" dirty="0"/>
              <a:t>Is it based on facts? If you catch yourself writing ‘I believe X’, perhaps it’s better to word it as ‘the evidence suggests that X happened because of Y’.</a:t>
            </a:r>
          </a:p>
          <a:p>
            <a:r>
              <a:rPr lang="en-US" dirty="0"/>
              <a:t>Could certain sections be explained using layman’s terms instead of using complicated jargon?</a:t>
            </a:r>
          </a:p>
          <a:p>
            <a:r>
              <a:rPr lang="en-US" dirty="0"/>
              <a:t>Once everything checks out and you feel no further improvements can be made, you’re good to proceed to the final step!</a:t>
            </a:r>
            <a:endParaRPr lang="en-IN" dirty="0"/>
          </a:p>
        </p:txBody>
      </p:sp>
    </p:spTree>
    <p:extLst>
      <p:ext uri="{BB962C8B-B14F-4D97-AF65-F5344CB8AC3E}">
        <p14:creationId xmlns:p14="http://schemas.microsoft.com/office/powerpoint/2010/main" val="337138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3D7710-66DD-C9C7-ED5D-CE8B2F649FAD}"/>
              </a:ext>
            </a:extLst>
          </p:cNvPr>
          <p:cNvSpPr txBox="1"/>
          <p:nvPr/>
        </p:nvSpPr>
        <p:spPr>
          <a:xfrm>
            <a:off x="0" y="0"/>
            <a:ext cx="12192000"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solidFill>
                  <a:srgbClr val="0070C0"/>
                </a:solidFill>
              </a:rPr>
              <a:t>Present the Report to the Court</a:t>
            </a:r>
            <a:endParaRPr lang="en-IN" sz="2400" b="1" dirty="0">
              <a:solidFill>
                <a:srgbClr val="0070C0"/>
              </a:solidFill>
            </a:endParaRPr>
          </a:p>
        </p:txBody>
      </p:sp>
      <p:sp>
        <p:nvSpPr>
          <p:cNvPr id="5" name="TextBox 4">
            <a:extLst>
              <a:ext uri="{FF2B5EF4-FFF2-40B4-BE49-F238E27FC236}">
                <a16:creationId xmlns:a16="http://schemas.microsoft.com/office/drawing/2014/main" id="{CBDA7525-EC99-B6EB-8E98-5F830013B8EF}"/>
              </a:ext>
            </a:extLst>
          </p:cNvPr>
          <p:cNvSpPr txBox="1"/>
          <p:nvPr/>
        </p:nvSpPr>
        <p:spPr>
          <a:xfrm>
            <a:off x="1" y="539300"/>
            <a:ext cx="12191999" cy="3693319"/>
          </a:xfrm>
          <a:prstGeom prst="rect">
            <a:avLst/>
          </a:prstGeom>
          <a:noFill/>
        </p:spPr>
        <p:txBody>
          <a:bodyPr wrap="square">
            <a:spAutoFit/>
          </a:bodyPr>
          <a:lstStyle/>
          <a:p>
            <a:r>
              <a:rPr lang="en-US" dirty="0"/>
              <a:t>Once you’ve double-checked everything, you can confidently present the report to the court.</a:t>
            </a:r>
          </a:p>
          <a:p>
            <a:endParaRPr lang="en-US" dirty="0"/>
          </a:p>
          <a:p>
            <a:endParaRPr lang="en-US" dirty="0"/>
          </a:p>
          <a:p>
            <a:r>
              <a:rPr lang="en-US" dirty="0"/>
              <a:t>For your quick glance, please find a brief summary below:</a:t>
            </a:r>
          </a:p>
          <a:p>
            <a:endParaRPr lang="en-US" dirty="0"/>
          </a:p>
          <a:p>
            <a:pPr marL="285750" indent="-285750">
              <a:buFont typeface="Arial" panose="020B0604020202020204" pitchFamily="34" charset="0"/>
              <a:buChar char="•"/>
            </a:pPr>
            <a:r>
              <a:rPr lang="en-US" dirty="0"/>
              <a:t>Secure the evidence.</a:t>
            </a:r>
          </a:p>
          <a:p>
            <a:pPr marL="285750" indent="-285750">
              <a:buFont typeface="Arial" panose="020B0604020202020204" pitchFamily="34" charset="0"/>
              <a:buChar char="•"/>
            </a:pPr>
            <a:r>
              <a:rPr lang="en-US" b="1" u="sng" dirty="0"/>
              <a:t>Make sure to maintain the chain of custody.</a:t>
            </a:r>
          </a:p>
          <a:p>
            <a:pPr marL="285750" indent="-285750">
              <a:buFont typeface="Arial" panose="020B0604020202020204" pitchFamily="34" charset="0"/>
              <a:buChar char="•"/>
            </a:pPr>
            <a:r>
              <a:rPr lang="en-US" dirty="0"/>
              <a:t>Verify that the evidence is authentic.</a:t>
            </a:r>
          </a:p>
          <a:p>
            <a:pPr marL="285750" indent="-285750">
              <a:buFont typeface="Arial" panose="020B0604020202020204" pitchFamily="34" charset="0"/>
              <a:buChar char="•"/>
            </a:pPr>
            <a:r>
              <a:rPr lang="en-US" b="1" u="sng" dirty="0"/>
              <a:t>Sort the evidence according to its relevance.</a:t>
            </a:r>
          </a:p>
          <a:p>
            <a:pPr marL="285750" indent="-285750">
              <a:buFont typeface="Arial" panose="020B0604020202020204" pitchFamily="34" charset="0"/>
              <a:buChar char="•"/>
            </a:pPr>
            <a:r>
              <a:rPr lang="en-US" dirty="0"/>
              <a:t>Convert the files into the right format.</a:t>
            </a:r>
          </a:p>
          <a:p>
            <a:pPr marL="285750" indent="-285750">
              <a:buFont typeface="Arial" panose="020B0604020202020204" pitchFamily="34" charset="0"/>
              <a:buChar char="•"/>
            </a:pPr>
            <a:r>
              <a:rPr lang="en-US" b="1" u="sng" dirty="0"/>
              <a:t>Get acquainted with the presentation procedure.</a:t>
            </a:r>
          </a:p>
          <a:p>
            <a:pPr marL="285750" indent="-285750">
              <a:buFont typeface="Arial" panose="020B0604020202020204" pitchFamily="34" charset="0"/>
              <a:buChar char="•"/>
            </a:pPr>
            <a:r>
              <a:rPr lang="en-US" dirty="0"/>
              <a:t>Label the exhibits.</a:t>
            </a:r>
          </a:p>
          <a:p>
            <a:pPr marL="285750" indent="-285750">
              <a:buFont typeface="Arial" panose="020B0604020202020204" pitchFamily="34" charset="0"/>
              <a:buChar char="•"/>
            </a:pPr>
            <a:r>
              <a:rPr lang="en-US" b="1" u="sng" dirty="0"/>
              <a:t>Complete the final preparations.</a:t>
            </a:r>
            <a:endParaRPr lang="en-IN" b="1" u="sng" dirty="0"/>
          </a:p>
        </p:txBody>
      </p:sp>
    </p:spTree>
    <p:extLst>
      <p:ext uri="{BB962C8B-B14F-4D97-AF65-F5344CB8AC3E}">
        <p14:creationId xmlns:p14="http://schemas.microsoft.com/office/powerpoint/2010/main" val="148993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956</TotalTime>
  <Words>1881</Words>
  <Application>Microsoft Macintosh PowerPoint</Application>
  <PresentationFormat>Widescreen</PresentationFormat>
  <Paragraphs>180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Courier New</vt:lpstr>
      <vt:lpstr>Google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Rakhee Lohia</dc:creator>
  <cp:lastModifiedBy>Rakhee Lohia</cp:lastModifiedBy>
  <cp:revision>11</cp:revision>
  <dcterms:created xsi:type="dcterms:W3CDTF">2023-10-30T07:16:00Z</dcterms:created>
  <dcterms:modified xsi:type="dcterms:W3CDTF">2025-08-25T05:09:56Z</dcterms:modified>
</cp:coreProperties>
</file>