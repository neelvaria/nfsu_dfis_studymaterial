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  <p:embeddedFont>
      <p:font typeface="Courier Prime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Lato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ourierPrime-regular.fntdata"/><Relationship Id="rId25" Type="http://schemas.openxmlformats.org/officeDocument/2006/relationships/font" Target="fonts/Lato-boldItalic.fntdata"/><Relationship Id="rId28" Type="http://schemas.openxmlformats.org/officeDocument/2006/relationships/font" Target="fonts/CourierPrime-italic.fntdata"/><Relationship Id="rId27" Type="http://schemas.openxmlformats.org/officeDocument/2006/relationships/font" Target="fonts/CourierPrim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CourierPrime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22.png"/><Relationship Id="rId6" Type="http://schemas.openxmlformats.org/officeDocument/2006/relationships/image" Target="../media/image13.png"/><Relationship Id="rId7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42.png"/><Relationship Id="rId10" Type="http://schemas.openxmlformats.org/officeDocument/2006/relationships/image" Target="../media/image17.png"/><Relationship Id="rId9" Type="http://schemas.openxmlformats.org/officeDocument/2006/relationships/image" Target="../media/image23.png"/><Relationship Id="rId5" Type="http://schemas.openxmlformats.org/officeDocument/2006/relationships/image" Target="../media/image26.png"/><Relationship Id="rId6" Type="http://schemas.openxmlformats.org/officeDocument/2006/relationships/image" Target="../media/image15.png"/><Relationship Id="rId7" Type="http://schemas.openxmlformats.org/officeDocument/2006/relationships/image" Target="../media/image14.png"/><Relationship Id="rId8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37.png"/><Relationship Id="rId5" Type="http://schemas.openxmlformats.org/officeDocument/2006/relationships/image" Target="../media/image25.png"/><Relationship Id="rId6" Type="http://schemas.openxmlformats.org/officeDocument/2006/relationships/image" Target="../media/image19.png"/><Relationship Id="rId7" Type="http://schemas.openxmlformats.org/officeDocument/2006/relationships/image" Target="../media/image16.png"/><Relationship Id="rId8" Type="http://schemas.openxmlformats.org/officeDocument/2006/relationships/image" Target="../media/image3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28.png"/><Relationship Id="rId5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31.png"/><Relationship Id="rId11" Type="http://schemas.openxmlformats.org/officeDocument/2006/relationships/image" Target="../media/image30.png"/><Relationship Id="rId10" Type="http://schemas.openxmlformats.org/officeDocument/2006/relationships/image" Target="../media/image33.png"/><Relationship Id="rId9" Type="http://schemas.openxmlformats.org/officeDocument/2006/relationships/image" Target="../media/image45.png"/><Relationship Id="rId5" Type="http://schemas.openxmlformats.org/officeDocument/2006/relationships/image" Target="../media/image24.png"/><Relationship Id="rId6" Type="http://schemas.openxmlformats.org/officeDocument/2006/relationships/image" Target="../media/image50.png"/><Relationship Id="rId7" Type="http://schemas.openxmlformats.org/officeDocument/2006/relationships/image" Target="../media/image29.png"/><Relationship Id="rId8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3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22.png"/><Relationship Id="rId6" Type="http://schemas.openxmlformats.org/officeDocument/2006/relationships/image" Target="../media/image35.png"/><Relationship Id="rId7" Type="http://schemas.openxmlformats.org/officeDocument/2006/relationships/image" Target="../media/image4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43.png"/><Relationship Id="rId5" Type="http://schemas.openxmlformats.org/officeDocument/2006/relationships/image" Target="../media/image41.png"/><Relationship Id="rId6" Type="http://schemas.openxmlformats.org/officeDocument/2006/relationships/image" Target="../media/image49.png"/><Relationship Id="rId7" Type="http://schemas.openxmlformats.org/officeDocument/2006/relationships/image" Target="../media/image40.png"/><Relationship Id="rId8" Type="http://schemas.openxmlformats.org/officeDocument/2006/relationships/image" Target="../media/image4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8.png"/><Relationship Id="rId4" Type="http://schemas.openxmlformats.org/officeDocument/2006/relationships/image" Target="../media/image51.png"/><Relationship Id="rId5" Type="http://schemas.openxmlformats.org/officeDocument/2006/relationships/image" Target="../media/image46.png"/><Relationship Id="rId6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7" y="1999357"/>
            <a:ext cx="9001125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Recreating HFS Partitions &amp; Analyzing Unallocated Space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3921323"/>
            <a:ext cx="85725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Advanced Forensic Recovery Techniques for macOS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809750" y="4667994"/>
            <a:ext cx="857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Courier Prime"/>
                <a:ea typeface="Courier Prime"/>
                <a:cs typeface="Courier Prime"/>
                <a:sym typeface="Courier Prime"/>
              </a:rPr>
              <a:t>Presenter: [Your Name/Organization]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52737"/>
            <a:ext cx="331470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38650" y="3005137"/>
            <a:ext cx="3314700" cy="1866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5800" y="2852737"/>
            <a:ext cx="33147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540543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Forensic Note: Legacy HFS volumes are still encountered in historical evidence.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71500" y="3681412"/>
            <a:ext cx="11049000" cy="19050"/>
          </a:xfrm>
          <a:prstGeom prst="roundRect">
            <a:avLst>
              <a:gd fmla="val 16667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76537" y="5472112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/>
          <p:nvPr/>
        </p:nvSpPr>
        <p:spPr>
          <a:xfrm>
            <a:off x="2114550" y="2338387"/>
            <a:ext cx="228600" cy="228600"/>
          </a:xfrm>
          <a:prstGeom prst="roundRect">
            <a:avLst>
              <a:gd fmla="val 16667" name="adj"/>
            </a:avLst>
          </a:prstGeom>
          <a:solidFill>
            <a:srgbClr val="0B11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5981700" y="2490787"/>
            <a:ext cx="228600" cy="228600"/>
          </a:xfrm>
          <a:prstGeom prst="roundRect">
            <a:avLst>
              <a:gd fmla="val 16667" name="adj"/>
            </a:avLst>
          </a:prstGeom>
          <a:solidFill>
            <a:srgbClr val="0B11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9848850" y="2338387"/>
            <a:ext cx="228600" cy="228600"/>
          </a:xfrm>
          <a:prstGeom prst="roundRect">
            <a:avLst>
              <a:gd fmla="val 16667" name="adj"/>
            </a:avLst>
          </a:prstGeom>
          <a:solidFill>
            <a:srgbClr val="0B11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771525" y="3052762"/>
            <a:ext cx="2914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6B6D4"/>
                </a:solidFill>
                <a:latin typeface="Courier Prime"/>
                <a:ea typeface="Courier Prime"/>
                <a:cs typeface="Courier Prime"/>
                <a:sym typeface="Courier Prime"/>
              </a:rPr>
              <a:t>1985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98658" y="3319462"/>
            <a:ext cx="306038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HFS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71525" y="3719512"/>
            <a:ext cx="29146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Hierarchical File System. 16-bit allocation blocks. Limited scalability.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4638675" y="3205162"/>
            <a:ext cx="2914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6B6D4"/>
                </a:solidFill>
                <a:latin typeface="Courier Prime"/>
                <a:ea typeface="Courier Prime"/>
                <a:cs typeface="Courier Prime"/>
                <a:sym typeface="Courier Prime"/>
              </a:rPr>
              <a:t>1998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4565808" y="3471862"/>
            <a:ext cx="306038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HFS+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4638675" y="3871912"/>
            <a:ext cx="29146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Extended. 32-bit allocation, Unicode support, and journaling.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505825" y="3052762"/>
            <a:ext cx="2914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6B6D4"/>
                </a:solidFill>
                <a:latin typeface="Courier Prime"/>
                <a:ea typeface="Courier Prime"/>
                <a:cs typeface="Courier Prime"/>
                <a:sym typeface="Courier Prime"/>
              </a:rPr>
              <a:t>2017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8432958" y="3319462"/>
            <a:ext cx="306038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APFS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505825" y="3719512"/>
            <a:ext cx="29146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Apple File System. 64-bit architecture optimized for flash storage.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6B6D4"/>
                </a:solidFill>
                <a:latin typeface="Roboto"/>
                <a:ea typeface="Roboto"/>
                <a:cs typeface="Roboto"/>
                <a:sym typeface="Roboto"/>
              </a:rPr>
              <a:t>Evolution of Mac File Systems</a:t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571500" y="1181100"/>
            <a:ext cx="11049000" cy="95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76487"/>
            <a:ext cx="5286375" cy="3105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376487"/>
            <a:ext cx="5286375" cy="3105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914400" y="2719387"/>
            <a:ext cx="483060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855F7"/>
                </a:solidFill>
                <a:latin typeface="Roboto"/>
                <a:ea typeface="Roboto"/>
                <a:cs typeface="Roboto"/>
                <a:sym typeface="Roboto"/>
              </a:rPr>
              <a:t>Core Structures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914400" y="3081337"/>
            <a:ext cx="46005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6677025" y="2719387"/>
            <a:ext cx="483060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855F7"/>
                </a:solidFill>
                <a:latin typeface="Roboto"/>
                <a:ea typeface="Roboto"/>
                <a:cs typeface="Roboto"/>
                <a:sym typeface="Roboto"/>
              </a:rPr>
              <a:t>Management Files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6677025" y="3081337"/>
            <a:ext cx="46005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4" name="Google Shape;12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272891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990600" y="33289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1104900" y="3328987"/>
            <a:ext cx="44100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Volume Header: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Contains boot blocks and volume metadata.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990600" y="40338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1104900" y="4033837"/>
            <a:ext cx="4410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Allocation File: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Tracks used vs. free blocks.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990600" y="44338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1104900" y="4433887"/>
            <a:ext cx="44100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Catalog File: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Stores the directory structure and file records.</a:t>
            </a:r>
            <a:endParaRPr/>
          </a:p>
        </p:txBody>
      </p:sp>
      <p:pic>
        <p:nvPicPr>
          <p:cNvPr descr="image.png" id="131" name="Google Shape;13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7025" y="2728912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6753225" y="33289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6867525" y="3328987"/>
            <a:ext cx="44100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Extents Overflow: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Manages fragmented file locations.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6753225" y="40338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6867525" y="4033837"/>
            <a:ext cx="4410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Attributes File: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Stores extended metadata.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6753225" y="44338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6867525" y="4433887"/>
            <a:ext cx="44100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Journal File: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Logs transactions; critical for timeline reconstruction.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6B6D4"/>
                </a:solidFill>
                <a:latin typeface="Roboto"/>
                <a:ea typeface="Roboto"/>
                <a:cs typeface="Roboto"/>
                <a:sym typeface="Roboto"/>
              </a:rPr>
              <a:t>HFS+ Partition Architecture</a:t>
            </a:r>
            <a:endParaRPr/>
          </a:p>
        </p:txBody>
      </p:sp>
      <p:sp>
        <p:nvSpPr>
          <p:cNvPr id="139" name="Google Shape;139;p15"/>
          <p:cNvSpPr/>
          <p:nvPr/>
        </p:nvSpPr>
        <p:spPr>
          <a:xfrm>
            <a:off x="571500" y="1181100"/>
            <a:ext cx="11049000" cy="95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240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571500" y="227647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6B6D4"/>
                </a:solidFill>
                <a:latin typeface="Lato"/>
                <a:ea typeface="Lato"/>
                <a:cs typeface="Lato"/>
                <a:sym typeface="Lato"/>
              </a:rPr>
              <a:t>Tree Structure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Balanced tree (Header → Index → Leaf) allows for efficient searching of millions of files.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571500" y="342900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6B6D4"/>
                </a:solidFill>
                <a:latin typeface="Lato"/>
                <a:ea typeface="Lato"/>
                <a:cs typeface="Lato"/>
                <a:sym typeface="Lato"/>
              </a:rPr>
              <a:t>Catalog Records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Contains file metadata, directory hierarchy, and thread records essential for navigation.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571500" y="458152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6B6D4"/>
                </a:solidFill>
                <a:latin typeface="Lato"/>
                <a:ea typeface="Lato"/>
                <a:cs typeface="Lato"/>
                <a:sym typeface="Lato"/>
              </a:rPr>
              <a:t>Recovery Insight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Orphaned catalog records often survive deletion. Cross-reference these with the allocation file for recovery.</a:t>
            </a:r>
            <a:endParaRPr/>
          </a:p>
        </p:txBody>
      </p:sp>
      <p:pic>
        <p:nvPicPr>
          <p:cNvPr descr="image.png" id="149" name="Google Shape;14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33587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6B6D4"/>
                </a:solidFill>
                <a:latin typeface="Roboto"/>
                <a:ea typeface="Roboto"/>
                <a:cs typeface="Roboto"/>
                <a:sym typeface="Roboto"/>
              </a:rPr>
              <a:t>Deep Dive: Metadata &amp; B-Trees</a:t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571500" y="1181100"/>
            <a:ext cx="11049000" cy="95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48966"/>
            <a:ext cx="3492549" cy="29601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48966"/>
            <a:ext cx="3492549" cy="29601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48966"/>
            <a:ext cx="3492549" cy="29601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36700" y="2744241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1297572" y="3696741"/>
            <a:ext cx="204025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Corrupted Structures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866775" y="4230141"/>
            <a:ext cx="290199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Damage to the Volume Header or Catalog File preventing the OS from mounting the volume.</a:t>
            </a:r>
            <a:endParaRPr/>
          </a:p>
        </p:txBody>
      </p:sp>
      <p:pic>
        <p:nvPicPr>
          <p:cNvPr descr="image.png" id="163" name="Google Shape;16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0" y="2744241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5375910" y="3696741"/>
            <a:ext cx="144018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Deleted Tables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4645074" y="4230141"/>
            <a:ext cx="290199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Partition entries intentionally removed by a suspect to hide an entire volume of evidence.</a:t>
            </a:r>
            <a:endParaRPr/>
          </a:p>
        </p:txBody>
      </p:sp>
      <p:pic>
        <p:nvPicPr>
          <p:cNvPr descr="image.png" id="166" name="Google Shape;16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93299" y="2744241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9059197" y="3696741"/>
            <a:ext cx="163020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Hidden Evidence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8423374" y="4230141"/>
            <a:ext cx="290199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Critical case data existing in unallocated space requiring manual reconstruction to access.</a:t>
            </a:r>
            <a:endParaRPr/>
          </a:p>
        </p:txBody>
      </p:sp>
      <p:pic>
        <p:nvPicPr>
          <p:cNvPr descr="image.png" id="169" name="Google Shape;169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79575" y="2934741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81687" y="2934741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659987" y="2934741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6B6D4"/>
                </a:solidFill>
                <a:latin typeface="Roboto"/>
                <a:ea typeface="Roboto"/>
                <a:cs typeface="Roboto"/>
                <a:sym typeface="Roboto"/>
              </a:rPr>
              <a:t>When is Partition Recovery Necessary?</a:t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571500" y="1181100"/>
            <a:ext cx="11049000" cy="95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100" y="243646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1171575" y="2417415"/>
            <a:ext cx="3790950" cy="626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1. Identify Boundaries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Scan sectors for partition start/end signatures.</a:t>
            </a:r>
            <a:endParaRPr/>
          </a:p>
        </p:txBody>
      </p:sp>
      <p:pic>
        <p:nvPicPr>
          <p:cNvPr descr="image.png" id="181" name="Google Shape;18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9850" y="243646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6791325" y="2417415"/>
            <a:ext cx="3886200" cy="626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2. Locate Headers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Find primary (offset 1024) and backup headers.</a:t>
            </a:r>
            <a:endParaRPr/>
          </a:p>
        </p:txBody>
      </p:sp>
      <p:pic>
        <p:nvPicPr>
          <p:cNvPr descr="image.png" id="183" name="Google Shape;18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0100" y="3634680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1114425" y="3615630"/>
            <a:ext cx="3524250" cy="626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3. Carve Structures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Extract allocation bitmaps and extents files.</a:t>
            </a:r>
            <a:endParaRPr/>
          </a:p>
        </p:txBody>
      </p:sp>
      <p:pic>
        <p:nvPicPr>
          <p:cNvPr descr="image.png" id="185" name="Google Shape;18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19850" y="3634680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6819900" y="3615630"/>
            <a:ext cx="4019550" cy="626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4. Rebuild Catalog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Reconstruct the B-tree structure from leaf nodes.</a:t>
            </a:r>
            <a:endParaRPr/>
          </a:p>
        </p:txBody>
      </p:sp>
      <p:pic>
        <p:nvPicPr>
          <p:cNvPr descr="image.png" id="187" name="Google Shape;187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0100" y="4832895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1200150" y="4813845"/>
            <a:ext cx="3638550" cy="626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5. Reconstruct Tree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Map parent-child relationships via Node IDs.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6562725" y="4813845"/>
            <a:ext cx="4162425" cy="626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6. Validate Data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Verify integrity via hashing and consistency checks.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6B6D4"/>
                </a:solidFill>
                <a:latin typeface="Roboto"/>
                <a:ea typeface="Roboto"/>
                <a:cs typeface="Roboto"/>
                <a:sym typeface="Roboto"/>
              </a:rPr>
              <a:t>6-Step Reconstruction Methodology</a:t>
            </a:r>
            <a:endParaRPr/>
          </a:p>
        </p:txBody>
      </p:sp>
      <p:sp>
        <p:nvSpPr>
          <p:cNvPr id="191" name="Google Shape;191;p18"/>
          <p:cNvSpPr/>
          <p:nvPr/>
        </p:nvSpPr>
        <p:spPr>
          <a:xfrm>
            <a:off x="571500" y="1181100"/>
            <a:ext cx="11049000" cy="95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66925"/>
            <a:ext cx="5286375" cy="3724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66925"/>
            <a:ext cx="5286375" cy="3724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9"/>
          <p:cNvSpPr txBox="1"/>
          <p:nvPr/>
        </p:nvSpPr>
        <p:spPr>
          <a:xfrm>
            <a:off x="914400" y="2409825"/>
            <a:ext cx="483060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855F7"/>
                </a:solidFill>
                <a:latin typeface="Roboto"/>
                <a:ea typeface="Roboto"/>
                <a:cs typeface="Roboto"/>
                <a:sym typeface="Roboto"/>
              </a:rPr>
              <a:t>Definition &amp; Value</a:t>
            </a:r>
            <a:endParaRPr/>
          </a:p>
        </p:txBody>
      </p:sp>
      <p:sp>
        <p:nvSpPr>
          <p:cNvPr id="200" name="Google Shape;200;p19"/>
          <p:cNvSpPr/>
          <p:nvPr/>
        </p:nvSpPr>
        <p:spPr>
          <a:xfrm>
            <a:off x="914400" y="2771775"/>
            <a:ext cx="46005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 txBox="1"/>
          <p:nvPr/>
        </p:nvSpPr>
        <p:spPr>
          <a:xfrm>
            <a:off x="914400" y="3209925"/>
            <a:ext cx="4600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Definition: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Unused disk sectors not currently allocated to active files by the file system.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914400" y="4343400"/>
            <a:ext cx="46005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Forensic Value: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Often contains "deleted" data. Since the system only removes the pointer, the raw data remains until overwritten.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6677025" y="2409825"/>
            <a:ext cx="483060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855F7"/>
                </a:solidFill>
                <a:latin typeface="Roboto"/>
                <a:ea typeface="Roboto"/>
                <a:cs typeface="Roboto"/>
                <a:sym typeface="Roboto"/>
              </a:rPr>
              <a:t>Key Components</a:t>
            </a:r>
            <a:endParaRPr/>
          </a:p>
        </p:txBody>
      </p:sp>
      <p:sp>
        <p:nvSpPr>
          <p:cNvPr id="204" name="Google Shape;204;p19"/>
          <p:cNvSpPr/>
          <p:nvPr/>
        </p:nvSpPr>
        <p:spPr>
          <a:xfrm>
            <a:off x="6677025" y="2771775"/>
            <a:ext cx="46005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6753225" y="30194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6867525" y="3019425"/>
            <a:ext cx="4410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6B6D4"/>
                </a:solidFill>
                <a:latin typeface="Lato"/>
                <a:ea typeface="Lato"/>
                <a:cs typeface="Lato"/>
                <a:sym typeface="Lato"/>
              </a:rPr>
              <a:t>Deleted File Remnants: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Full or partial files.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6753225" y="34194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6867525" y="3419475"/>
            <a:ext cx="44100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6B6D4"/>
                </a:solidFill>
                <a:latin typeface="Lato"/>
                <a:ea typeface="Lato"/>
                <a:cs typeface="Lato"/>
                <a:sym typeface="Lato"/>
              </a:rPr>
              <a:t>File Slack Space: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Data between the end of a file and the end of the cluster.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6753225" y="41243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6867525" y="4124325"/>
            <a:ext cx="44100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6B6D4"/>
                </a:solidFill>
                <a:latin typeface="Lato"/>
                <a:ea typeface="Lato"/>
                <a:cs typeface="Lato"/>
                <a:sym typeface="Lato"/>
              </a:rPr>
              <a:t>Residual Fragments: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Data from previous installations or activities.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6B6D4"/>
                </a:solidFill>
                <a:latin typeface="Roboto"/>
                <a:ea typeface="Roboto"/>
                <a:cs typeface="Roboto"/>
                <a:sym typeface="Roboto"/>
              </a:rPr>
              <a:t>Analyzing Unallocated Space</a:t>
            </a:r>
            <a:endParaRPr/>
          </a:p>
        </p:txBody>
      </p:sp>
      <p:sp>
        <p:nvSpPr>
          <p:cNvPr id="212" name="Google Shape;212;p19"/>
          <p:cNvSpPr/>
          <p:nvPr/>
        </p:nvSpPr>
        <p:spPr>
          <a:xfrm>
            <a:off x="571500" y="1181100"/>
            <a:ext cx="11049000" cy="95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86941"/>
            <a:ext cx="5286375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486941"/>
            <a:ext cx="5286375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58691"/>
            <a:ext cx="5286375" cy="2312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4058691"/>
            <a:ext cx="5286375" cy="231264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/>
          <p:cNvSpPr txBox="1"/>
          <p:nvPr/>
        </p:nvSpPr>
        <p:spPr>
          <a:xfrm>
            <a:off x="914400" y="1829841"/>
            <a:ext cx="483060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855F7"/>
                </a:solidFill>
                <a:latin typeface="Roboto"/>
                <a:ea typeface="Roboto"/>
                <a:cs typeface="Roboto"/>
                <a:sym typeface="Roboto"/>
              </a:rPr>
              <a:t>Deleted Remnants</a:t>
            </a:r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914400" y="2191791"/>
            <a:ext cx="46005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914400" y="2629941"/>
            <a:ext cx="4600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Partial files removed but not yet overwritten. These are prime targets for recovery tools.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6677025" y="1829841"/>
            <a:ext cx="483060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855F7"/>
                </a:solidFill>
                <a:latin typeface="Roboto"/>
                <a:ea typeface="Roboto"/>
                <a:cs typeface="Roboto"/>
                <a:sym typeface="Roboto"/>
              </a:rPr>
              <a:t>Residual Fragments</a:t>
            </a:r>
            <a:endParaRPr/>
          </a:p>
        </p:txBody>
      </p:sp>
      <p:sp>
        <p:nvSpPr>
          <p:cNvPr id="226" name="Google Shape;226;p20"/>
          <p:cNvSpPr/>
          <p:nvPr/>
        </p:nvSpPr>
        <p:spPr>
          <a:xfrm>
            <a:off x="6677025" y="2191791"/>
            <a:ext cx="46005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6677025" y="2629941"/>
            <a:ext cx="4600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Data chunks from partial overwrites or file truncation, often found in slack space.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914400" y="4401591"/>
            <a:ext cx="483060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855F7"/>
                </a:solidFill>
                <a:latin typeface="Roboto"/>
                <a:ea typeface="Roboto"/>
                <a:cs typeface="Roboto"/>
                <a:sym typeface="Roboto"/>
              </a:rPr>
              <a:t>Magic Numbers</a:t>
            </a:r>
            <a:endParaRPr/>
          </a:p>
        </p:txBody>
      </p:sp>
      <p:sp>
        <p:nvSpPr>
          <p:cNvPr id="229" name="Google Shape;229;p20"/>
          <p:cNvSpPr/>
          <p:nvPr/>
        </p:nvSpPr>
        <p:spPr>
          <a:xfrm>
            <a:off x="914400" y="4763541"/>
            <a:ext cx="46005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914400" y="5201691"/>
            <a:ext cx="4600575" cy="63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Header/Footer signatures enabling identification (e.g., </a:t>
            </a:r>
            <a:r>
              <a:rPr b="0" i="0" lang="en-US" sz="1500" u="none" cap="none" strike="noStrike">
                <a:solidFill>
                  <a:srgbClr val="06B6D4"/>
                </a:solidFill>
                <a:latin typeface="Lato"/>
                <a:ea typeface="Lato"/>
                <a:cs typeface="Lato"/>
                <a:sym typeface="Lato"/>
              </a:rPr>
              <a:t>FF D8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for JPEG, </a:t>
            </a:r>
            <a:r>
              <a:rPr b="0" i="0" lang="en-US" sz="1500" u="none" cap="none" strike="noStrike">
                <a:solidFill>
                  <a:srgbClr val="06B6D4"/>
                </a:solidFill>
                <a:latin typeface="Lato"/>
                <a:ea typeface="Lato"/>
                <a:cs typeface="Lato"/>
                <a:sym typeface="Lato"/>
              </a:rPr>
              <a:t>25 50 44 46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for PDF).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6677025" y="4401591"/>
            <a:ext cx="483060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855F7"/>
                </a:solidFill>
                <a:latin typeface="Roboto"/>
                <a:ea typeface="Roboto"/>
                <a:cs typeface="Roboto"/>
                <a:sym typeface="Roboto"/>
              </a:rPr>
              <a:t>Overwritten Blocks</a:t>
            </a:r>
            <a:endParaRPr/>
          </a:p>
        </p:txBody>
      </p:sp>
      <p:sp>
        <p:nvSpPr>
          <p:cNvPr id="232" name="Google Shape;232;p20"/>
          <p:cNvSpPr/>
          <p:nvPr/>
        </p:nvSpPr>
        <p:spPr>
          <a:xfrm>
            <a:off x="6677025" y="4763541"/>
            <a:ext cx="46005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6677025" y="5201691"/>
            <a:ext cx="4600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Sectors reused by the file system. Only non-overwritten blocks retain original data suitable for carving.</a:t>
            </a:r>
            <a:endParaRPr/>
          </a:p>
        </p:txBody>
      </p:sp>
      <p:pic>
        <p:nvPicPr>
          <p:cNvPr descr="image.png" id="234" name="Google Shape;234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4400" y="1839366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77025" y="1839366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4400" y="4411116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677025" y="441111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0"/>
          <p:cNvSpPr txBox="1"/>
          <p:nvPr/>
        </p:nvSpPr>
        <p:spPr>
          <a:xfrm>
            <a:off x="571500" y="486816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6B6D4"/>
                </a:solidFill>
                <a:latin typeface="Roboto"/>
                <a:ea typeface="Roboto"/>
                <a:cs typeface="Roboto"/>
                <a:sym typeface="Roboto"/>
              </a:rPr>
              <a:t>Artifacts in Unallocated Space</a:t>
            </a:r>
            <a:endParaRPr/>
          </a:p>
        </p:txBody>
      </p:sp>
      <p:sp>
        <p:nvSpPr>
          <p:cNvPr id="239" name="Google Shape;239;p20"/>
          <p:cNvSpPr/>
          <p:nvPr/>
        </p:nvSpPr>
        <p:spPr>
          <a:xfrm>
            <a:off x="571500" y="1096416"/>
            <a:ext cx="11049000" cy="95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1"/>
          <p:cNvSpPr txBox="1"/>
          <p:nvPr/>
        </p:nvSpPr>
        <p:spPr>
          <a:xfrm>
            <a:off x="571500" y="723900"/>
            <a:ext cx="52006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6B6D4"/>
                </a:solidFill>
                <a:latin typeface="Roboto"/>
                <a:ea typeface="Roboto"/>
                <a:cs typeface="Roboto"/>
                <a:sym typeface="Roboto"/>
              </a:rPr>
              <a:t>Forensic Analysis Techniques</a:t>
            </a:r>
            <a:endParaRPr/>
          </a:p>
        </p:txBody>
      </p:sp>
      <p:pic>
        <p:nvPicPr>
          <p:cNvPr descr="image.png" id="246" name="Google Shape;24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1"/>
          <p:cNvSpPr txBox="1"/>
          <p:nvPr/>
        </p:nvSpPr>
        <p:spPr>
          <a:xfrm>
            <a:off x="809625" y="1562100"/>
            <a:ext cx="47148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Hex-Level Examination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Raw sector analysis to find file structures and specific data patterns manually.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809625" y="2667000"/>
            <a:ext cx="47148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File Carving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Metadata-independent recovery using header/footer signatures to extract files.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809625" y="3771900"/>
            <a:ext cx="47148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Signature Searching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Automated scanning for known file types (PDF, ZIP, PLIST).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809625" y="4876800"/>
            <a:ext cx="47148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Pattern Matching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Using keywords and Regular Expressions (Regex) to find strings like emails or card numbers.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571500" y="15621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855F7"/>
                </a:solidFill>
                <a:latin typeface="Courier Prime"/>
                <a:ea typeface="Courier Prime"/>
                <a:cs typeface="Courier Prime"/>
                <a:sym typeface="Courier Prime"/>
              </a:rPr>
              <a:t>&gt;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571500" y="26670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855F7"/>
                </a:solidFill>
                <a:latin typeface="Courier Prime"/>
                <a:ea typeface="Courier Prime"/>
                <a:cs typeface="Courier Prime"/>
                <a:sym typeface="Courier Prime"/>
              </a:rPr>
              <a:t>&gt;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571500" y="37719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855F7"/>
                </a:solidFill>
                <a:latin typeface="Courier Prime"/>
                <a:ea typeface="Courier Prime"/>
                <a:cs typeface="Courier Prime"/>
                <a:sym typeface="Courier Prime"/>
              </a:rPr>
              <a:t>&gt;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571500" y="48768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855F7"/>
                </a:solidFill>
                <a:latin typeface="Courier Prime"/>
                <a:ea typeface="Courier Prime"/>
                <a:cs typeface="Courier Prime"/>
                <a:sym typeface="Courier Prime"/>
              </a:rPr>
              <a:t>&gt;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9" name="Google Shape;25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76487"/>
            <a:ext cx="5286375" cy="3105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376487"/>
            <a:ext cx="5286375" cy="31051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2"/>
          <p:cNvSpPr txBox="1"/>
          <p:nvPr/>
        </p:nvSpPr>
        <p:spPr>
          <a:xfrm>
            <a:off x="914400" y="2719387"/>
            <a:ext cx="483060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855F7"/>
                </a:solidFill>
                <a:latin typeface="Roboto"/>
                <a:ea typeface="Roboto"/>
                <a:cs typeface="Roboto"/>
                <a:sym typeface="Roboto"/>
              </a:rPr>
              <a:t> Open Source</a:t>
            </a:r>
            <a:endParaRPr/>
          </a:p>
        </p:txBody>
      </p:sp>
      <p:sp>
        <p:nvSpPr>
          <p:cNvPr id="263" name="Google Shape;263;p22"/>
          <p:cNvSpPr/>
          <p:nvPr/>
        </p:nvSpPr>
        <p:spPr>
          <a:xfrm>
            <a:off x="914400" y="3081337"/>
            <a:ext cx="46005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2"/>
          <p:cNvSpPr txBox="1"/>
          <p:nvPr/>
        </p:nvSpPr>
        <p:spPr>
          <a:xfrm>
            <a:off x="6677025" y="2719387"/>
            <a:ext cx="483060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855F7"/>
                </a:solidFill>
                <a:latin typeface="Roboto"/>
                <a:ea typeface="Roboto"/>
                <a:cs typeface="Roboto"/>
                <a:sym typeface="Roboto"/>
              </a:rPr>
              <a:t>Commercial</a:t>
            </a:r>
            <a:endParaRPr/>
          </a:p>
        </p:txBody>
      </p:sp>
      <p:sp>
        <p:nvSpPr>
          <p:cNvPr id="265" name="Google Shape;265;p22"/>
          <p:cNvSpPr/>
          <p:nvPr/>
        </p:nvSpPr>
        <p:spPr>
          <a:xfrm>
            <a:off x="6677025" y="3081337"/>
            <a:ext cx="46005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6" name="Google Shape;26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2728912"/>
            <a:ext cx="2190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2"/>
          <p:cNvSpPr txBox="1"/>
          <p:nvPr/>
        </p:nvSpPr>
        <p:spPr>
          <a:xfrm>
            <a:off x="990600" y="33289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1104900" y="3328987"/>
            <a:ext cx="4410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TestDisk: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Powerful partition recovery.</a:t>
            </a:r>
            <a:endParaRPr/>
          </a:p>
        </p:txBody>
      </p:sp>
      <p:sp>
        <p:nvSpPr>
          <p:cNvPr id="269" name="Google Shape;269;p22"/>
          <p:cNvSpPr txBox="1"/>
          <p:nvPr/>
        </p:nvSpPr>
        <p:spPr>
          <a:xfrm>
            <a:off x="990600" y="37290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0" name="Google Shape;270;p22"/>
          <p:cNvSpPr txBox="1"/>
          <p:nvPr/>
        </p:nvSpPr>
        <p:spPr>
          <a:xfrm>
            <a:off x="1104900" y="3729037"/>
            <a:ext cx="4410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Sleuth Kit/Autopsy: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Complete analysis platform.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990600" y="41290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1104900" y="4129087"/>
            <a:ext cx="4410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Scalpel/PhotoRec: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File carving based on headers.</a:t>
            </a: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990600" y="45291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4" name="Google Shape;274;p22"/>
          <p:cNvSpPr txBox="1"/>
          <p:nvPr/>
        </p:nvSpPr>
        <p:spPr>
          <a:xfrm>
            <a:off x="1104900" y="4529137"/>
            <a:ext cx="4410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Bulk Extractor: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Scrapes PII, emails, and URLs.</a:t>
            </a:r>
            <a:endParaRPr/>
          </a:p>
        </p:txBody>
      </p:sp>
      <p:pic>
        <p:nvPicPr>
          <p:cNvPr descr="image.png" id="275" name="Google Shape;275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7025" y="272891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2"/>
          <p:cNvSpPr txBox="1"/>
          <p:nvPr/>
        </p:nvSpPr>
        <p:spPr>
          <a:xfrm>
            <a:off x="6753225" y="33289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6867525" y="3328987"/>
            <a:ext cx="4410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EnCase: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Industry standard enterprise suite.</a:t>
            </a:r>
            <a:endParaRPr/>
          </a:p>
        </p:txBody>
      </p:sp>
      <p:sp>
        <p:nvSpPr>
          <p:cNvPr id="278" name="Google Shape;278;p22"/>
          <p:cNvSpPr txBox="1"/>
          <p:nvPr/>
        </p:nvSpPr>
        <p:spPr>
          <a:xfrm>
            <a:off x="6753225" y="37290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9" name="Google Shape;279;p22"/>
          <p:cNvSpPr txBox="1"/>
          <p:nvPr/>
        </p:nvSpPr>
        <p:spPr>
          <a:xfrm>
            <a:off x="6867525" y="3729037"/>
            <a:ext cx="44100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FTK (Forensic Toolkit):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Known for indexing and processing speed.</a:t>
            </a:r>
            <a:endParaRPr/>
          </a:p>
        </p:txBody>
      </p:sp>
      <p:sp>
        <p:nvSpPr>
          <p:cNvPr id="280" name="Google Shape;280;p22"/>
          <p:cNvSpPr txBox="1"/>
          <p:nvPr/>
        </p:nvSpPr>
        <p:spPr>
          <a:xfrm>
            <a:off x="6753225" y="44338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1" name="Google Shape;281;p22"/>
          <p:cNvSpPr txBox="1"/>
          <p:nvPr/>
        </p:nvSpPr>
        <p:spPr>
          <a:xfrm>
            <a:off x="6867525" y="4433887"/>
            <a:ext cx="44100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Magnet Axiom: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Advanced artifact carving and correlation.</a:t>
            </a:r>
            <a:endParaRPr/>
          </a:p>
        </p:txBody>
      </p:sp>
      <p:sp>
        <p:nvSpPr>
          <p:cNvPr id="282" name="Google Shape;282;p22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6B6D4"/>
                </a:solidFill>
                <a:latin typeface="Roboto"/>
                <a:ea typeface="Roboto"/>
                <a:cs typeface="Roboto"/>
                <a:sym typeface="Roboto"/>
              </a:rPr>
              <a:t>Essential Forensic Tools</a:t>
            </a:r>
            <a:endParaRPr/>
          </a:p>
        </p:txBody>
      </p:sp>
      <p:sp>
        <p:nvSpPr>
          <p:cNvPr id="283" name="Google Shape;283;p22"/>
          <p:cNvSpPr/>
          <p:nvPr/>
        </p:nvSpPr>
        <p:spPr>
          <a:xfrm>
            <a:off x="571500" y="1181100"/>
            <a:ext cx="11049000" cy="95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8" name="Google Shape;28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23913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3"/>
          <p:cNvSpPr txBox="1"/>
          <p:nvPr/>
        </p:nvSpPr>
        <p:spPr>
          <a:xfrm>
            <a:off x="571500" y="1875532"/>
            <a:ext cx="5286375" cy="1165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Document Process</a:t>
            </a:r>
            <a:endParaRPr/>
          </a:p>
        </p:txBody>
      </p:sp>
      <p:sp>
        <p:nvSpPr>
          <p:cNvPr id="291" name="Google Shape;291;p23"/>
          <p:cNvSpPr txBox="1"/>
          <p:nvPr/>
        </p:nvSpPr>
        <p:spPr>
          <a:xfrm>
            <a:off x="571500" y="3327052"/>
            <a:ext cx="5286375" cy="1165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Validate</a:t>
            </a:r>
            <a:endParaRPr/>
          </a:p>
        </p:txBody>
      </p:sp>
      <p:sp>
        <p:nvSpPr>
          <p:cNvPr id="292" name="Google Shape;292;p23"/>
          <p:cNvSpPr txBox="1"/>
          <p:nvPr/>
        </p:nvSpPr>
        <p:spPr>
          <a:xfrm>
            <a:off x="571500" y="4778573"/>
            <a:ext cx="5286375" cy="1165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Evidentiary Value</a:t>
            </a:r>
            <a:endParaRPr/>
          </a:p>
        </p:txBody>
      </p:sp>
      <p:pic>
        <p:nvPicPr>
          <p:cNvPr descr="image.png" id="293" name="Google Shape;29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33438"/>
            <a:ext cx="5267325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980307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431827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883348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3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6B6D4"/>
                </a:solidFill>
                <a:latin typeface="Roboto"/>
                <a:ea typeface="Roboto"/>
                <a:cs typeface="Roboto"/>
                <a:sym typeface="Roboto"/>
              </a:rPr>
              <a:t>Presenting Findings &amp; Validation</a:t>
            </a:r>
            <a:endParaRPr/>
          </a:p>
        </p:txBody>
      </p:sp>
      <p:sp>
        <p:nvSpPr>
          <p:cNvPr id="298" name="Google Shape;298;p23"/>
          <p:cNvSpPr/>
          <p:nvPr/>
        </p:nvSpPr>
        <p:spPr>
          <a:xfrm>
            <a:off x="571500" y="1181100"/>
            <a:ext cx="11049000" cy="95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3" name="Google Shape;30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4"/>
          <p:cNvSpPr/>
          <p:nvPr/>
        </p:nvSpPr>
        <p:spPr>
          <a:xfrm>
            <a:off x="571500" y="353184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4"/>
          <p:cNvSpPr/>
          <p:nvPr/>
        </p:nvSpPr>
        <p:spPr>
          <a:xfrm>
            <a:off x="571500" y="431661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6" name="Google Shape;30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0601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4"/>
          <p:cNvSpPr txBox="1"/>
          <p:nvPr/>
        </p:nvSpPr>
        <p:spPr>
          <a:xfrm>
            <a:off x="1666875" y="289946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https://media.geeksforgeeks.org/wp-content/uploads/20240811023816/Introduction-to-Binary-Tree.webp</a:t>
            </a:r>
            <a:endParaRPr/>
          </a:p>
        </p:txBody>
      </p:sp>
      <p:sp>
        <p:nvSpPr>
          <p:cNvPr id="308" name="Google Shape;308;p24"/>
          <p:cNvSpPr txBox="1"/>
          <p:nvPr/>
        </p:nvSpPr>
        <p:spPr>
          <a:xfrm>
            <a:off x="1666875" y="314518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www.geeksforgeeks.org</a:t>
            </a:r>
            <a:endParaRPr/>
          </a:p>
        </p:txBody>
      </p:sp>
      <p:pic>
        <p:nvPicPr>
          <p:cNvPr descr="image.png" id="309" name="Google Shape;30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9078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4"/>
          <p:cNvSpPr txBox="1"/>
          <p:nvPr/>
        </p:nvSpPr>
        <p:spPr>
          <a:xfrm>
            <a:off x="1666875" y="368424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https://i.sstatic.net/Wha2A.gif</a:t>
            </a:r>
            <a:endParaRPr/>
          </a:p>
        </p:txBody>
      </p:sp>
      <p:sp>
        <p:nvSpPr>
          <p:cNvPr id="311" name="Google Shape;311;p24"/>
          <p:cNvSpPr txBox="1"/>
          <p:nvPr/>
        </p:nvSpPr>
        <p:spPr>
          <a:xfrm>
            <a:off x="1666875" y="392995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stackoverflow.com</a:t>
            </a:r>
            <a:endParaRPr/>
          </a:p>
        </p:txBody>
      </p:sp>
      <p:pic>
        <p:nvPicPr>
          <p:cNvPr descr="image.png" id="312" name="Google Shape;312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7555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4"/>
          <p:cNvSpPr txBox="1"/>
          <p:nvPr/>
        </p:nvSpPr>
        <p:spPr>
          <a:xfrm>
            <a:off x="1666875" y="446901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https://www.thomsonreuters.com/en-us/posts/wp-content/uploads/sites/20/2016/08/Forensics-chart.jpg</a:t>
            </a:r>
            <a:endParaRPr/>
          </a:p>
        </p:txBody>
      </p:sp>
      <p:sp>
        <p:nvSpPr>
          <p:cNvPr id="314" name="Google Shape;314;p24"/>
          <p:cNvSpPr txBox="1"/>
          <p:nvPr/>
        </p:nvSpPr>
        <p:spPr>
          <a:xfrm>
            <a:off x="1666875" y="471472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www.thomsonreuters.com</a:t>
            </a:r>
            <a:endParaRPr/>
          </a:p>
        </p:txBody>
      </p:sp>
      <p:sp>
        <p:nvSpPr>
          <p:cNvPr id="315" name="Google Shape;315;p24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6B6D4"/>
                </a:solidFill>
                <a:latin typeface="Roboto"/>
                <a:ea typeface="Roboto"/>
                <a:cs typeface="Roboto"/>
                <a:sym typeface="Roboto"/>
              </a:rPr>
              <a:t>Image Sources</a:t>
            </a:r>
            <a:endParaRPr/>
          </a:p>
        </p:txBody>
      </p:sp>
      <p:sp>
        <p:nvSpPr>
          <p:cNvPr id="316" name="Google Shape;316;p24"/>
          <p:cNvSpPr/>
          <p:nvPr/>
        </p:nvSpPr>
        <p:spPr>
          <a:xfrm>
            <a:off x="571500" y="1181100"/>
            <a:ext cx="11049000" cy="95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