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72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4630400" cy="8229600"/>
  <p:notesSz cx="8229600" cy="14630400"/>
  <p:embeddedFontLst>
    <p:embeddedFont>
      <p:font typeface="Heebo Light" panose="020F0502020204030204" pitchFamily="2" charset="-79"/>
      <p:regular r:id="rId19"/>
    </p:embeddedFont>
    <p:embeddedFont>
      <p:font typeface="Montserrat" panose="020F0502020204030204" pitchFamily="2" charset="0"/>
      <p:regular r:id="rId20"/>
    </p:embeddedFont>
    <p:embeddedFont>
      <p:font typeface="Montserrat Light" panose="00000400000000000000" pitchFamily="2" charset="0"/>
      <p:regular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792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6511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19042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11887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76792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15004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81850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09972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36932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89948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69993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34675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75113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28594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64756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48645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68238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2640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5709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sv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svg"/><Relationship Id="rId1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42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5.sv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sv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HFS File System Fundamentals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Understanding the foundations of macOS file system architecture for digital investigation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51007" y="522208"/>
            <a:ext cx="7079337" cy="474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Evolution of Hierarchical File Systems</a:t>
            </a:r>
            <a:endParaRPr lang="en-US" sz="2950" dirty="0"/>
          </a:p>
        </p:txBody>
      </p:sp>
      <p:sp>
        <p:nvSpPr>
          <p:cNvPr id="4" name="Shape 1"/>
          <p:cNvSpPr/>
          <p:nvPr/>
        </p:nvSpPr>
        <p:spPr>
          <a:xfrm>
            <a:off x="6364605" y="1281708"/>
            <a:ext cx="22860" cy="5604272"/>
          </a:xfrm>
          <a:prstGeom prst="roundRect">
            <a:avLst>
              <a:gd name="adj" fmla="val 348883"/>
            </a:avLst>
          </a:prstGeom>
          <a:solidFill>
            <a:srgbClr val="4A2C85"/>
          </a:solidFill>
          <a:ln/>
        </p:spPr>
      </p:sp>
      <p:sp>
        <p:nvSpPr>
          <p:cNvPr id="5" name="Shape 2"/>
          <p:cNvSpPr/>
          <p:nvPr/>
        </p:nvSpPr>
        <p:spPr>
          <a:xfrm>
            <a:off x="6555343" y="1483876"/>
            <a:ext cx="569595" cy="22860"/>
          </a:xfrm>
          <a:prstGeom prst="roundRect">
            <a:avLst>
              <a:gd name="adj" fmla="val 348883"/>
            </a:avLst>
          </a:prstGeom>
          <a:solidFill>
            <a:srgbClr val="4A2C85"/>
          </a:solidFill>
          <a:ln/>
        </p:spPr>
      </p:sp>
      <p:sp>
        <p:nvSpPr>
          <p:cNvPr id="6" name="Shape 3"/>
          <p:cNvSpPr/>
          <p:nvPr/>
        </p:nvSpPr>
        <p:spPr>
          <a:xfrm>
            <a:off x="6151007" y="1281708"/>
            <a:ext cx="427196" cy="427196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22206" y="1317308"/>
            <a:ext cx="284798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314009" y="1346954"/>
            <a:ext cx="2373630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HFS (1985)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7314009" y="1757482"/>
            <a:ext cx="6651784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Original hierarchical file system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314009" y="2175153"/>
            <a:ext cx="6651784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16-bit allocation blocks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314009" y="2592824"/>
            <a:ext cx="6651784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Limited scalability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555343" y="3478530"/>
            <a:ext cx="569595" cy="22860"/>
          </a:xfrm>
          <a:prstGeom prst="roundRect">
            <a:avLst>
              <a:gd name="adj" fmla="val 348883"/>
            </a:avLst>
          </a:prstGeom>
          <a:solidFill>
            <a:srgbClr val="4A2C85"/>
          </a:solidFill>
          <a:ln/>
        </p:spPr>
      </p:sp>
      <p:sp>
        <p:nvSpPr>
          <p:cNvPr id="13" name="Shape 10"/>
          <p:cNvSpPr/>
          <p:nvPr/>
        </p:nvSpPr>
        <p:spPr>
          <a:xfrm>
            <a:off x="6151007" y="3276362"/>
            <a:ext cx="427196" cy="427196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22206" y="3311962"/>
            <a:ext cx="284798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314009" y="3341608"/>
            <a:ext cx="2373630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HFS+ (1998)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7314009" y="3752136"/>
            <a:ext cx="6651784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Extended file system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7314009" y="4169807"/>
            <a:ext cx="6651784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32-bit allocation blocks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7314009" y="4587478"/>
            <a:ext cx="6651784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Unicode support, journaling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6555343" y="5473184"/>
            <a:ext cx="569595" cy="22860"/>
          </a:xfrm>
          <a:prstGeom prst="roundRect">
            <a:avLst>
              <a:gd name="adj" fmla="val 348883"/>
            </a:avLst>
          </a:prstGeom>
          <a:solidFill>
            <a:srgbClr val="4A2C85"/>
          </a:solidFill>
          <a:ln/>
        </p:spPr>
      </p:sp>
      <p:sp>
        <p:nvSpPr>
          <p:cNvPr id="20" name="Shape 17"/>
          <p:cNvSpPr/>
          <p:nvPr/>
        </p:nvSpPr>
        <p:spPr>
          <a:xfrm>
            <a:off x="6151007" y="5271016"/>
            <a:ext cx="427196" cy="427196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22206" y="5306616"/>
            <a:ext cx="284798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7314009" y="5336262"/>
            <a:ext cx="2373630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APFS (2017)</a:t>
            </a:r>
            <a:endParaRPr lang="en-US" sz="1850" dirty="0"/>
          </a:p>
        </p:txBody>
      </p:sp>
      <p:sp>
        <p:nvSpPr>
          <p:cNvPr id="23" name="Text 20"/>
          <p:cNvSpPr/>
          <p:nvPr/>
        </p:nvSpPr>
        <p:spPr>
          <a:xfrm>
            <a:off x="7314009" y="5746790"/>
            <a:ext cx="6651784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Modern successor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7314009" y="6164461"/>
            <a:ext cx="6651784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64-bit architecture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7314009" y="6582132"/>
            <a:ext cx="6651784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Optimised for flash storage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6151007" y="7099578"/>
            <a:ext cx="7814786" cy="607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Forensic relevance: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Legacy HFS volumes still encountered in older macOS investigations and historical evidence recovery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6128" y="368856"/>
            <a:ext cx="3584972" cy="32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HFS+ Partition Architecture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56128" y="1020485"/>
            <a:ext cx="1955125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Components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6128" y="1411367"/>
            <a:ext cx="130254" cy="162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128" y="1617464"/>
            <a:ext cx="5296495" cy="15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6128" y="1713071"/>
            <a:ext cx="1629251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Volume Header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6128" y="2046923"/>
            <a:ext cx="5296495" cy="208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Boot blocks, volume metadata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6128" y="2483525"/>
            <a:ext cx="130254" cy="162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128" y="2676644"/>
            <a:ext cx="5296495" cy="152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6128" y="2785229"/>
            <a:ext cx="1629251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Allocation File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56128" y="3119080"/>
            <a:ext cx="5296495" cy="208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Tracks used/free blocks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6128" y="3555683"/>
            <a:ext cx="130254" cy="162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0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128" y="3735824"/>
            <a:ext cx="5296495" cy="152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6128" y="3857387"/>
            <a:ext cx="1629251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Catalog File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456128" y="4191238"/>
            <a:ext cx="5296495" cy="208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Directory structure, file records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456128" y="4627840"/>
            <a:ext cx="130254" cy="162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0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128" y="4795004"/>
            <a:ext cx="5296495" cy="152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6128" y="4929545"/>
            <a:ext cx="1629251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Extents Overflow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456128" y="5263396"/>
            <a:ext cx="5296495" cy="208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Fragmented file locations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456128" y="5699998"/>
            <a:ext cx="130254" cy="162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05</a:t>
            </a:r>
            <a:endParaRPr lang="en-US" sz="10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128" y="5854184"/>
            <a:ext cx="5296495" cy="152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56128" y="6001703"/>
            <a:ext cx="1629251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Attributes File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456128" y="6335554"/>
            <a:ext cx="5296495" cy="208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Extended metadata storage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456128" y="6772156"/>
            <a:ext cx="130254" cy="162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06</a:t>
            </a:r>
            <a:endParaRPr lang="en-US" sz="10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128" y="6913364"/>
            <a:ext cx="5296495" cy="152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56128" y="7073860"/>
            <a:ext cx="1629251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Journal File</a:t>
            </a:r>
            <a:endParaRPr lang="en-US" sz="1250" dirty="0"/>
          </a:p>
        </p:txBody>
      </p:sp>
      <p:sp>
        <p:nvSpPr>
          <p:cNvPr id="27" name="Text 19"/>
          <p:cNvSpPr/>
          <p:nvPr/>
        </p:nvSpPr>
        <p:spPr>
          <a:xfrm>
            <a:off x="456128" y="7407712"/>
            <a:ext cx="5296495" cy="208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Transaction logging (HFS+ only)</a:t>
            </a:r>
            <a:endParaRPr lang="en-US" sz="1000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8141" y="1114663"/>
            <a:ext cx="4208740" cy="3519368"/>
          </a:xfrm>
          <a:prstGeom prst="rect">
            <a:avLst/>
          </a:prstGeom>
        </p:spPr>
      </p:pic>
      <p:sp>
        <p:nvSpPr>
          <p:cNvPr id="29" name="Shape 20"/>
          <p:cNvSpPr/>
          <p:nvPr/>
        </p:nvSpPr>
        <p:spPr>
          <a:xfrm>
            <a:off x="6078141" y="4780598"/>
            <a:ext cx="8103632" cy="553760"/>
          </a:xfrm>
          <a:prstGeom prst="roundRect">
            <a:avLst>
              <a:gd name="adj" fmla="val 9886"/>
            </a:avLst>
          </a:prstGeom>
          <a:solidFill>
            <a:srgbClr val="1E0C41"/>
          </a:solidFill>
          <a:ln/>
        </p:spPr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8395" y="4974074"/>
            <a:ext cx="162878" cy="130254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6501527" y="4865489"/>
            <a:ext cx="7549991" cy="208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Critical insight:</a:t>
            </a:r>
            <a:r>
              <a:rPr lang="en-US" sz="10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Journal file preserves recently deleted file metadata—valuable for timeline reconstruction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5089" y="561856"/>
            <a:ext cx="6210538" cy="510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Metadata Structures &amp; B-Trees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715089" y="1379101"/>
            <a:ext cx="3754755" cy="2744748"/>
          </a:xfrm>
          <a:prstGeom prst="roundRect">
            <a:avLst>
              <a:gd name="adj" fmla="val 3126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27021" y="1591032"/>
            <a:ext cx="2559129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B-Tree Organisation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27021" y="2032754"/>
            <a:ext cx="3330893" cy="653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Balanced tree structure for efficient searching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27021" y="2808923"/>
            <a:ext cx="3330893" cy="653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Header node → Index nodes → Leaf nodes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27021" y="3585091"/>
            <a:ext cx="3330893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Stores catalog and extents data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674156" y="1379101"/>
            <a:ext cx="3754755" cy="2744748"/>
          </a:xfrm>
          <a:prstGeom prst="roundRect">
            <a:avLst>
              <a:gd name="adj" fmla="val 3126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86087" y="1591032"/>
            <a:ext cx="2553891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Catalog Records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886087" y="2032754"/>
            <a:ext cx="3330893" cy="653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File records: metadata, data fork locations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886087" y="2808923"/>
            <a:ext cx="3330893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Folder records: directory hierarchy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886087" y="3258264"/>
            <a:ext cx="3330893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Thread records: reverse lookups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15089" y="4328160"/>
            <a:ext cx="7713821" cy="2091095"/>
          </a:xfrm>
          <a:prstGeom prst="roundRect">
            <a:avLst>
              <a:gd name="adj" fmla="val 4104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27021" y="4540091"/>
            <a:ext cx="2553891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Extent Records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927021" y="4981813"/>
            <a:ext cx="7289959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Map file data to physical blocks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27021" y="5431155"/>
            <a:ext cx="7289959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Handle file fragmentation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27021" y="5880497"/>
            <a:ext cx="7289959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Critical for file reconstruction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15089" y="6751202"/>
            <a:ext cx="7713821" cy="33099"/>
          </a:xfrm>
          <a:prstGeom prst="rect">
            <a:avLst/>
          </a:prstGeom>
          <a:solidFill>
            <a:srgbClr val="DCD7E5">
              <a:alpha val="5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715089" y="7014091"/>
            <a:ext cx="7713821" cy="653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Special metadata blocks:</a:t>
            </a:r>
            <a:r>
              <a:rPr lang="en-US" sz="16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Volume bitmap, startup file, and alternate volume header provide redundancy and recovery options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4354" y="427673"/>
            <a:ext cx="5169932" cy="388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Critical Artefacts for Investigation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4354" y="1224677"/>
            <a:ext cx="6581180" cy="1392555"/>
          </a:xfrm>
          <a:prstGeom prst="roundRect">
            <a:avLst>
              <a:gd name="adj" fmla="val 7880"/>
            </a:avLst>
          </a:prstGeom>
          <a:solidFill>
            <a:srgbClr val="0D0A2C">
              <a:alpha val="95000"/>
            </a:srgbClr>
          </a:solidFill>
          <a:ln w="22860">
            <a:solidFill>
              <a:srgbClr val="4A2C85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494" y="1224677"/>
            <a:ext cx="91440" cy="139255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1289" y="1403033"/>
            <a:ext cx="1944291" cy="243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File Paths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91289" y="1801535"/>
            <a:ext cx="6155888" cy="248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Complete directory tree reconstruction from catalog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91289" y="2190155"/>
            <a:ext cx="6155888" cy="248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Identify file locations and relationships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4354" y="2772727"/>
            <a:ext cx="6581180" cy="1392555"/>
          </a:xfrm>
          <a:prstGeom prst="roundRect">
            <a:avLst>
              <a:gd name="adj" fmla="val 7880"/>
            </a:avLst>
          </a:prstGeom>
          <a:solidFill>
            <a:srgbClr val="0D0A2C">
              <a:alpha val="95000"/>
            </a:srgbClr>
          </a:solidFill>
          <a:ln w="22860">
            <a:solidFill>
              <a:srgbClr val="4A2C85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494" y="2772727"/>
            <a:ext cx="91440" cy="139255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91289" y="2951083"/>
            <a:ext cx="1944291" cy="243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Timestamps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91289" y="3349585"/>
            <a:ext cx="6155888" cy="248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Creation, modification, access times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91289" y="3738205"/>
            <a:ext cx="6155888" cy="248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Backup timestamps (HFS+ specific)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4354" y="4320778"/>
            <a:ext cx="6581180" cy="1392555"/>
          </a:xfrm>
          <a:prstGeom prst="roundRect">
            <a:avLst>
              <a:gd name="adj" fmla="val 7880"/>
            </a:avLst>
          </a:prstGeom>
          <a:solidFill>
            <a:srgbClr val="0D0A2C">
              <a:alpha val="95000"/>
            </a:srgbClr>
          </a:solidFill>
          <a:ln w="22860">
            <a:solidFill>
              <a:srgbClr val="4A2C85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494" y="4320778"/>
            <a:ext cx="91440" cy="139255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91289" y="4499134"/>
            <a:ext cx="1944291" cy="243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File Attributes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791289" y="4897636"/>
            <a:ext cx="6155888" cy="248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Permissions, flags, ownership data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791289" y="5286256"/>
            <a:ext cx="6155888" cy="248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Extended attributes and resource forks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4354" y="5868829"/>
            <a:ext cx="6581180" cy="1781175"/>
          </a:xfrm>
          <a:prstGeom prst="roundRect">
            <a:avLst>
              <a:gd name="adj" fmla="val 6160"/>
            </a:avLst>
          </a:prstGeom>
          <a:solidFill>
            <a:srgbClr val="0D0A2C">
              <a:alpha val="95000"/>
            </a:srgbClr>
          </a:solidFill>
          <a:ln w="22860">
            <a:solidFill>
              <a:srgbClr val="4A2C85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494" y="5868829"/>
            <a:ext cx="91440" cy="178117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91289" y="6047184"/>
            <a:ext cx="1944291" cy="243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Orphaned Records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791289" y="6445687"/>
            <a:ext cx="6155888" cy="248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Deleted file catalog entries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791289" y="6834307"/>
            <a:ext cx="6155888" cy="248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Unallocated extent records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91289" y="7222927"/>
            <a:ext cx="6155888" cy="248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Journal transaction evidence</a:t>
            </a:r>
            <a:endParaRPr lang="en-US" sz="12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2487" y="1224677"/>
            <a:ext cx="6299716" cy="4199811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7512487" y="5599390"/>
            <a:ext cx="6581180" cy="909399"/>
          </a:xfrm>
          <a:prstGeom prst="roundRect">
            <a:avLst>
              <a:gd name="adj" fmla="val 7184"/>
            </a:avLst>
          </a:prstGeom>
          <a:solidFill>
            <a:srgbClr val="1E0C41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7982" y="5825252"/>
            <a:ext cx="194429" cy="15549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017907" y="5793700"/>
            <a:ext cx="5920264" cy="497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DCD7E5"/>
                </a:solidFill>
                <a:highlight>
                  <a:srgbClr val="481C9E"/>
                </a:highlight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Pro tip:</a:t>
            </a:r>
            <a:r>
              <a:rPr lang="en-US" sz="12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Orphaned catalog records often survive deletion—cross-reference with allocation file to recover deleted file metadata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3391733"/>
            <a:ext cx="6394847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Recreating HFS Partitions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4454723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Forensic recovery techniques for damaged or lost HFS file systems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270284"/>
            <a:ext cx="11323082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When Partition Recovery Becomes Necessary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3453051"/>
            <a:ext cx="4158734" cy="2506266"/>
          </a:xfrm>
          <a:prstGeom prst="roundRect">
            <a:avLst>
              <a:gd name="adj" fmla="val 1433"/>
            </a:avLst>
          </a:prstGeom>
          <a:solidFill>
            <a:srgbClr val="2F2B54"/>
          </a:solidFill>
          <a:ln/>
        </p:spPr>
      </p:sp>
      <p:sp>
        <p:nvSpPr>
          <p:cNvPr id="4" name="Text 2"/>
          <p:cNvSpPr/>
          <p:nvPr/>
        </p:nvSpPr>
        <p:spPr>
          <a:xfrm>
            <a:off x="1077039" y="369236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Corrupted Structures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77039" y="4187904"/>
            <a:ext cx="368010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Volume header or catalog file damage prevents normal mounting and access to filesystem data.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5235773" y="3453051"/>
            <a:ext cx="4158734" cy="2506266"/>
          </a:xfrm>
          <a:prstGeom prst="roundRect">
            <a:avLst>
              <a:gd name="adj" fmla="val 1433"/>
            </a:avLst>
          </a:prstGeom>
          <a:solidFill>
            <a:srgbClr val="2F2B54"/>
          </a:solidFill>
          <a:ln/>
        </p:spPr>
      </p:sp>
      <p:sp>
        <p:nvSpPr>
          <p:cNvPr id="7" name="Text 5"/>
          <p:cNvSpPr/>
          <p:nvPr/>
        </p:nvSpPr>
        <p:spPr>
          <a:xfrm>
            <a:off x="5475089" y="369236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Deleted Tables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75089" y="4187904"/>
            <a:ext cx="368010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Partition table entries removed either accidentally or deliberately to hide evidence from investigators.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9633823" y="3453051"/>
            <a:ext cx="4158853" cy="2506266"/>
          </a:xfrm>
          <a:prstGeom prst="roundRect">
            <a:avLst>
              <a:gd name="adj" fmla="val 1433"/>
            </a:avLst>
          </a:prstGeom>
          <a:solidFill>
            <a:srgbClr val="2F2B54"/>
          </a:solidFill>
          <a:ln/>
        </p:spPr>
      </p:sp>
      <p:sp>
        <p:nvSpPr>
          <p:cNvPr id="10" name="Text 8"/>
          <p:cNvSpPr/>
          <p:nvPr/>
        </p:nvSpPr>
        <p:spPr>
          <a:xfrm>
            <a:off x="9873139" y="369236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Hidden Evidence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3139" y="4187904"/>
            <a:ext cx="3680222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Critical case data may exist in unallocated space or damaged partitions requiring manual reconstruction.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870109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Essential Forensic Recovery Tools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2876431"/>
            <a:ext cx="3430786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Open Source Solutions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837724" y="3538061"/>
            <a:ext cx="344233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TestDisk</a:t>
            </a: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- Automated partition detection and recovery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37724" y="4770834"/>
            <a:ext cx="344233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Sleuth Kit</a:t>
            </a: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- Command-line utilities (fsstat, fls, icat, blkls)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37724" y="6003608"/>
            <a:ext cx="34423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Autopsy</a:t>
            </a: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- GUI-based forensic analysis platform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4871561" y="2876431"/>
            <a:ext cx="3442335" cy="844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Commercial &amp; Platform Tools</a:t>
            </a:r>
            <a:endParaRPr lang="en-US" sz="2650" dirty="0"/>
          </a:p>
        </p:txBody>
      </p:sp>
      <p:sp>
        <p:nvSpPr>
          <p:cNvPr id="9" name="Text 6"/>
          <p:cNvSpPr/>
          <p:nvPr/>
        </p:nvSpPr>
        <p:spPr>
          <a:xfrm>
            <a:off x="4871561" y="3960376"/>
            <a:ext cx="34423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EnCase</a:t>
            </a: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- Enterprise forensic suite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4871561" y="4810125"/>
            <a:ext cx="34423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FTK</a:t>
            </a: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- Forensic Toolkit for evidence processing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4871561" y="5659874"/>
            <a:ext cx="34423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Disk Utility</a:t>
            </a: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- macOS native logs and diagnostics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4871561" y="6509623"/>
            <a:ext cx="34423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Disk Arbitrator</a:t>
            </a: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- Mac partition control utility</a:t>
            </a:r>
            <a:endParaRPr lang="en-US" sz="1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668" y="604004"/>
            <a:ext cx="8790146" cy="646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Six-Step Reconstruction Methodology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68668" y="1689259"/>
            <a:ext cx="219551" cy="274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01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668" y="2032040"/>
            <a:ext cx="6436757" cy="3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8668" y="2202775"/>
            <a:ext cx="3353395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Identify Partition Boundaries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68668" y="2657356"/>
            <a:ext cx="6436757" cy="702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Scan disk sectors to locate partition start and end points using signature analysis.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424976" y="1689259"/>
            <a:ext cx="219551" cy="274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02</a:t>
            </a:r>
            <a:endParaRPr lang="en-US" sz="1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976" y="2032040"/>
            <a:ext cx="6436757" cy="30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24976" y="2202775"/>
            <a:ext cx="2720697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Locate Volume Headers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7424976" y="2657356"/>
            <a:ext cx="6436757" cy="702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Find primary volume header at offset 1024 bytes and backup header in final sectors.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768668" y="3744516"/>
            <a:ext cx="219551" cy="274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03</a:t>
            </a:r>
            <a:endParaRPr lang="en-US" sz="17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668" y="4060388"/>
            <a:ext cx="6436757" cy="30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68668" y="4258032"/>
            <a:ext cx="2584133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Carve HFS Structures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768668" y="4712613"/>
            <a:ext cx="6436757" cy="702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Extract allocation bitmap, extents overflow file, and attributes file from known offsets.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7424976" y="3744516"/>
            <a:ext cx="219551" cy="274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04</a:t>
            </a:r>
            <a:endParaRPr lang="en-US" sz="17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976" y="4060388"/>
            <a:ext cx="6436757" cy="30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24976" y="4258032"/>
            <a:ext cx="2584133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Rebuild Catalog File</a:t>
            </a:r>
            <a:endParaRPr lang="en-US" sz="2000" dirty="0"/>
          </a:p>
        </p:txBody>
      </p:sp>
      <p:sp>
        <p:nvSpPr>
          <p:cNvPr id="18" name="Text 12"/>
          <p:cNvSpPr/>
          <p:nvPr/>
        </p:nvSpPr>
        <p:spPr>
          <a:xfrm>
            <a:off x="7424976" y="4712613"/>
            <a:ext cx="6436757" cy="702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Reconstruct B-tree structure containing all file and folder metadata records.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768668" y="5799773"/>
            <a:ext cx="219551" cy="274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05</a:t>
            </a:r>
            <a:endParaRPr lang="en-US" sz="17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668" y="6093738"/>
            <a:ext cx="6436757" cy="30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68668" y="6313289"/>
            <a:ext cx="3053953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Reconstruct Directory Tree</a:t>
            </a:r>
            <a:endParaRPr lang="en-US" sz="2000" dirty="0"/>
          </a:p>
        </p:txBody>
      </p:sp>
      <p:sp>
        <p:nvSpPr>
          <p:cNvPr id="22" name="Text 15"/>
          <p:cNvSpPr/>
          <p:nvPr/>
        </p:nvSpPr>
        <p:spPr>
          <a:xfrm>
            <a:off x="768668" y="6767870"/>
            <a:ext cx="6436757" cy="702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Map parent-child relationships using Catalog Node IDs to recreate folder hierarchy.</a:t>
            </a:r>
            <a:endParaRPr lang="en-US" sz="1700" dirty="0"/>
          </a:p>
        </p:txBody>
      </p:sp>
      <p:sp>
        <p:nvSpPr>
          <p:cNvPr id="23" name="Text 16"/>
          <p:cNvSpPr/>
          <p:nvPr/>
        </p:nvSpPr>
        <p:spPr>
          <a:xfrm>
            <a:off x="7424976" y="5799773"/>
            <a:ext cx="219551" cy="274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06</a:t>
            </a:r>
            <a:endParaRPr lang="en-US" sz="17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976" y="6093738"/>
            <a:ext cx="6436757" cy="304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424976" y="6313289"/>
            <a:ext cx="2815947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Validate Recovered Data</a:t>
            </a:r>
            <a:endParaRPr lang="en-US" sz="2000" dirty="0"/>
          </a:p>
        </p:txBody>
      </p:sp>
      <p:sp>
        <p:nvSpPr>
          <p:cNvPr id="26" name="Text 18"/>
          <p:cNvSpPr/>
          <p:nvPr/>
        </p:nvSpPr>
        <p:spPr>
          <a:xfrm>
            <a:off x="7424976" y="6767870"/>
            <a:ext cx="6436757" cy="702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Verify file integrity through hash comparison and structure consistency checks.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872258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Key Takeaways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3055025"/>
            <a:ext cx="4158734" cy="3302198"/>
          </a:xfrm>
          <a:prstGeom prst="roundRect">
            <a:avLst>
              <a:gd name="adj" fmla="val 4431"/>
            </a:avLst>
          </a:prstGeom>
          <a:solidFill>
            <a:srgbClr val="100C35"/>
          </a:solidFill>
          <a:ln w="30480">
            <a:solidFill>
              <a:srgbClr val="FD50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7244" y="3055025"/>
            <a:ext cx="121920" cy="3302198"/>
          </a:xfrm>
          <a:prstGeom prst="roundRect">
            <a:avLst>
              <a:gd name="adj" fmla="val 29451"/>
            </a:avLst>
          </a:prstGeom>
          <a:solidFill>
            <a:srgbClr val="FD505F"/>
          </a:solidFill>
          <a:ln/>
        </p:spPr>
      </p:sp>
      <p:sp>
        <p:nvSpPr>
          <p:cNvPr id="5" name="Text 3"/>
          <p:cNvSpPr/>
          <p:nvPr/>
        </p:nvSpPr>
        <p:spPr>
          <a:xfrm>
            <a:off x="1198959" y="3324820"/>
            <a:ext cx="301871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Multiple Recovery Paths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98959" y="3820358"/>
            <a:ext cx="352770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Combine automated tools like TestDisk with manual techniques for maximum evidence recovery success.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5235773" y="3055025"/>
            <a:ext cx="4158734" cy="3302198"/>
          </a:xfrm>
          <a:prstGeom prst="roundRect">
            <a:avLst>
              <a:gd name="adj" fmla="val 4431"/>
            </a:avLst>
          </a:prstGeom>
          <a:solidFill>
            <a:srgbClr val="100C35"/>
          </a:solidFill>
          <a:ln w="30480">
            <a:solidFill>
              <a:srgbClr val="1B17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05293" y="3055025"/>
            <a:ext cx="121920" cy="3302198"/>
          </a:xfrm>
          <a:prstGeom prst="roundRect">
            <a:avLst>
              <a:gd name="adj" fmla="val 29451"/>
            </a:avLst>
          </a:prstGeom>
          <a:solidFill>
            <a:srgbClr val="1B1744"/>
          </a:solidFill>
          <a:ln/>
        </p:spPr>
      </p:sp>
      <p:sp>
        <p:nvSpPr>
          <p:cNvPr id="9" name="Text 7"/>
          <p:cNvSpPr/>
          <p:nvPr/>
        </p:nvSpPr>
        <p:spPr>
          <a:xfrm>
            <a:off x="5597009" y="3324820"/>
            <a:ext cx="352770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Structured Approach Required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97009" y="4172307"/>
            <a:ext cx="3527703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Follow systematic methodology from boundary identification through validation to ensure forensic soundness.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9633823" y="3055025"/>
            <a:ext cx="4158853" cy="3302198"/>
          </a:xfrm>
          <a:prstGeom prst="roundRect">
            <a:avLst>
              <a:gd name="adj" fmla="val 4431"/>
            </a:avLst>
          </a:prstGeom>
          <a:solidFill>
            <a:srgbClr val="100C35"/>
          </a:solidFill>
          <a:ln w="30480">
            <a:solidFill>
              <a:srgbClr val="261C4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3343" y="3055025"/>
            <a:ext cx="121920" cy="3302198"/>
          </a:xfrm>
          <a:prstGeom prst="roundRect">
            <a:avLst>
              <a:gd name="adj" fmla="val 29451"/>
            </a:avLst>
          </a:prstGeom>
          <a:solidFill>
            <a:srgbClr val="261C4E"/>
          </a:solidFill>
          <a:ln/>
        </p:spPr>
      </p:sp>
      <p:sp>
        <p:nvSpPr>
          <p:cNvPr id="13" name="Text 11"/>
          <p:cNvSpPr/>
          <p:nvPr/>
        </p:nvSpPr>
        <p:spPr>
          <a:xfrm>
            <a:off x="9995059" y="3324820"/>
            <a:ext cx="291822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Documentation Critical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995059" y="3820358"/>
            <a:ext cx="3527822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Maintain detailed logs of all recovery steps and tool outputs for court admissibility and peer review.</a:t>
            </a:r>
            <a:endParaRPr lang="en-US" sz="1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Analyzing Unallocated Space in Forensics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Uncovering hidden evidence in the unused sectors of macOS storage systems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3418" y="529114"/>
            <a:ext cx="6620351" cy="481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Understanding Unallocated Space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73418" y="1491139"/>
            <a:ext cx="2405301" cy="30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Definition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73418" y="1984177"/>
            <a:ext cx="5719405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Unused disk sectors not currently allocated to active files or file systems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73418" y="2792135"/>
            <a:ext cx="2405301" cy="30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Components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73418" y="3285173"/>
            <a:ext cx="5719405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Deleted file remnants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3418" y="3660219"/>
            <a:ext cx="5719405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File slack space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73418" y="4035266"/>
            <a:ext cx="5719405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Residual data fragments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3418" y="4410313"/>
            <a:ext cx="5719405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Overwritten blocks</a:t>
            </a:r>
            <a:endParaRPr lang="en-US" sz="15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9787" y="1515189"/>
            <a:ext cx="7094696" cy="511885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869787" y="6850499"/>
            <a:ext cx="7094696" cy="1125379"/>
          </a:xfrm>
          <a:prstGeom prst="roundRect">
            <a:avLst>
              <a:gd name="adj" fmla="val 7182"/>
            </a:avLst>
          </a:prstGeom>
          <a:solidFill>
            <a:srgbClr val="1E0C41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2192" y="7128391"/>
            <a:ext cx="240506" cy="19240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95103" y="7091005"/>
            <a:ext cx="6276975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Forensic Value:</a:t>
            </a:r>
            <a:r>
              <a:rPr lang="en-US" sz="15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Unallocated space often contains critical evidence that users believed was permanently deleted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24325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55" y="2877264"/>
            <a:ext cx="6289715" cy="448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Types of Unallocated Data Artifacts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28055" y="3595092"/>
            <a:ext cx="6597372" cy="1767007"/>
          </a:xfrm>
          <a:prstGeom prst="roundRect">
            <a:avLst>
              <a:gd name="adj" fmla="val 4266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02" y="3782139"/>
            <a:ext cx="538401" cy="538401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3216" y="3930134"/>
            <a:ext cx="242173" cy="24217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15102" y="4499967"/>
            <a:ext cx="2578537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Deleted File Remnants</a:t>
            </a:r>
            <a:endParaRPr lang="en-US" sz="1750" dirty="0"/>
          </a:p>
        </p:txBody>
      </p:sp>
      <p:sp>
        <p:nvSpPr>
          <p:cNvPr id="8" name="Text 3"/>
          <p:cNvSpPr/>
          <p:nvPr/>
        </p:nvSpPr>
        <p:spPr>
          <a:xfrm>
            <a:off x="815102" y="4887992"/>
            <a:ext cx="6223278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Complete or partial files removed by user actions but not yet overwritten</a:t>
            </a:r>
            <a:endParaRPr lang="en-US" sz="1400" dirty="0"/>
          </a:p>
        </p:txBody>
      </p:sp>
      <p:sp>
        <p:nvSpPr>
          <p:cNvPr id="9" name="Shape 4"/>
          <p:cNvSpPr/>
          <p:nvPr/>
        </p:nvSpPr>
        <p:spPr>
          <a:xfrm>
            <a:off x="7404854" y="3595092"/>
            <a:ext cx="6597491" cy="1767007"/>
          </a:xfrm>
          <a:prstGeom prst="roundRect">
            <a:avLst>
              <a:gd name="adj" fmla="val 4266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1901" y="3782139"/>
            <a:ext cx="538401" cy="538401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40015" y="3930134"/>
            <a:ext cx="242173" cy="24217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591901" y="4499967"/>
            <a:ext cx="2253972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Residual Fragments</a:t>
            </a:r>
            <a:endParaRPr lang="en-US" sz="1750" dirty="0"/>
          </a:p>
        </p:txBody>
      </p:sp>
      <p:sp>
        <p:nvSpPr>
          <p:cNvPr id="13" name="Text 6"/>
          <p:cNvSpPr/>
          <p:nvPr/>
        </p:nvSpPr>
        <p:spPr>
          <a:xfrm>
            <a:off x="7591901" y="4887992"/>
            <a:ext cx="6223397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Data chunks from previous file operations, partial overwrites, or file truncation</a:t>
            </a:r>
            <a:endParaRPr lang="en-US" sz="1400" dirty="0"/>
          </a:p>
        </p:txBody>
      </p:sp>
      <p:sp>
        <p:nvSpPr>
          <p:cNvPr id="14" name="Shape 7"/>
          <p:cNvSpPr/>
          <p:nvPr/>
        </p:nvSpPr>
        <p:spPr>
          <a:xfrm>
            <a:off x="628055" y="5541526"/>
            <a:ext cx="6597372" cy="2054066"/>
          </a:xfrm>
          <a:prstGeom prst="roundRect">
            <a:avLst>
              <a:gd name="adj" fmla="val 3670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5102" y="5728573"/>
            <a:ext cx="538401" cy="538401"/>
          </a:xfrm>
          <a:prstGeom prst="rect">
            <a:avLst/>
          </a:prstGeom>
        </p:spPr>
      </p:pic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3216" y="5876568"/>
            <a:ext cx="242173" cy="242173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815102" y="6446401"/>
            <a:ext cx="2620685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Header/Footer Artifacts</a:t>
            </a:r>
            <a:endParaRPr lang="en-US" sz="1750" dirty="0"/>
          </a:p>
        </p:txBody>
      </p:sp>
      <p:sp>
        <p:nvSpPr>
          <p:cNvPr id="18" name="Text 9"/>
          <p:cNvSpPr/>
          <p:nvPr/>
        </p:nvSpPr>
        <p:spPr>
          <a:xfrm>
            <a:off x="815102" y="6834426"/>
            <a:ext cx="6223278" cy="574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File signatures enabling identification: JPEG (FF D8), PDF (25 50 44 46), ZIP (50 4B)</a:t>
            </a:r>
            <a:endParaRPr lang="en-US" sz="1400" dirty="0"/>
          </a:p>
        </p:txBody>
      </p:sp>
      <p:sp>
        <p:nvSpPr>
          <p:cNvPr id="19" name="Shape 10"/>
          <p:cNvSpPr/>
          <p:nvPr/>
        </p:nvSpPr>
        <p:spPr>
          <a:xfrm>
            <a:off x="7404854" y="5541526"/>
            <a:ext cx="6597491" cy="2054066"/>
          </a:xfrm>
          <a:prstGeom prst="roundRect">
            <a:avLst>
              <a:gd name="adj" fmla="val 3670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91901" y="5728573"/>
            <a:ext cx="538401" cy="538401"/>
          </a:xfrm>
          <a:prstGeom prst="rect">
            <a:avLst/>
          </a:prstGeom>
        </p:spPr>
      </p:pic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740015" y="5876568"/>
            <a:ext cx="242173" cy="242173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7591901" y="6446401"/>
            <a:ext cx="2243257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Overwritten Blocks</a:t>
            </a:r>
            <a:endParaRPr lang="en-US" sz="1750" dirty="0"/>
          </a:p>
        </p:txBody>
      </p:sp>
      <p:sp>
        <p:nvSpPr>
          <p:cNvPr id="23" name="Text 12"/>
          <p:cNvSpPr/>
          <p:nvPr/>
        </p:nvSpPr>
        <p:spPr>
          <a:xfrm>
            <a:off x="7591901" y="6834426"/>
            <a:ext cx="6223397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Sectors reused by file system; non-overwritten blocks retain original data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1737" y="441365"/>
            <a:ext cx="4662130" cy="401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Forensic Analysis Techniques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1737" y="1163717"/>
            <a:ext cx="160496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737" y="1413629"/>
            <a:ext cx="6673215" cy="228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1737" y="1539597"/>
            <a:ext cx="2302193" cy="250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Hex-Level Examination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561737" y="1886545"/>
            <a:ext cx="6673215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Raw sector analysis to identify file structures, magic numbers, and data patterns at byte level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395448" y="1163717"/>
            <a:ext cx="160496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5448" y="1413629"/>
            <a:ext cx="6673215" cy="228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95448" y="1539597"/>
            <a:ext cx="2006560" cy="250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File Carving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7395448" y="1886545"/>
            <a:ext cx="6673215" cy="513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Metadata-independent recovery using header/footer signatures to reconstruct files from fragments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61737" y="2680811"/>
            <a:ext cx="160496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2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737" y="2898696"/>
            <a:ext cx="6673215" cy="228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61737" y="3056692"/>
            <a:ext cx="2048351" cy="250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Signature Searching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561737" y="3403640"/>
            <a:ext cx="6673215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Automated scanning for known file type markers: JPEG, PDF, ZIP, PLIST, system logs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7395448" y="2680811"/>
            <a:ext cx="160496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2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5448" y="2898696"/>
            <a:ext cx="6673215" cy="228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395448" y="3056692"/>
            <a:ext cx="2006560" cy="250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Pattern Matching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7395448" y="3403640"/>
            <a:ext cx="6673215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Keyword searches, regular expressions, and entropy analysis to locate relevant evidence</a:t>
            </a:r>
            <a:endParaRPr lang="en-US" sz="12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737" y="4077653"/>
            <a:ext cx="6557724" cy="3908346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7518559" y="4077653"/>
            <a:ext cx="6557724" cy="938689"/>
          </a:xfrm>
          <a:prstGeom prst="roundRect">
            <a:avLst>
              <a:gd name="adj" fmla="val 7183"/>
            </a:avLst>
          </a:prstGeom>
          <a:solidFill>
            <a:srgbClr val="1E0C41"/>
          </a:solidFill>
          <a:ln/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9055" y="4313039"/>
            <a:ext cx="200620" cy="16049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040172" y="4342328"/>
            <a:ext cx="5875615" cy="513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Best Practice:</a:t>
            </a:r>
            <a:r>
              <a:rPr lang="en-US" sz="125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Combine multiple techniques to maximize data recovery and validation accuracy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3275" y="379690"/>
            <a:ext cx="3232190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Tools &amp; Documentation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83275" y="1070015"/>
            <a:ext cx="2429828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Essential Forensic Tools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83275" y="1691283"/>
            <a:ext cx="7363539" cy="1073110"/>
          </a:xfrm>
          <a:prstGeom prst="roundRect">
            <a:avLst>
              <a:gd name="adj" fmla="val 6817"/>
            </a:avLst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275" y="1676043"/>
            <a:ext cx="7363539" cy="6096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7935" y="1484233"/>
            <a:ext cx="414218" cy="414218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82236" y="1608534"/>
            <a:ext cx="165616" cy="16561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36508" y="2036445"/>
            <a:ext cx="1726049" cy="215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Scalpel / PhotoRec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636508" y="2390180"/>
            <a:ext cx="7057073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Open-source file carving utilities for signature-based recovery</a:t>
            </a:r>
            <a:endParaRPr lang="en-US" sz="1050" dirty="0"/>
          </a:p>
        </p:txBody>
      </p:sp>
      <p:sp>
        <p:nvSpPr>
          <p:cNvPr id="10" name="Shape 5"/>
          <p:cNvSpPr/>
          <p:nvPr/>
        </p:nvSpPr>
        <p:spPr>
          <a:xfrm>
            <a:off x="483275" y="3109436"/>
            <a:ext cx="7363539" cy="1073110"/>
          </a:xfrm>
          <a:prstGeom prst="roundRect">
            <a:avLst>
              <a:gd name="adj" fmla="val 6817"/>
            </a:avLst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275" y="3094196"/>
            <a:ext cx="7363539" cy="60960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7935" y="2902387"/>
            <a:ext cx="414218" cy="414218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82236" y="3026688"/>
            <a:ext cx="165616" cy="165616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636508" y="3454598"/>
            <a:ext cx="1726049" cy="215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Autopsy / Sleuth Kit</a:t>
            </a:r>
            <a:endParaRPr lang="en-US" sz="1350" dirty="0"/>
          </a:p>
        </p:txBody>
      </p:sp>
      <p:sp>
        <p:nvSpPr>
          <p:cNvPr id="15" name="Text 7"/>
          <p:cNvSpPr/>
          <p:nvPr/>
        </p:nvSpPr>
        <p:spPr>
          <a:xfrm>
            <a:off x="636508" y="3808333"/>
            <a:ext cx="7057073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blkls for block extraction, strings command for text analysis</a:t>
            </a:r>
            <a:endParaRPr lang="en-US" sz="1050" dirty="0"/>
          </a:p>
        </p:txBody>
      </p:sp>
      <p:sp>
        <p:nvSpPr>
          <p:cNvPr id="16" name="Shape 8"/>
          <p:cNvSpPr/>
          <p:nvPr/>
        </p:nvSpPr>
        <p:spPr>
          <a:xfrm>
            <a:off x="483275" y="4527590"/>
            <a:ext cx="7363539" cy="1073110"/>
          </a:xfrm>
          <a:prstGeom prst="roundRect">
            <a:avLst>
              <a:gd name="adj" fmla="val 6817"/>
            </a:avLst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275" y="4512350"/>
            <a:ext cx="7363539" cy="60960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7935" y="4320540"/>
            <a:ext cx="414218" cy="414218"/>
          </a:xfrm>
          <a:prstGeom prst="rect">
            <a:avLst/>
          </a:prstGeom>
        </p:spPr>
      </p:pic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82236" y="4444841"/>
            <a:ext cx="165616" cy="165616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636508" y="4872752"/>
            <a:ext cx="2060138" cy="215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Magnet Axiom / EnCase</a:t>
            </a:r>
            <a:endParaRPr lang="en-US" sz="1350" dirty="0"/>
          </a:p>
        </p:txBody>
      </p:sp>
      <p:sp>
        <p:nvSpPr>
          <p:cNvPr id="21" name="Text 10"/>
          <p:cNvSpPr/>
          <p:nvPr/>
        </p:nvSpPr>
        <p:spPr>
          <a:xfrm>
            <a:off x="636508" y="5226487"/>
            <a:ext cx="7057073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Commercial platforms with advanced carving algorithms and reporting</a:t>
            </a:r>
            <a:endParaRPr lang="en-US" sz="1050" dirty="0"/>
          </a:p>
        </p:txBody>
      </p:sp>
      <p:sp>
        <p:nvSpPr>
          <p:cNvPr id="22" name="Shape 11"/>
          <p:cNvSpPr/>
          <p:nvPr/>
        </p:nvSpPr>
        <p:spPr>
          <a:xfrm>
            <a:off x="483275" y="5945743"/>
            <a:ext cx="7363539" cy="1073110"/>
          </a:xfrm>
          <a:prstGeom prst="roundRect">
            <a:avLst>
              <a:gd name="adj" fmla="val 6817"/>
            </a:avLst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275" y="5930503"/>
            <a:ext cx="7363539" cy="60960"/>
          </a:xfrm>
          <a:prstGeom prst="rect">
            <a:avLst/>
          </a:prstGeom>
        </p:spPr>
      </p:pic>
      <p:pic>
        <p:nvPicPr>
          <p:cNvPr id="24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7935" y="5738693"/>
            <a:ext cx="414218" cy="414218"/>
          </a:xfrm>
          <a:prstGeom prst="rect">
            <a:avLst/>
          </a:prstGeom>
        </p:spPr>
      </p:pic>
      <p:pic>
        <p:nvPicPr>
          <p:cNvPr id="25" name="Image 11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082236" y="5862995"/>
            <a:ext cx="165616" cy="165616"/>
          </a:xfrm>
          <a:prstGeom prst="rect">
            <a:avLst/>
          </a:prstGeom>
        </p:spPr>
      </p:pic>
      <p:sp>
        <p:nvSpPr>
          <p:cNvPr id="26" name="Text 12"/>
          <p:cNvSpPr/>
          <p:nvPr/>
        </p:nvSpPr>
        <p:spPr>
          <a:xfrm>
            <a:off x="636508" y="6290905"/>
            <a:ext cx="1726049" cy="215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Bulk Extractor</a:t>
            </a:r>
            <a:endParaRPr lang="en-US" sz="1350" dirty="0"/>
          </a:p>
        </p:txBody>
      </p:sp>
      <p:sp>
        <p:nvSpPr>
          <p:cNvPr id="27" name="Text 13"/>
          <p:cNvSpPr/>
          <p:nvPr/>
        </p:nvSpPr>
        <p:spPr>
          <a:xfrm>
            <a:off x="636508" y="6644640"/>
            <a:ext cx="7057073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Specialized tool for extracting emails, URLs, credit cards from raw data</a:t>
            </a:r>
            <a:endParaRPr lang="en-US" sz="1050" dirty="0"/>
          </a:p>
        </p:txBody>
      </p:sp>
      <p:sp>
        <p:nvSpPr>
          <p:cNvPr id="28" name="Text 14"/>
          <p:cNvSpPr/>
          <p:nvPr/>
        </p:nvSpPr>
        <p:spPr>
          <a:xfrm>
            <a:off x="8191143" y="1070015"/>
            <a:ext cx="2096810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Presenting Findings</a:t>
            </a:r>
            <a:endParaRPr lang="en-US" sz="1600" dirty="0"/>
          </a:p>
        </p:txBody>
      </p:sp>
      <p:sp>
        <p:nvSpPr>
          <p:cNvPr id="29" name="Shape 15"/>
          <p:cNvSpPr/>
          <p:nvPr/>
        </p:nvSpPr>
        <p:spPr>
          <a:xfrm>
            <a:off x="8191143" y="1484233"/>
            <a:ext cx="310634" cy="310634"/>
          </a:xfrm>
          <a:prstGeom prst="roundRect">
            <a:avLst>
              <a:gd name="adj" fmla="val 18670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30" name="Text 16"/>
          <p:cNvSpPr/>
          <p:nvPr/>
        </p:nvSpPr>
        <p:spPr>
          <a:xfrm>
            <a:off x="8242875" y="1510070"/>
            <a:ext cx="207050" cy="258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31" name="Text 17"/>
          <p:cNvSpPr/>
          <p:nvPr/>
        </p:nvSpPr>
        <p:spPr>
          <a:xfrm>
            <a:off x="8639770" y="1531620"/>
            <a:ext cx="2478167" cy="215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 Recovery Process</a:t>
            </a:r>
            <a:endParaRPr lang="en-US" sz="1350" dirty="0"/>
          </a:p>
        </p:txBody>
      </p:sp>
      <p:sp>
        <p:nvSpPr>
          <p:cNvPr id="32" name="Text 18"/>
          <p:cNvSpPr/>
          <p:nvPr/>
        </p:nvSpPr>
        <p:spPr>
          <a:xfrm>
            <a:off x="8639770" y="1885355"/>
            <a:ext cx="5514856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Chain of custody, tool versions, extraction timestamps, sector locations</a:t>
            </a:r>
            <a:endParaRPr lang="en-US" sz="1050" dirty="0"/>
          </a:p>
        </p:txBody>
      </p:sp>
      <p:sp>
        <p:nvSpPr>
          <p:cNvPr id="33" name="Shape 19"/>
          <p:cNvSpPr/>
          <p:nvPr/>
        </p:nvSpPr>
        <p:spPr>
          <a:xfrm>
            <a:off x="8191143" y="2382441"/>
            <a:ext cx="310634" cy="310634"/>
          </a:xfrm>
          <a:prstGeom prst="roundRect">
            <a:avLst>
              <a:gd name="adj" fmla="val 18670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34" name="Text 20"/>
          <p:cNvSpPr/>
          <p:nvPr/>
        </p:nvSpPr>
        <p:spPr>
          <a:xfrm>
            <a:off x="8242875" y="2408277"/>
            <a:ext cx="207050" cy="258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35" name="Text 21"/>
          <p:cNvSpPr/>
          <p:nvPr/>
        </p:nvSpPr>
        <p:spPr>
          <a:xfrm>
            <a:off x="8639770" y="2429828"/>
            <a:ext cx="1804988" cy="215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Validate Carved Data</a:t>
            </a:r>
            <a:endParaRPr lang="en-US" sz="1350" dirty="0"/>
          </a:p>
        </p:txBody>
      </p:sp>
      <p:sp>
        <p:nvSpPr>
          <p:cNvPr id="36" name="Text 22"/>
          <p:cNvSpPr/>
          <p:nvPr/>
        </p:nvSpPr>
        <p:spPr>
          <a:xfrm>
            <a:off x="8639770" y="2783562"/>
            <a:ext cx="5514856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Verify file integrity, cross-reference with metadata, hash validation</a:t>
            </a:r>
            <a:endParaRPr lang="en-US" sz="1050" dirty="0"/>
          </a:p>
        </p:txBody>
      </p:sp>
      <p:sp>
        <p:nvSpPr>
          <p:cNvPr id="37" name="Shape 23"/>
          <p:cNvSpPr/>
          <p:nvPr/>
        </p:nvSpPr>
        <p:spPr>
          <a:xfrm>
            <a:off x="8191143" y="3280648"/>
            <a:ext cx="310634" cy="310634"/>
          </a:xfrm>
          <a:prstGeom prst="roundRect">
            <a:avLst>
              <a:gd name="adj" fmla="val 18670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38" name="Text 24"/>
          <p:cNvSpPr/>
          <p:nvPr/>
        </p:nvSpPr>
        <p:spPr>
          <a:xfrm>
            <a:off x="8242875" y="3306485"/>
            <a:ext cx="207050" cy="258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39" name="Text 25"/>
          <p:cNvSpPr/>
          <p:nvPr/>
        </p:nvSpPr>
        <p:spPr>
          <a:xfrm>
            <a:off x="8639770" y="3328035"/>
            <a:ext cx="2684502" cy="215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Demonstrate Evidentiary Value</a:t>
            </a:r>
            <a:endParaRPr lang="en-US" sz="1350" dirty="0"/>
          </a:p>
        </p:txBody>
      </p:sp>
      <p:sp>
        <p:nvSpPr>
          <p:cNvPr id="40" name="Text 26"/>
          <p:cNvSpPr/>
          <p:nvPr/>
        </p:nvSpPr>
        <p:spPr>
          <a:xfrm>
            <a:off x="8639770" y="3681770"/>
            <a:ext cx="5514856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Contextualize findings within investigation scope, maintain audit trail</a:t>
            </a:r>
            <a:endParaRPr lang="en-US" sz="105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91143" y="4058007"/>
            <a:ext cx="5963483" cy="43123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4BC9EDE2-181B-3322-878E-DB40D7D8AD1D}"/>
              </a:ext>
            </a:extLst>
          </p:cNvPr>
          <p:cNvSpPr txBox="1"/>
          <p:nvPr/>
        </p:nvSpPr>
        <p:spPr>
          <a:xfrm>
            <a:off x="4815069" y="3676361"/>
            <a:ext cx="7315200" cy="600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6000" dirty="0">
                <a:solidFill>
                  <a:srgbClr val="F2F0F4"/>
                </a:solidFill>
                <a:latin typeface="Montserrat" pitchFamily="34" charset="0"/>
              </a:rPr>
              <a:t>THANKYOU</a:t>
            </a: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</TotalTime>
  <Words>933</Words>
  <Application>Microsoft Office PowerPoint</Application>
  <PresentationFormat>Custom</PresentationFormat>
  <Paragraphs>185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Kanit</vt:lpstr>
      <vt:lpstr>Kanit Light</vt:lpstr>
      <vt:lpstr>Calibri</vt:lpstr>
      <vt:lpstr>Montserrat</vt:lpstr>
      <vt:lpstr>Arial</vt:lpstr>
      <vt:lpstr>Montserrat Light</vt:lpstr>
      <vt:lpstr>Heebo Light</vt:lpstr>
      <vt:lpstr>Martel Sans Light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Rithika Mohanasundharam</dc:creator>
  <cp:lastModifiedBy>rithikaritz2004@gmail.com</cp:lastModifiedBy>
  <cp:revision>2</cp:revision>
  <dcterms:created xsi:type="dcterms:W3CDTF">2025-11-25T18:42:05Z</dcterms:created>
  <dcterms:modified xsi:type="dcterms:W3CDTF">2025-11-26T07:02:50Z</dcterms:modified>
</cp:coreProperties>
</file>