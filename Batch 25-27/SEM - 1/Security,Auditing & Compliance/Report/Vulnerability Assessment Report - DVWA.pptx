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Urbanist"/>
      <p:regular r:id="rId15"/>
      <p:bold r:id="rId16"/>
      <p:italic r:id="rId17"/>
      <p:boldItalic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.fntdata"/><Relationship Id="rId11" Type="http://schemas.openxmlformats.org/officeDocument/2006/relationships/slide" Target="slides/slide6.xml"/><Relationship Id="rId22" Type="http://schemas.openxmlformats.org/officeDocument/2006/relationships/font" Target="fonts/JetBrainsMono-bold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regular.fntdata"/><Relationship Id="rId14" Type="http://schemas.openxmlformats.org/officeDocument/2006/relationships/slide" Target="slides/slide9.xml"/><Relationship Id="rId17" Type="http://schemas.openxmlformats.org/officeDocument/2006/relationships/font" Target="fonts/Urbanist-italic.fntdata"/><Relationship Id="rId16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regular.fntdata"/><Relationship Id="rId6" Type="http://schemas.openxmlformats.org/officeDocument/2006/relationships/slide" Target="slides/slide1.xml"/><Relationship Id="rId18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10" Type="http://schemas.openxmlformats.org/officeDocument/2006/relationships/image" Target="../media/image25.png"/><Relationship Id="rId9" Type="http://schemas.openxmlformats.org/officeDocument/2006/relationships/image" Target="../media/image21.png"/><Relationship Id="rId5" Type="http://schemas.openxmlformats.org/officeDocument/2006/relationships/image" Target="../media/image2.png"/><Relationship Id="rId6" Type="http://schemas.openxmlformats.org/officeDocument/2006/relationships/image" Target="../media/image31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66775" y="1222176"/>
            <a:ext cx="8277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CONFIDENTIAL REPORT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66775" y="1622226"/>
            <a:ext cx="8691086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Vulnerability Assessment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Damn Vulnerable Web App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66775" y="3153667"/>
            <a:ext cx="7620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comprehensive static &amp; dynamic security review of the DVWA GitHub repository.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66775" y="5429994"/>
            <a:ext cx="82772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Date: 8th November 2025 | Target: github.com/charudatta10/DVWA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866775" y="4269878"/>
            <a:ext cx="2505075" cy="483840"/>
          </a:xfrm>
          <a:prstGeom prst="roundRect">
            <a:avLst>
              <a:gd fmla="val 7874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300188" y="4407841"/>
            <a:ext cx="212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Varia Neel Jitesh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3752850" y="4269878"/>
            <a:ext cx="2295525" cy="483840"/>
          </a:xfrm>
          <a:prstGeom prst="roundRect">
            <a:avLst>
              <a:gd fmla="val 7874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186188" y="4407853"/>
            <a:ext cx="1914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Meet Dharnidhar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6429375" y="4269878"/>
            <a:ext cx="2714625" cy="483840"/>
          </a:xfrm>
          <a:prstGeom prst="roundRect">
            <a:avLst>
              <a:gd fmla="val 7874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838950" y="4407853"/>
            <a:ext cx="2333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Kuldeep Kumar Patel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66775" y="436512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66775" y="4744194"/>
            <a:ext cx="25050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4422278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3752850" y="436512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3752850" y="4744194"/>
            <a:ext cx="22955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0" name="Google Shape;1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5" y="4422278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6429375" y="436512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6429375" y="4744194"/>
            <a:ext cx="27146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4422278"/>
            <a:ext cx="219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443162"/>
            <a:ext cx="53721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43162"/>
            <a:ext cx="537210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876300" y="2833687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Overview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76300" y="3348037"/>
            <a:ext cx="4591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report details a security assessment of the DVWA repository. DVWA is intentionally designed with common web vulnerabilities to serve as an educational platform for security professionals and developers.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724650" y="2833687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Objectives</a:t>
            </a:r>
            <a:endParaRPr/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862262"/>
            <a:ext cx="19481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862262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7010400" y="3348037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Identify critical vulnerabilities in the codebase.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010400" y="3795712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Assign risk ratings based on impact and likelihood.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010400" y="4243387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Demonstrate potential exploitation scenarios.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010400" y="4691062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Provide actionable mitigation strategies.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724650" y="33480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724650" y="37957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724650" y="42433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724650" y="46910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76275" y="48577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485775" y="485775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491829"/>
            <a:ext cx="3549699" cy="2998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2491829"/>
            <a:ext cx="3549699" cy="2998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6674" y="2491829"/>
            <a:ext cx="3549699" cy="2998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79550" y="27871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1501393" y="3739604"/>
            <a:ext cx="151831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Static Analysis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81050" y="4311104"/>
            <a:ext cx="29591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Examination of PHP source code and directory structures to identify insecure coding practices and logic flaws.</a:t>
            </a:r>
            <a:endParaRPr/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27871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5231829" y="3739604"/>
            <a:ext cx="17283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Dynamic Testing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4616499" y="4311104"/>
            <a:ext cx="29591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Active exploitation of running modules across different security levels (Low, Medium, High) to verify vectors.</a:t>
            </a:r>
            <a:endParaRPr/>
          </a:p>
        </p:txBody>
      </p:sp>
      <p:pic>
        <p:nvPicPr>
          <p:cNvPr descr="image.png" id="140" name="Google Shape;14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50449" y="27871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9032583" y="3739604"/>
            <a:ext cx="17978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OWASP Mapping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451949" y="4311104"/>
            <a:ext cx="295914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Categorizing all identified findings against the OWASP Top 10 standard to ensure comprehensive coverage.</a:t>
            </a:r>
            <a:endParaRPr/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22425" y="297760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57875" y="297760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40949" y="297760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676275" y="48577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Assessment Methodology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485775" y="485775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85975"/>
            <a:ext cx="5372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5334000"/>
            <a:ext cx="5372101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485775" y="2000250"/>
            <a:ext cx="5372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SEVERITY: HIGH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OWASP A03: Injection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85775" y="2371725"/>
            <a:ext cx="5372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Description: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User-supplied input is embedded directly into SQL queries without sanitization, allowing attackers to manipulate the database structure.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85775" y="3476625"/>
            <a:ext cx="5640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Impact:</a:t>
            </a:r>
            <a:endParaRPr/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95500"/>
            <a:ext cx="53530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771525" y="3943350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Bypass authentication mechanisms.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71525" y="4391025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Extract sensitive data (passwords, tokens).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771525" y="4838700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Full database compromise.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66750" y="5476875"/>
            <a:ext cx="771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Mitigation: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485775" y="3943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485775" y="43910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485775" y="48387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76275" y="48577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SQL Injection (SQLi)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485775" y="485775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771525" y="581025"/>
            <a:ext cx="5340667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Cross-Site Scripting (XSS)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81025" y="581025"/>
            <a:ext cx="57150" cy="11049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581025" y="2309812"/>
            <a:ext cx="5276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SEVERITY: HIGH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OWASP A07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581025" y="2681287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Stored &amp; Reflected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581025" y="32337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application fails to sanitize output, allowing the injection of malicious JavaScript. Stored XSS persists in the database, affecting all visitors.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581025" y="43386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Impact: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Account takeover via session hijacking, UI defacement, and forced redirection to malicious sites.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581025" y="51387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Mitigation: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Implement Context-aware Output Encoding and Content Security Policy (CSP).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085975"/>
            <a:ext cx="5372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5181600"/>
            <a:ext cx="53721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" y="2095500"/>
            <a:ext cx="53530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6334125" y="2152650"/>
            <a:ext cx="5372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CA5A5"/>
                </a:solidFill>
                <a:latin typeface="Urbanist"/>
                <a:ea typeface="Urbanist"/>
                <a:cs typeface="Urbanist"/>
                <a:sym typeface="Urbanist"/>
              </a:rPr>
              <a:t>SEVERITY: CRITICAL</a:t>
            </a: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OWASP A03: Injection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334125" y="2524125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Description: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Application inputs (e.g., ping utility) are passed directly to OS-level commands without sanitization.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334125" y="3324225"/>
            <a:ext cx="5640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Impact: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619875" y="3790950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Remote Code Execution (RCE).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619875" y="4238625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Full server compromise.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619875" y="4686300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Potential root-level access.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515100" y="5324475"/>
            <a:ext cx="7715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Mitigation: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334125" y="3790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334125" y="42386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334125" y="46863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76275" y="48577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Command Injection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485775" y="485775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286000"/>
            <a:ext cx="537210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86000"/>
            <a:ext cx="537210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876300" y="2676525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8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Vulnerability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76300" y="3190875"/>
            <a:ext cx="4591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Severity: Medium | OWASP A05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76300" y="3686175"/>
            <a:ext cx="4591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Several administrative functions lack verification that the user intentionally submitted a request. An attacker can force an authenticated user to perform actions without their consent.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724650" y="2676525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Impact &amp; Fix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724650" y="3190875"/>
            <a:ext cx="45910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Impact: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Unauthorized password changes, forced administrative actions, and account manipulation.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724650" y="4200525"/>
            <a:ext cx="45910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Mitigation: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Implement anti-CSRF tokens (nonces) for all state-changing requests and enforce SameSite cookie policies.</a:t>
            </a:r>
            <a:endParaRPr/>
          </a:p>
        </p:txBody>
      </p:sp>
      <p:pic>
        <p:nvPicPr>
          <p:cNvPr descr="image.png" id="214" name="Google Shape;21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705100"/>
            <a:ext cx="3281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705100"/>
            <a:ext cx="26149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676275" y="48577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Cross-Site Request Forgery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485775" y="485775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85975"/>
            <a:ext cx="5372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5181600"/>
            <a:ext cx="53721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485775" y="2152650"/>
            <a:ext cx="5372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SEVERITY: MEDIUM-HIGH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485775" y="2524125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Description: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application permits weak passwords and lacks rate-limiting or account lockout mechanisms.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485775" y="3324225"/>
            <a:ext cx="5640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Impact:</a:t>
            </a:r>
            <a:endParaRPr/>
          </a:p>
        </p:txBody>
      </p:sp>
      <p:pic>
        <p:nvPicPr>
          <p:cNvPr descr="image.png" id="228" name="Google Shape;22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95500"/>
            <a:ext cx="53530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771525" y="3790950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Susceptibility to Brute Force attacks.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771525" y="4238625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Credential stuffing vulnerability.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771525" y="4686300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Privilege escalation via account takeover.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66750" y="5324475"/>
            <a:ext cx="7715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Mitigation: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485775" y="3790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485775" y="42386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485775" y="46863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76275" y="48577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Broken Authentication</a:t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485775" y="485775"/>
            <a:ext cx="57150" cy="5524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242887" y="1713607"/>
            <a:ext cx="1170622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809750" y="3113782"/>
            <a:ext cx="85725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DVWA application successfully demonstrates critical vulnerabilities by design. This assessment highlights the necessity of secure coding practices—input validation, output encoding, and robust authentication—to prevent real-world exploitation.</a:t>
            </a:r>
            <a:endParaRPr/>
          </a:p>
        </p:txBody>
      </p:sp>
      <p:pic>
        <p:nvPicPr>
          <p:cNvPr descr="image.png" id="245" name="Google Shape;2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4687044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