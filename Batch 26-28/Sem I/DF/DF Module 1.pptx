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5FDEE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B89E87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B89E87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5FDEE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B89E87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B89E87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5FDEE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B89E87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B89E87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5FDEE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B89E87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B89E87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B89E87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B89E87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694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8739" y="365587"/>
            <a:ext cx="6819900" cy="422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5FDEEE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2984" y="1355237"/>
            <a:ext cx="10885805" cy="2658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08740" y="6513572"/>
            <a:ext cx="139890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B89E87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694959" y="6503099"/>
            <a:ext cx="203834" cy="194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B89E87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sarang.rajvansh@nfsu.edu.in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hyperlink" Target="mailto:sarang.rajvansh@nfsu.edu.in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3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36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3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38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35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1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4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45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6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47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27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png"/><Relationship Id="rId3" Type="http://schemas.openxmlformats.org/officeDocument/2006/relationships/image" Target="../media/image48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38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34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1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39.png"/><Relationship Id="rId4" Type="http://schemas.openxmlformats.org/officeDocument/2006/relationships/image" Target="../media/image33.png"/><Relationship Id="rId5" Type="http://schemas.openxmlformats.org/officeDocument/2006/relationships/image" Target="../media/image49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52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png"/><Relationship Id="rId3" Type="http://schemas.openxmlformats.org/officeDocument/2006/relationships/image" Target="../media/image32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33.png"/><Relationship Id="rId4" Type="http://schemas.openxmlformats.org/officeDocument/2006/relationships/image" Target="../media/image53.png"/><Relationship Id="rId5" Type="http://schemas.openxmlformats.org/officeDocument/2006/relationships/image" Target="../media/image35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7.pn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8.pn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34.png"/><Relationship Id="rId4" Type="http://schemas.openxmlformats.org/officeDocument/2006/relationships/image" Target="../media/image49.png"/><Relationship Id="rId5" Type="http://schemas.openxmlformats.org/officeDocument/2006/relationships/image" Target="../media/image27.pn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9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png"/><Relationship Id="rId3" Type="http://schemas.openxmlformats.org/officeDocument/2006/relationships/image" Target="../media/image48.pn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38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60.png"/><Relationship Id="rId4" Type="http://schemas.openxmlformats.org/officeDocument/2006/relationships/image" Target="../media/image49.png"/><Relationship Id="rId5" Type="http://schemas.openxmlformats.org/officeDocument/2006/relationships/image" Target="../media/image34.pn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35.png"/><Relationship Id="rId4" Type="http://schemas.openxmlformats.org/officeDocument/2006/relationships/image" Target="../media/image29.png"/><Relationship Id="rId5" Type="http://schemas.openxmlformats.org/officeDocument/2006/relationships/image" Target="../media/image40.pn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52.pn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52.pn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35.png"/><Relationship Id="rId4" Type="http://schemas.openxmlformats.org/officeDocument/2006/relationships/image" Target="../media/image29.png"/><Relationship Id="rId5" Type="http://schemas.openxmlformats.org/officeDocument/2006/relationships/image" Target="../media/image40.pn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9.png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1.pn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62.png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62.png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35.png"/><Relationship Id="rId4" Type="http://schemas.openxmlformats.org/officeDocument/2006/relationships/image" Target="../media/image29.png"/><Relationship Id="rId5" Type="http://schemas.openxmlformats.org/officeDocument/2006/relationships/image" Target="../media/image40.png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36.png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36.png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3.pn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40.png"/><Relationship Id="rId4" Type="http://schemas.openxmlformats.org/officeDocument/2006/relationships/image" Target="../media/image53.png"/><Relationship Id="rId5" Type="http://schemas.openxmlformats.org/officeDocument/2006/relationships/image" Target="../media/image39.png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38.png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sarang.rajvansh@nfsu.edu.in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18819" y="681767"/>
            <a:ext cx="4542790" cy="199643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75">
                <a:solidFill>
                  <a:srgbClr val="8AE244"/>
                </a:solidFill>
                <a:latin typeface="Times New Roman"/>
                <a:cs typeface="Times New Roman"/>
              </a:rPr>
              <a:t>Number</a:t>
            </a:r>
            <a:r>
              <a:rPr dirty="0" sz="4200" spc="-95">
                <a:solidFill>
                  <a:srgbClr val="8AE244"/>
                </a:solidFill>
                <a:latin typeface="Times New Roman"/>
                <a:cs typeface="Times New Roman"/>
              </a:rPr>
              <a:t> </a:t>
            </a:r>
            <a:r>
              <a:rPr dirty="0" sz="4200" spc="165">
                <a:solidFill>
                  <a:srgbClr val="8AE244"/>
                </a:solidFill>
                <a:latin typeface="Times New Roman"/>
                <a:cs typeface="Times New Roman"/>
              </a:rPr>
              <a:t>Systems</a:t>
            </a:r>
            <a:r>
              <a:rPr dirty="0" sz="4200" spc="-90">
                <a:solidFill>
                  <a:srgbClr val="8AE244"/>
                </a:solidFill>
                <a:latin typeface="Times New Roman"/>
                <a:cs typeface="Times New Roman"/>
              </a:rPr>
              <a:t> </a:t>
            </a:r>
            <a:r>
              <a:rPr dirty="0" sz="4200" spc="-720">
                <a:solidFill>
                  <a:srgbClr val="8AE244"/>
                </a:solidFill>
                <a:latin typeface="Times New Roman"/>
                <a:cs typeface="Times New Roman"/>
              </a:rPr>
              <a:t>Ç</a:t>
            </a:r>
            <a:endParaRPr sz="4200">
              <a:latin typeface="Times New Roman"/>
              <a:cs typeface="Times New Roman"/>
            </a:endParaRPr>
          </a:p>
          <a:p>
            <a:pPr marL="12700" marR="850265">
              <a:lnSpc>
                <a:spcPct val="103800"/>
              </a:lnSpc>
              <a:spcBef>
                <a:spcPts val="10"/>
              </a:spcBef>
            </a:pPr>
            <a:r>
              <a:rPr dirty="0" sz="4200" spc="320">
                <a:solidFill>
                  <a:srgbClr val="8AE244"/>
                </a:solidFill>
                <a:latin typeface="Times New Roman"/>
                <a:cs typeface="Times New Roman"/>
              </a:rPr>
              <a:t>Digital</a:t>
            </a:r>
            <a:r>
              <a:rPr dirty="0" sz="4200" spc="-110">
                <a:solidFill>
                  <a:srgbClr val="8AE244"/>
                </a:solidFill>
                <a:latin typeface="Times New Roman"/>
                <a:cs typeface="Times New Roman"/>
              </a:rPr>
              <a:t> </a:t>
            </a:r>
            <a:r>
              <a:rPr dirty="0" sz="4200" spc="415">
                <a:solidFill>
                  <a:srgbClr val="8AE244"/>
                </a:solidFill>
                <a:latin typeface="Times New Roman"/>
                <a:cs typeface="Times New Roman"/>
              </a:rPr>
              <a:t>Data </a:t>
            </a:r>
            <a:r>
              <a:rPr dirty="0" sz="4200" spc="90">
                <a:solidFill>
                  <a:srgbClr val="8AE244"/>
                </a:solidFill>
                <a:latin typeface="Times New Roman"/>
                <a:cs typeface="Times New Roman"/>
              </a:rPr>
              <a:t>Representation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8739" y="2900023"/>
            <a:ext cx="7445375" cy="139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b="1">
                <a:solidFill>
                  <a:srgbClr val="5FDEEE"/>
                </a:solidFill>
                <a:latin typeface="Cambria"/>
                <a:cs typeface="Cambria"/>
              </a:rPr>
              <a:t>Digital</a:t>
            </a:r>
            <a:r>
              <a:rPr dirty="0" sz="1900" spc="110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900" spc="-30" b="1">
                <a:solidFill>
                  <a:srgbClr val="5FDEEE"/>
                </a:solidFill>
                <a:latin typeface="Cambria"/>
                <a:cs typeface="Cambria"/>
              </a:rPr>
              <a:t>Forensics</a:t>
            </a:r>
            <a:r>
              <a:rPr dirty="0" sz="1900" spc="105" b="1">
                <a:solidFill>
                  <a:srgbClr val="5FDEEE"/>
                </a:solidFill>
                <a:latin typeface="Cambria"/>
                <a:cs typeface="Cambria"/>
              </a:rPr>
              <a:t> ·</a:t>
            </a:r>
            <a:r>
              <a:rPr dirty="0" sz="1900" spc="80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900" b="1">
                <a:solidFill>
                  <a:srgbClr val="5FDEEE"/>
                </a:solidFill>
                <a:latin typeface="Cambria"/>
                <a:cs typeface="Cambria"/>
              </a:rPr>
              <a:t>Unit</a:t>
            </a:r>
            <a:r>
              <a:rPr dirty="0" sz="1900" spc="100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900" spc="-180" b="1">
                <a:solidFill>
                  <a:srgbClr val="5FDEEE"/>
                </a:solidFill>
                <a:latin typeface="Cambria"/>
                <a:cs typeface="Cambria"/>
              </a:rPr>
              <a:t>1</a:t>
            </a:r>
            <a:r>
              <a:rPr dirty="0" sz="1900" spc="90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900" spc="105" b="1">
                <a:solidFill>
                  <a:srgbClr val="5FDEEE"/>
                </a:solidFill>
                <a:latin typeface="Cambria"/>
                <a:cs typeface="Cambria"/>
              </a:rPr>
              <a:t>·</a:t>
            </a:r>
            <a:r>
              <a:rPr dirty="0" sz="1900" spc="100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900" b="1">
                <a:solidFill>
                  <a:srgbClr val="5FDEEE"/>
                </a:solidFill>
                <a:latin typeface="Cambria"/>
                <a:cs typeface="Cambria"/>
              </a:rPr>
              <a:t>Session</a:t>
            </a:r>
            <a:r>
              <a:rPr dirty="0" sz="1900" spc="85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900" spc="-180" b="1">
                <a:solidFill>
                  <a:srgbClr val="5FDEEE"/>
                </a:solidFill>
                <a:latin typeface="Cambria"/>
                <a:cs typeface="Cambria"/>
              </a:rPr>
              <a:t>1</a:t>
            </a:r>
            <a:r>
              <a:rPr dirty="0" sz="1900" spc="95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900" b="1">
                <a:solidFill>
                  <a:srgbClr val="5FDEEE"/>
                </a:solidFill>
                <a:latin typeface="Cambria"/>
                <a:cs typeface="Cambria"/>
              </a:rPr>
              <a:t>of</a:t>
            </a:r>
            <a:r>
              <a:rPr dirty="0" sz="1900" spc="95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900" spc="-180" b="1">
                <a:solidFill>
                  <a:srgbClr val="5FDEEE"/>
                </a:solidFill>
                <a:latin typeface="Cambria"/>
                <a:cs typeface="Cambria"/>
              </a:rPr>
              <a:t>4</a:t>
            </a:r>
            <a:r>
              <a:rPr dirty="0" sz="1900" spc="80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900" spc="105" b="1">
                <a:solidFill>
                  <a:srgbClr val="5FDEEE"/>
                </a:solidFill>
                <a:latin typeface="Cambria"/>
                <a:cs typeface="Cambria"/>
              </a:rPr>
              <a:t>·</a:t>
            </a:r>
            <a:r>
              <a:rPr dirty="0" sz="1900" spc="95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900" spc="-180" b="1">
                <a:solidFill>
                  <a:srgbClr val="5FDEEE"/>
                </a:solidFill>
                <a:latin typeface="Cambria"/>
                <a:cs typeface="Cambria"/>
              </a:rPr>
              <a:t>2</a:t>
            </a:r>
            <a:r>
              <a:rPr dirty="0" sz="1900" spc="95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900" spc="-10" b="1">
                <a:solidFill>
                  <a:srgbClr val="5FDEEE"/>
                </a:solidFill>
                <a:latin typeface="Cambria"/>
                <a:cs typeface="Cambria"/>
              </a:rPr>
              <a:t>Hours</a:t>
            </a:r>
            <a:endParaRPr sz="1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solidFill>
                  <a:srgbClr val="FFFFFF"/>
                </a:solidFill>
                <a:latin typeface="Cambria"/>
                <a:cs typeface="Cambria"/>
              </a:rPr>
              <a:t>Mr.</a:t>
            </a:r>
            <a:r>
              <a:rPr dirty="0" sz="1400" spc="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mbria"/>
                <a:cs typeface="Cambria"/>
              </a:rPr>
              <a:t>Sarang</a:t>
            </a:r>
            <a:r>
              <a:rPr dirty="0" sz="1400" spc="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mbria"/>
                <a:cs typeface="Cambria"/>
              </a:rPr>
              <a:t>Rajvansh</a:t>
            </a:r>
            <a:r>
              <a:rPr dirty="0" sz="1400" spc="4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spc="400" b="1">
                <a:solidFill>
                  <a:srgbClr val="FFFFFF"/>
                </a:solidFill>
                <a:latin typeface="Cambria"/>
                <a:cs typeface="Cambria"/>
              </a:rPr>
              <a:t>|</a:t>
            </a:r>
            <a:r>
              <a:rPr dirty="0" sz="1400" spc="43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ambria"/>
                <a:cs typeface="Cambria"/>
              </a:rPr>
              <a:t>Assistant</a:t>
            </a:r>
            <a:r>
              <a:rPr dirty="0" sz="1400" spc="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Cambria"/>
                <a:cs typeface="Cambria"/>
              </a:rPr>
              <a:t>Professor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300">
                <a:solidFill>
                  <a:srgbClr val="B89E87"/>
                </a:solidFill>
                <a:latin typeface="Cambria"/>
                <a:cs typeface="Cambria"/>
              </a:rPr>
              <a:t>School</a:t>
            </a:r>
            <a:r>
              <a:rPr dirty="0" sz="1300" spc="17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B89E87"/>
                </a:solidFill>
                <a:latin typeface="Cambria"/>
                <a:cs typeface="Cambria"/>
              </a:rPr>
              <a:t>of</a:t>
            </a:r>
            <a:r>
              <a:rPr dirty="0" sz="1300" spc="16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B89E87"/>
                </a:solidFill>
                <a:latin typeface="Cambria"/>
                <a:cs typeface="Cambria"/>
              </a:rPr>
              <a:t>Cyber</a:t>
            </a:r>
            <a:r>
              <a:rPr dirty="0" sz="1300" spc="17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B89E87"/>
                </a:solidFill>
                <a:latin typeface="Cambria"/>
                <a:cs typeface="Cambria"/>
              </a:rPr>
              <a:t>Security</a:t>
            </a:r>
            <a:r>
              <a:rPr dirty="0" sz="1300" spc="16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300" spc="105">
                <a:solidFill>
                  <a:srgbClr val="B89E87"/>
                </a:solidFill>
                <a:latin typeface="Cambria"/>
                <a:cs typeface="Cambria"/>
              </a:rPr>
              <a:t>&amp;</a:t>
            </a:r>
            <a:r>
              <a:rPr dirty="0" sz="1300" spc="16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B89E87"/>
                </a:solidFill>
                <a:latin typeface="Cambria"/>
                <a:cs typeface="Cambria"/>
              </a:rPr>
              <a:t>Digital</a:t>
            </a:r>
            <a:r>
              <a:rPr dirty="0" sz="1300" spc="15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300" spc="-10">
                <a:solidFill>
                  <a:srgbClr val="B89E87"/>
                </a:solidFill>
                <a:latin typeface="Cambria"/>
                <a:cs typeface="Cambria"/>
              </a:rPr>
              <a:t>Forensics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300">
                <a:solidFill>
                  <a:srgbClr val="B89E87"/>
                </a:solidFill>
                <a:latin typeface="Cambria"/>
                <a:cs typeface="Cambria"/>
              </a:rPr>
              <a:t>National</a:t>
            </a:r>
            <a:r>
              <a:rPr dirty="0" sz="1300" spc="16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B89E87"/>
                </a:solidFill>
                <a:latin typeface="Cambria"/>
                <a:cs typeface="Cambria"/>
              </a:rPr>
              <a:t>Forensic</a:t>
            </a:r>
            <a:r>
              <a:rPr dirty="0" sz="1300" spc="15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B89E87"/>
                </a:solidFill>
                <a:latin typeface="Cambria"/>
                <a:cs typeface="Cambria"/>
              </a:rPr>
              <a:t>Sciences</a:t>
            </a:r>
            <a:r>
              <a:rPr dirty="0" sz="1300" spc="16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B89E87"/>
                </a:solidFill>
                <a:latin typeface="Cambria"/>
                <a:cs typeface="Cambria"/>
              </a:rPr>
              <a:t>University,</a:t>
            </a:r>
            <a:r>
              <a:rPr dirty="0" sz="1300" spc="19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B89E87"/>
                </a:solidFill>
                <a:latin typeface="Cambria"/>
                <a:cs typeface="Cambria"/>
              </a:rPr>
              <a:t>Gujarat</a:t>
            </a:r>
            <a:r>
              <a:rPr dirty="0" sz="1300" spc="15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300" spc="50">
                <a:solidFill>
                  <a:srgbClr val="B89E87"/>
                </a:solidFill>
                <a:latin typeface="Cambria"/>
                <a:cs typeface="Cambria"/>
              </a:rPr>
              <a:t>Campus,</a:t>
            </a:r>
            <a:r>
              <a:rPr dirty="0" sz="1300" spc="17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B89E87"/>
                </a:solidFill>
                <a:latin typeface="Cambria"/>
                <a:cs typeface="Cambria"/>
              </a:rPr>
              <a:t>Gandhinagar</a:t>
            </a:r>
            <a:r>
              <a:rPr dirty="0" sz="1300" spc="175">
                <a:solidFill>
                  <a:srgbClr val="B89E87"/>
                </a:solidFill>
                <a:latin typeface="Cambria"/>
                <a:cs typeface="Cambria"/>
              </a:rPr>
              <a:t>  </a:t>
            </a:r>
            <a:r>
              <a:rPr dirty="0" sz="1300" spc="65">
                <a:solidFill>
                  <a:srgbClr val="B89E87"/>
                </a:solidFill>
                <a:latin typeface="Cambria"/>
                <a:cs typeface="Cambria"/>
              </a:rPr>
              <a:t>·</a:t>
            </a:r>
            <a:r>
              <a:rPr dirty="0" sz="1300" spc="150">
                <a:solidFill>
                  <a:srgbClr val="B89E87"/>
                </a:solidFill>
                <a:latin typeface="Cambria"/>
                <a:cs typeface="Cambria"/>
              </a:rPr>
              <a:t>  </a:t>
            </a:r>
            <a:r>
              <a:rPr dirty="0" sz="1300" spc="-10">
                <a:solidFill>
                  <a:srgbClr val="B89E87"/>
                </a:solidFill>
                <a:latin typeface="Cambria"/>
                <a:cs typeface="Cambria"/>
                <a:hlinkClick r:id="rId2"/>
              </a:rPr>
              <a:t>sarang.rajvansh@nfsu.edu.in</a:t>
            </a:r>
            <a:endParaRPr sz="1300">
              <a:latin typeface="Cambria"/>
              <a:cs typeface="Cambria"/>
            </a:endParaRPr>
          </a:p>
        </p:txBody>
      </p:sp>
      <p:pic>
        <p:nvPicPr>
          <p:cNvPr id="4" name="object 4" descr="smile-yellow-trap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8021" y="5329999"/>
            <a:ext cx="1004817" cy="1169999"/>
          </a:xfrm>
          <a:prstGeom prst="rect">
            <a:avLst/>
          </a:prstGeom>
        </p:spPr>
      </p:pic>
      <p:pic>
        <p:nvPicPr>
          <p:cNvPr id="5" name="object 5" descr="talk-cyan-circle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37838" y="5329999"/>
            <a:ext cx="949887" cy="1169999"/>
          </a:xfrm>
          <a:prstGeom prst="rect">
            <a:avLst/>
          </a:prstGeom>
        </p:spPr>
      </p:pic>
      <p:pic>
        <p:nvPicPr>
          <p:cNvPr id="6" name="object 6" descr="smile-purple-rect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82733" y="5329999"/>
            <a:ext cx="569043" cy="1169999"/>
          </a:xfrm>
          <a:prstGeom prst="rect">
            <a:avLst/>
          </a:prstGeom>
        </p:spPr>
      </p:pic>
      <p:pic>
        <p:nvPicPr>
          <p:cNvPr id="7" name="object 7" descr="talk-green-pent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46778" y="5329999"/>
            <a:ext cx="905586" cy="1169999"/>
          </a:xfrm>
          <a:prstGeom prst="rect">
            <a:avLst/>
          </a:prstGeom>
        </p:spPr>
      </p:pic>
      <p:pic>
        <p:nvPicPr>
          <p:cNvPr id="8" name="object 8" descr="smile-blue-circle.pn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47373" y="5329999"/>
            <a:ext cx="951191" cy="1169999"/>
          </a:xfrm>
          <a:prstGeom prst="rect">
            <a:avLst/>
          </a:prstGeom>
        </p:spPr>
      </p:pic>
      <p:pic>
        <p:nvPicPr>
          <p:cNvPr id="9" name="object 9" descr="talk-coral-tri.png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3574" y="5329999"/>
            <a:ext cx="944181" cy="1169999"/>
          </a:xfrm>
          <a:prstGeom prst="rect">
            <a:avLst/>
          </a:prstGeom>
        </p:spPr>
      </p:pic>
      <p:pic>
        <p:nvPicPr>
          <p:cNvPr id="10" name="object 10" descr="smile-white-square.png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32754" y="5329999"/>
            <a:ext cx="678672" cy="1169999"/>
          </a:xfrm>
          <a:prstGeom prst="rect">
            <a:avLst/>
          </a:prstGeom>
        </p:spPr>
      </p:pic>
      <p:pic>
        <p:nvPicPr>
          <p:cNvPr id="11" name="object 11" descr="smile-yellow-pent.png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06436" y="5329999"/>
            <a:ext cx="906912" cy="1169999"/>
          </a:xfrm>
          <a:prstGeom prst="rect">
            <a:avLst/>
          </a:prstGeom>
        </p:spPr>
      </p:pic>
      <p:pic>
        <p:nvPicPr>
          <p:cNvPr id="12" name="object 12" descr="wow-sand-tri.png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08351" y="5329999"/>
            <a:ext cx="945502" cy="1169999"/>
          </a:xfrm>
          <a:prstGeom prst="rect">
            <a:avLst/>
          </a:prstGeom>
        </p:spPr>
      </p:pic>
      <p:pic>
        <p:nvPicPr>
          <p:cNvPr id="13" name="object 13" descr="talk-coral-trap.png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948855" y="5329999"/>
            <a:ext cx="1004818" cy="1169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760006"/>
            <a:ext cx="11429996" cy="481799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13335" y="1547675"/>
            <a:ext cx="974090" cy="42227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95">
                <a:solidFill>
                  <a:srgbClr val="8AE244"/>
                </a:solidFill>
                <a:latin typeface="Times New Roman"/>
                <a:cs typeface="Times New Roman"/>
              </a:rPr>
              <a:t>Hello!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30359" y="1955092"/>
            <a:ext cx="7136765" cy="1988185"/>
          </a:xfrm>
          <a:prstGeom prst="rect">
            <a:avLst/>
          </a:prstGeom>
        </p:spPr>
        <p:txBody>
          <a:bodyPr wrap="square" lIns="0" tIns="17526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380"/>
              </a:spcBef>
            </a:pPr>
            <a:r>
              <a:rPr dirty="0" sz="3000" spc="114" b="1">
                <a:solidFill>
                  <a:srgbClr val="FFFFFF"/>
                </a:solidFill>
                <a:latin typeface="Cambria"/>
                <a:cs typeface="Cambria"/>
              </a:rPr>
              <a:t>I</a:t>
            </a:r>
            <a:r>
              <a:rPr dirty="0" sz="3000" spc="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000" b="1">
                <a:solidFill>
                  <a:srgbClr val="FFFFFF"/>
                </a:solidFill>
                <a:latin typeface="Cambria"/>
                <a:cs typeface="Cambria"/>
              </a:rPr>
              <a:t>am</a:t>
            </a:r>
            <a:r>
              <a:rPr dirty="0" sz="3000" spc="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000" b="1">
                <a:solidFill>
                  <a:srgbClr val="FFFFFF"/>
                </a:solidFill>
                <a:latin typeface="Cambria"/>
                <a:cs typeface="Cambria"/>
              </a:rPr>
              <a:t>Sarang</a:t>
            </a:r>
            <a:r>
              <a:rPr dirty="0" sz="3000" spc="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000" spc="-10" b="1">
                <a:solidFill>
                  <a:srgbClr val="FFFFFF"/>
                </a:solidFill>
                <a:latin typeface="Cambria"/>
                <a:cs typeface="Cambria"/>
              </a:rPr>
              <a:t>Rajvansh</a:t>
            </a:r>
            <a:endParaRPr sz="3000">
              <a:latin typeface="Cambria"/>
              <a:cs typeface="Cambria"/>
            </a:endParaRPr>
          </a:p>
          <a:p>
            <a:pPr algn="ctr" marL="1905">
              <a:lnSpc>
                <a:spcPct val="100000"/>
              </a:lnSpc>
              <a:spcBef>
                <a:spcPts val="765"/>
              </a:spcBef>
            </a:pPr>
            <a:r>
              <a:rPr dirty="0" sz="1800">
                <a:solidFill>
                  <a:srgbClr val="5FDEEE"/>
                </a:solidFill>
                <a:latin typeface="Cambria"/>
                <a:cs typeface="Cambria"/>
              </a:rPr>
              <a:t>Assistant</a:t>
            </a:r>
            <a:r>
              <a:rPr dirty="0" sz="1800" spc="275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800" spc="-10">
                <a:solidFill>
                  <a:srgbClr val="5FDEEE"/>
                </a:solidFill>
                <a:latin typeface="Cambria"/>
                <a:cs typeface="Cambria"/>
              </a:rPr>
              <a:t>Professor,</a:t>
            </a:r>
            <a:endParaRPr sz="1800">
              <a:latin typeface="Cambria"/>
              <a:cs typeface="Cambria"/>
            </a:endParaRPr>
          </a:p>
          <a:p>
            <a:pPr algn="ctr" marL="1905">
              <a:lnSpc>
                <a:spcPct val="100000"/>
              </a:lnSpc>
              <a:spcBef>
                <a:spcPts val="300"/>
              </a:spcBef>
            </a:pP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School</a:t>
            </a:r>
            <a:r>
              <a:rPr dirty="0" sz="18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8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Cambria"/>
                <a:cs typeface="Cambria"/>
              </a:rPr>
              <a:t>Cyber</a:t>
            </a:r>
            <a:r>
              <a:rPr dirty="0" sz="18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FFFFFF"/>
                </a:solidFill>
                <a:latin typeface="Cambria"/>
                <a:cs typeface="Cambria"/>
              </a:rPr>
              <a:t>Security</a:t>
            </a:r>
            <a:r>
              <a:rPr dirty="0" sz="18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160">
                <a:solidFill>
                  <a:srgbClr val="FFFFFF"/>
                </a:solidFill>
                <a:latin typeface="Cambria"/>
                <a:cs typeface="Cambria"/>
              </a:rPr>
              <a:t>&amp;</a:t>
            </a:r>
            <a:r>
              <a:rPr dirty="0" sz="18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Cambria"/>
                <a:cs typeface="Cambria"/>
              </a:rPr>
              <a:t>Digital</a:t>
            </a:r>
            <a:r>
              <a:rPr dirty="0" sz="18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mbria"/>
                <a:cs typeface="Cambria"/>
              </a:rPr>
              <a:t>Forensics,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dirty="0" sz="1800" spc="45">
                <a:solidFill>
                  <a:srgbClr val="FFFFFF"/>
                </a:solidFill>
                <a:latin typeface="Cambria"/>
                <a:cs typeface="Cambria"/>
              </a:rPr>
              <a:t>National</a:t>
            </a:r>
            <a:r>
              <a:rPr dirty="0" sz="18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10">
                <a:solidFill>
                  <a:srgbClr val="FFFFFF"/>
                </a:solidFill>
                <a:latin typeface="Cambria"/>
                <a:cs typeface="Cambria"/>
              </a:rPr>
              <a:t>Forensic</a:t>
            </a:r>
            <a:r>
              <a:rPr dirty="0" sz="1800" spc="1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10">
                <a:solidFill>
                  <a:srgbClr val="FFFFFF"/>
                </a:solidFill>
                <a:latin typeface="Cambria"/>
                <a:cs typeface="Cambria"/>
              </a:rPr>
              <a:t>Sciences</a:t>
            </a:r>
            <a:r>
              <a:rPr dirty="0" sz="18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10">
                <a:solidFill>
                  <a:srgbClr val="FFFFFF"/>
                </a:solidFill>
                <a:latin typeface="Cambria"/>
                <a:cs typeface="Cambria"/>
              </a:rPr>
              <a:t>University,</a:t>
            </a:r>
            <a:r>
              <a:rPr dirty="0" sz="18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10">
                <a:solidFill>
                  <a:srgbClr val="FFFFFF"/>
                </a:solidFill>
                <a:latin typeface="Cambria"/>
                <a:cs typeface="Cambria"/>
              </a:rPr>
              <a:t>Gujarat</a:t>
            </a:r>
            <a:r>
              <a:rPr dirty="0" sz="18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75">
                <a:solidFill>
                  <a:srgbClr val="FFFFFF"/>
                </a:solidFill>
                <a:latin typeface="Cambria"/>
                <a:cs typeface="Cambria"/>
              </a:rPr>
              <a:t>Campus,</a:t>
            </a:r>
            <a:r>
              <a:rPr dirty="0" sz="1800" spc="1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800" spc="45">
                <a:solidFill>
                  <a:srgbClr val="FFFFFF"/>
                </a:solidFill>
                <a:latin typeface="Cambria"/>
                <a:cs typeface="Cambria"/>
              </a:rPr>
              <a:t>Gandhinagar.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dirty="0" sz="1500" spc="75">
                <a:solidFill>
                  <a:srgbClr val="B89E87"/>
                </a:solidFill>
                <a:latin typeface="Cambria"/>
                <a:cs typeface="Cambria"/>
              </a:rPr>
              <a:t>You</a:t>
            </a:r>
            <a:r>
              <a:rPr dirty="0" sz="1500" spc="8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B89E87"/>
                </a:solidFill>
                <a:latin typeface="Cambria"/>
                <a:cs typeface="Cambria"/>
              </a:rPr>
              <a:t>can</a:t>
            </a:r>
            <a:r>
              <a:rPr dirty="0" sz="1500" spc="8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B89E87"/>
                </a:solidFill>
                <a:latin typeface="Cambria"/>
                <a:cs typeface="Cambria"/>
              </a:rPr>
              <a:t>find</a:t>
            </a:r>
            <a:r>
              <a:rPr dirty="0" sz="1500" spc="8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B89E87"/>
                </a:solidFill>
                <a:latin typeface="Cambria"/>
                <a:cs typeface="Cambria"/>
              </a:rPr>
              <a:t>me</a:t>
            </a:r>
            <a:r>
              <a:rPr dirty="0" sz="1500" spc="8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B89E87"/>
                </a:solidFill>
                <a:latin typeface="Cambria"/>
                <a:cs typeface="Cambria"/>
              </a:rPr>
              <a:t>at</a:t>
            </a:r>
            <a:r>
              <a:rPr dirty="0" sz="1500" spc="47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B89E87"/>
                </a:solidFill>
                <a:latin typeface="Cambria"/>
                <a:cs typeface="Cambria"/>
                <a:hlinkClick r:id="rId3"/>
              </a:rPr>
              <a:t>sarang.rajvansh@nfsu.edu.in</a:t>
            </a:r>
            <a:endParaRPr sz="1500">
              <a:latin typeface="Cambria"/>
              <a:cs typeface="Cambria"/>
            </a:endParaRPr>
          </a:p>
        </p:txBody>
      </p:sp>
      <p:pic>
        <p:nvPicPr>
          <p:cNvPr id="5" name="object 5" descr="smile-yellow-trap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57476" y="5679999"/>
            <a:ext cx="841641" cy="979994"/>
          </a:xfrm>
          <a:prstGeom prst="rect">
            <a:avLst/>
          </a:prstGeom>
        </p:spPr>
      </p:pic>
      <p:pic>
        <p:nvPicPr>
          <p:cNvPr id="6" name="object 6" descr="talk-cyan-circle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4126" y="5679999"/>
            <a:ext cx="795624" cy="979994"/>
          </a:xfrm>
          <a:prstGeom prst="rect">
            <a:avLst/>
          </a:prstGeom>
        </p:spPr>
      </p:pic>
      <p:pic>
        <p:nvPicPr>
          <p:cNvPr id="7" name="object 7" descr="smile-purple-rect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84752" y="5679999"/>
            <a:ext cx="476638" cy="979994"/>
          </a:xfrm>
          <a:prstGeom prst="rect">
            <a:avLst/>
          </a:prstGeom>
        </p:spPr>
      </p:pic>
      <p:pic>
        <p:nvPicPr>
          <p:cNvPr id="8" name="object 8" descr="talk-green-pent.pn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56392" y="5679999"/>
            <a:ext cx="758520" cy="979994"/>
          </a:xfrm>
          <a:prstGeom prst="rect">
            <a:avLst/>
          </a:prstGeom>
        </p:spPr>
      </p:pic>
      <p:pic>
        <p:nvPicPr>
          <p:cNvPr id="9" name="object 9" descr="smile-blue-circle.png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09922" y="5679999"/>
            <a:ext cx="796720" cy="979994"/>
          </a:xfrm>
          <a:prstGeom prst="rect">
            <a:avLst/>
          </a:prstGeom>
        </p:spPr>
      </p:pic>
      <p:pic>
        <p:nvPicPr>
          <p:cNvPr id="10" name="object 10" descr="talk-coral-tri.png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01652" y="5679999"/>
            <a:ext cx="790853" cy="979994"/>
          </a:xfrm>
          <a:prstGeom prst="rect">
            <a:avLst/>
          </a:prstGeom>
        </p:spPr>
      </p:pic>
      <p:pic>
        <p:nvPicPr>
          <p:cNvPr id="11" name="object 11" descr="smile-white-square.png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987514" y="5679999"/>
            <a:ext cx="568460" cy="979994"/>
          </a:xfrm>
          <a:prstGeom prst="rect">
            <a:avLst/>
          </a:prstGeom>
        </p:spPr>
      </p:pic>
      <p:pic>
        <p:nvPicPr>
          <p:cNvPr id="12" name="object 12" descr="smile-yellow-pent.png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50975" y="5679999"/>
            <a:ext cx="759636" cy="979994"/>
          </a:xfrm>
          <a:prstGeom prst="rect">
            <a:avLst/>
          </a:prstGeom>
        </p:spPr>
      </p:pic>
      <p:pic>
        <p:nvPicPr>
          <p:cNvPr id="13" name="object 13" descr="wow-sand-tri.png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505614" y="5679999"/>
            <a:ext cx="791954" cy="979994"/>
          </a:xfrm>
          <a:prstGeom prst="rect">
            <a:avLst/>
          </a:prstGeom>
        </p:spPr>
      </p:pic>
      <p:pic>
        <p:nvPicPr>
          <p:cNvPr id="14" name="object 14" descr="talk-coral-trap.png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392577" y="5679999"/>
            <a:ext cx="841641" cy="97999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0001" y="899999"/>
            <a:ext cx="9059989" cy="4719991"/>
          </a:xfrm>
          <a:prstGeom prst="rect">
            <a:avLst/>
          </a:prstGeom>
        </p:spPr>
      </p:pic>
      <p:pic>
        <p:nvPicPr>
          <p:cNvPr id="3" name="object 3" descr="talk-green-pent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9999" y="3560000"/>
            <a:ext cx="2105303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158739" y="1424063"/>
            <a:ext cx="2362200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/>
              <a:t>Today's</a:t>
            </a:r>
            <a:r>
              <a:rPr dirty="0" sz="2500" spc="-35"/>
              <a:t> </a:t>
            </a:r>
            <a:r>
              <a:rPr dirty="0" sz="2500" spc="-10"/>
              <a:t>Agenda</a:t>
            </a:r>
            <a:endParaRPr sz="2500"/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28843" y="2073103"/>
            <a:ext cx="5667375" cy="9398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Number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systems: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binary,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octal,</a:t>
            </a:r>
            <a:r>
              <a:rPr dirty="0" sz="1500" spc="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decimal,</a:t>
            </a:r>
            <a:r>
              <a:rPr dirty="0" sz="1500" spc="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hexadecimal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Conversions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between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number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systems,</a:t>
            </a:r>
            <a:r>
              <a:rPr dirty="0" sz="1500" spc="1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with</a:t>
            </a:r>
            <a:r>
              <a:rPr dirty="0" sz="1500" spc="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solved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examples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  <a:tab pos="1504315" algn="l"/>
                <a:tab pos="1914525" algn="l"/>
                <a:tab pos="2656205" algn="l"/>
                <a:tab pos="3641090" algn="l"/>
                <a:tab pos="462407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Operations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binary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numbers: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addition,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subtraction,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64239" y="2758903"/>
            <a:ext cx="12350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complements,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8843" y="2914351"/>
            <a:ext cx="6008370" cy="124206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372110">
              <a:lnSpc>
                <a:spcPct val="100000"/>
              </a:lnSpc>
              <a:spcBef>
                <a:spcPts val="685"/>
              </a:spcBef>
            </a:pP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multiplication,</a:t>
            </a:r>
            <a:r>
              <a:rPr dirty="0" sz="1500" spc="-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division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ordering: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little-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endian</a:t>
            </a:r>
            <a:r>
              <a:rPr dirty="0" sz="1500" spc="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big-endian</a:t>
            </a:r>
            <a:r>
              <a:rPr dirty="0" sz="1500" spc="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formats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Character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encoding:</a:t>
            </a:r>
            <a:r>
              <a:rPr dirty="0" sz="1500" spc="1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30" b="1">
                <a:solidFill>
                  <a:srgbClr val="FFFFFF"/>
                </a:solidFill>
                <a:latin typeface="Cambria"/>
                <a:cs typeface="Cambria"/>
              </a:rPr>
              <a:t>ASCII</a:t>
            </a:r>
            <a:r>
              <a:rPr dirty="0" sz="1500" spc="1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1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Unicode</a:t>
            </a:r>
            <a:r>
              <a:rPr dirty="0" sz="1500" spc="1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(UTF-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dirty="0" sz="1500" spc="1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UTF-</a:t>
            </a:r>
            <a:r>
              <a:rPr dirty="0" sz="1500" spc="-80" b="1">
                <a:solidFill>
                  <a:srgbClr val="FFFFFF"/>
                </a:solidFill>
                <a:latin typeface="Cambria"/>
                <a:cs typeface="Cambria"/>
              </a:rPr>
              <a:t>16,</a:t>
            </a:r>
            <a:r>
              <a:rPr dirty="0" sz="1500" spc="1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UTF-</a:t>
            </a:r>
            <a:r>
              <a:rPr dirty="0" sz="1500" spc="-25" b="1">
                <a:solidFill>
                  <a:srgbClr val="FFFFFF"/>
                </a:solidFill>
                <a:latin typeface="Cambria"/>
                <a:cs typeface="Cambria"/>
              </a:rPr>
              <a:t>32)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Practice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tasks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recap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at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end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section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17:39:20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Timing guide: number </a:t>
            </a:r>
            <a:r>
              <a:rPr dirty="0" sz="1000" spc="-10">
                <a:latin typeface="Microsoft Sans Serif"/>
                <a:cs typeface="Microsoft Sans Serif"/>
              </a:rPr>
              <a:t>systems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25 min, conversions 30 </a:t>
            </a:r>
            <a:r>
              <a:rPr dirty="0" sz="1000" spc="-20">
                <a:latin typeface="Microsoft Sans Serif"/>
                <a:cs typeface="Microsoft Sans Serif"/>
              </a:rPr>
              <a:t>min, </a:t>
            </a:r>
            <a:r>
              <a:rPr dirty="0" sz="1000">
                <a:latin typeface="Microsoft Sans Serif"/>
                <a:cs typeface="Microsoft Sans Serif"/>
              </a:rPr>
              <a:t>binary operations 25 </a:t>
            </a:r>
            <a:r>
              <a:rPr dirty="0" sz="1000" spc="-20">
                <a:latin typeface="Microsoft Sans Serif"/>
                <a:cs typeface="Microsoft Sans Serif"/>
              </a:rPr>
              <a:t>min, </a:t>
            </a:r>
            <a:r>
              <a:rPr dirty="0" sz="1000">
                <a:latin typeface="Microsoft Sans Serif"/>
                <a:cs typeface="Microsoft Sans Serif"/>
              </a:rPr>
              <a:t>endianness 15 min, </a:t>
            </a:r>
            <a:r>
              <a:rPr dirty="0" sz="1000" spc="-10">
                <a:latin typeface="Microsoft Sans Serif"/>
                <a:cs typeface="Microsoft Sans Serif"/>
              </a:rPr>
              <a:t>encodings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20 min, recap 5 </a:t>
            </a:r>
            <a:r>
              <a:rPr dirty="0" sz="1000" spc="-20">
                <a:latin typeface="Microsoft Sans Serif"/>
                <a:cs typeface="Microsoft Sans Serif"/>
              </a:rPr>
              <a:t>min.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r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999" y="899999"/>
            <a:ext cx="9059999" cy="4719991"/>
          </a:xfrm>
          <a:prstGeom prst="rect">
            <a:avLst/>
          </a:prstGeom>
        </p:spPr>
      </p:pic>
      <p:pic>
        <p:nvPicPr>
          <p:cNvPr id="3" name="object 3" descr="talk-blue-circle-L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60000" y="3560000"/>
            <a:ext cx="2208284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38739" y="1424063"/>
            <a:ext cx="5642610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>
                <a:solidFill>
                  <a:srgbClr val="FFDD41"/>
                </a:solidFill>
              </a:rPr>
              <a:t>Why</a:t>
            </a:r>
            <a:r>
              <a:rPr dirty="0" sz="2500" spc="100">
                <a:solidFill>
                  <a:srgbClr val="FFDD41"/>
                </a:solidFill>
              </a:rPr>
              <a:t> </a:t>
            </a:r>
            <a:r>
              <a:rPr dirty="0" sz="2500">
                <a:solidFill>
                  <a:srgbClr val="FFDD41"/>
                </a:solidFill>
              </a:rPr>
              <a:t>This</a:t>
            </a:r>
            <a:r>
              <a:rPr dirty="0" sz="2500" spc="105">
                <a:solidFill>
                  <a:srgbClr val="FFDD41"/>
                </a:solidFill>
              </a:rPr>
              <a:t> </a:t>
            </a:r>
            <a:r>
              <a:rPr dirty="0" sz="2500">
                <a:solidFill>
                  <a:srgbClr val="FFDD41"/>
                </a:solidFill>
              </a:rPr>
              <a:t>Session</a:t>
            </a:r>
            <a:r>
              <a:rPr dirty="0" sz="2500" spc="135">
                <a:solidFill>
                  <a:srgbClr val="FFDD41"/>
                </a:solidFill>
              </a:rPr>
              <a:t> </a:t>
            </a:r>
            <a:r>
              <a:rPr dirty="0" sz="2500" spc="-10">
                <a:solidFill>
                  <a:srgbClr val="FFDD41"/>
                </a:solidFill>
              </a:rPr>
              <a:t>Matters</a:t>
            </a:r>
            <a:r>
              <a:rPr dirty="0" sz="2500" spc="130">
                <a:solidFill>
                  <a:srgbClr val="FFDD41"/>
                </a:solidFill>
              </a:rPr>
              <a:t> </a:t>
            </a:r>
            <a:r>
              <a:rPr dirty="0" sz="2500">
                <a:solidFill>
                  <a:srgbClr val="FFDD41"/>
                </a:solidFill>
              </a:rPr>
              <a:t>in</a:t>
            </a:r>
            <a:r>
              <a:rPr dirty="0" sz="2500" spc="114">
                <a:solidFill>
                  <a:srgbClr val="FFDD41"/>
                </a:solidFill>
              </a:rPr>
              <a:t> </a:t>
            </a:r>
            <a:r>
              <a:rPr dirty="0" sz="2500" spc="-20">
                <a:solidFill>
                  <a:srgbClr val="FFDD41"/>
                </a:solidFill>
              </a:rPr>
              <a:t>Forensics</a:t>
            </a:r>
            <a:endParaRPr sz="2500"/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8843" y="2149303"/>
            <a:ext cx="7073900" cy="261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 marR="5080" indent="-360045">
              <a:lnSpc>
                <a:spcPct val="100000"/>
              </a:lnSpc>
              <a:spcBef>
                <a:spcPts val="1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artefact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you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will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ever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examine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(a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disk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image,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memory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dump,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packet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capture)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ultimately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just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bits</a:t>
            </a:r>
            <a:r>
              <a:rPr dirty="0" sz="1500" spc="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marL="372110" marR="5715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Hex</a:t>
            </a:r>
            <a:r>
              <a:rPr dirty="0" sz="1500" spc="3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editors</a:t>
            </a:r>
            <a:r>
              <a:rPr dirty="0" sz="1500" spc="3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such</a:t>
            </a:r>
            <a:r>
              <a:rPr dirty="0" sz="1500" spc="3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as</a:t>
            </a:r>
            <a:r>
              <a:rPr dirty="0" sz="1500" spc="3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WinHex,</a:t>
            </a:r>
            <a:r>
              <a:rPr dirty="0" sz="1500" spc="330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 spc="95" b="1">
                <a:solidFill>
                  <a:srgbClr val="FFDD41"/>
                </a:solidFill>
                <a:latin typeface="Cambria"/>
                <a:cs typeface="Cambria"/>
              </a:rPr>
              <a:t>HxD</a:t>
            </a:r>
            <a:r>
              <a:rPr dirty="0" sz="1500" spc="325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and</a:t>
            </a:r>
            <a:r>
              <a:rPr dirty="0" sz="1500" spc="325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 spc="60" b="1">
                <a:solidFill>
                  <a:srgbClr val="FFDD41"/>
                </a:solidFill>
                <a:latin typeface="Cambria"/>
                <a:cs typeface="Cambria"/>
              </a:rPr>
              <a:t>FTK</a:t>
            </a:r>
            <a:r>
              <a:rPr dirty="0" sz="1500" spc="330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Imager</a:t>
            </a:r>
            <a:r>
              <a:rPr dirty="0" sz="1500" spc="335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show</a:t>
            </a:r>
            <a:r>
              <a:rPr dirty="0" sz="1500" spc="3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evidence</a:t>
            </a:r>
            <a:r>
              <a:rPr dirty="0" sz="1500" spc="3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as</a:t>
            </a:r>
            <a:r>
              <a:rPr dirty="0" sz="1500" spc="3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raw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hexadecimal: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you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must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read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it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fluently.</a:t>
            </a:r>
            <a:endParaRPr sz="1500">
              <a:latin typeface="Cambria"/>
              <a:cs typeface="Cambria"/>
            </a:endParaRPr>
          </a:p>
          <a:p>
            <a:pPr marL="372110" marR="7620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File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signatures,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hash</a:t>
            </a:r>
            <a:r>
              <a:rPr dirty="0" sz="1500" spc="2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values,</a:t>
            </a:r>
            <a:r>
              <a:rPr dirty="0" sz="1500" spc="2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IP</a:t>
            </a:r>
            <a:r>
              <a:rPr dirty="0" sz="1500" spc="2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204">
                <a:solidFill>
                  <a:srgbClr val="FFFFFF"/>
                </a:solidFill>
                <a:latin typeface="Cambria"/>
                <a:cs typeface="Cambria"/>
              </a:rPr>
              <a:t>MAC</a:t>
            </a:r>
            <a:r>
              <a:rPr dirty="0" sz="1500" spc="2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addresses,</a:t>
            </a:r>
            <a:r>
              <a:rPr dirty="0" sz="1500" spc="22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timestamps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partition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tables</a:t>
            </a:r>
            <a:r>
              <a:rPr dirty="0" sz="1500" spc="-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all</a:t>
            </a:r>
            <a:r>
              <a:rPr dirty="0" sz="15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written</a:t>
            </a:r>
            <a:r>
              <a:rPr dirty="0" sz="1500" spc="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binary</a:t>
            </a:r>
            <a:r>
              <a:rPr dirty="0" sz="1500" spc="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hex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marL="372110" marR="8255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Interpreting</a:t>
            </a:r>
            <a:r>
              <a:rPr dirty="0" sz="1500" spc="1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value</a:t>
            </a:r>
            <a:r>
              <a:rPr dirty="0" sz="1500" spc="1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wrongly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(wrong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base,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wrong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</a:t>
            </a:r>
            <a:r>
              <a:rPr dirty="0" sz="1500" spc="1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order,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wrong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encoding)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silently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corrupt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entire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finding.</a:t>
            </a:r>
            <a:endParaRPr sz="1500">
              <a:latin typeface="Cambria"/>
              <a:cs typeface="Cambria"/>
            </a:endParaRPr>
          </a:p>
          <a:p>
            <a:pPr marL="372110" marR="6985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Forensic</a:t>
            </a:r>
            <a:r>
              <a:rPr dirty="0" sz="1500" spc="325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angle:</a:t>
            </a:r>
            <a:r>
              <a:rPr dirty="0" sz="1500" spc="310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</a:t>
            </a:r>
            <a:r>
              <a:rPr dirty="0" sz="1500" spc="3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examiner</a:t>
            </a:r>
            <a:r>
              <a:rPr dirty="0" sz="1500" spc="3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who</a:t>
            </a:r>
            <a:r>
              <a:rPr dirty="0" sz="1500" spc="3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dirty="0" sz="1500" spc="3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decode</a:t>
            </a:r>
            <a:r>
              <a:rPr dirty="0" sz="1500" spc="3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raw</a:t>
            </a:r>
            <a:r>
              <a:rPr dirty="0" sz="1500" spc="3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500" spc="3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</a:t>
            </a:r>
            <a:r>
              <a:rPr dirty="0" sz="1500" spc="3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hand</a:t>
            </a:r>
            <a:r>
              <a:rPr dirty="0" sz="1500" spc="3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dirty="0" sz="1500" spc="3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verify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tools</a:t>
            </a:r>
            <a:r>
              <a:rPr dirty="0" sz="15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claim,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defend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it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court.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17:39:21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Motivate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with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WinHex </a:t>
            </a:r>
            <a:r>
              <a:rPr dirty="0" sz="1000">
                <a:latin typeface="Microsoft Sans Serif"/>
                <a:cs typeface="Microsoft Sans Serif"/>
              </a:rPr>
              <a:t>screenshot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projector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if </a:t>
            </a:r>
            <a:r>
              <a:rPr dirty="0" sz="1000">
                <a:latin typeface="Microsoft Sans Serif"/>
                <a:cs typeface="Microsoft Sans Serif"/>
              </a:rPr>
              <a:t>available.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Ask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who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has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opened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 </a:t>
            </a:r>
            <a:r>
              <a:rPr dirty="0" sz="1000">
                <a:latin typeface="Microsoft Sans Serif"/>
                <a:cs typeface="Microsoft Sans Serif"/>
              </a:rPr>
              <a:t>file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hex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editor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before.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720001"/>
            <a:ext cx="11429996" cy="4817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739" y="1082540"/>
            <a:ext cx="4702810" cy="42227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Bits,</a:t>
            </a:r>
            <a:r>
              <a:rPr dirty="0" spc="35"/>
              <a:t> </a:t>
            </a:r>
            <a:r>
              <a:rPr dirty="0" spc="60"/>
              <a:t>Nibbles,</a:t>
            </a:r>
            <a:r>
              <a:rPr dirty="0" spc="20"/>
              <a:t> </a:t>
            </a:r>
            <a:r>
              <a:rPr dirty="0"/>
              <a:t>Bytes</a:t>
            </a:r>
            <a:r>
              <a:rPr dirty="0" spc="25"/>
              <a:t> </a:t>
            </a:r>
            <a:r>
              <a:rPr dirty="0"/>
              <a:t>and</a:t>
            </a:r>
            <a:r>
              <a:rPr dirty="0" spc="25"/>
              <a:t> </a:t>
            </a:r>
            <a:r>
              <a:rPr dirty="0" spc="-10"/>
              <a:t>Words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843" y="1779304"/>
            <a:ext cx="10222865" cy="1938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 marR="5080" indent="-360045">
              <a:lnSpc>
                <a:spcPct val="100000"/>
              </a:lnSpc>
              <a:spcBef>
                <a:spcPts val="1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500" spc="2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(binary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digit)</a:t>
            </a:r>
            <a:r>
              <a:rPr dirty="0" sz="1500" spc="20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smallest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unit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digital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data:</a:t>
            </a:r>
            <a:r>
              <a:rPr dirty="0" sz="1500" spc="1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single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1500" spc="2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2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physically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voltage,</a:t>
            </a:r>
            <a:r>
              <a:rPr dirty="0" sz="1500" spc="20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charge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magnetic state.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nibble</a:t>
            </a:r>
            <a:r>
              <a:rPr dirty="0" sz="1500" spc="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group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r>
              <a:rPr dirty="0" sz="1500" spc="1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bits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exactly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one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hexadecimal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digit.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byte</a:t>
            </a:r>
            <a:r>
              <a:rPr dirty="0" sz="1500" spc="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group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dirty="0" sz="1500" spc="8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bits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smallest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addressable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unit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memory.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One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holds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one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0" b="1">
                <a:solidFill>
                  <a:srgbClr val="FFFFFF"/>
                </a:solidFill>
                <a:latin typeface="Cambria"/>
                <a:cs typeface="Cambria"/>
              </a:rPr>
              <a:t>256</a:t>
            </a:r>
            <a:r>
              <a:rPr dirty="0" sz="1500" spc="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values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5">
                <a:solidFill>
                  <a:srgbClr val="FFFFFF"/>
                </a:solidFill>
                <a:latin typeface="Cambria"/>
                <a:cs typeface="Cambria"/>
              </a:rPr>
              <a:t>(0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255).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word</a:t>
            </a:r>
            <a:r>
              <a:rPr dirty="0" sz="1500" spc="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natural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data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size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processor: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0" b="1">
                <a:solidFill>
                  <a:srgbClr val="FFFFFF"/>
                </a:solidFill>
                <a:latin typeface="Cambria"/>
                <a:cs typeface="Cambria"/>
              </a:rPr>
              <a:t>32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bits</a:t>
            </a:r>
            <a:r>
              <a:rPr dirty="0" sz="1500" spc="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0" b="1">
                <a:solidFill>
                  <a:srgbClr val="FFFFFF"/>
                </a:solidFill>
                <a:latin typeface="Cambria"/>
                <a:cs typeface="Cambria"/>
              </a:rPr>
              <a:t>64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bits</a:t>
            </a:r>
            <a:r>
              <a:rPr dirty="0" sz="1500" spc="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modern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CPUs.</a:t>
            </a:r>
            <a:endParaRPr sz="1500">
              <a:latin typeface="Cambria"/>
              <a:cs typeface="Cambria"/>
            </a:endParaRPr>
          </a:p>
          <a:p>
            <a:pPr marL="772795" indent="-300355">
              <a:lnSpc>
                <a:spcPct val="100000"/>
              </a:lnSpc>
              <a:spcBef>
                <a:spcPts val="305"/>
              </a:spcBef>
              <a:buClr>
                <a:srgbClr val="B89E87"/>
              </a:buClr>
              <a:buSzPct val="69230"/>
              <a:buFont typeface="Microsoft Sans Serif"/>
              <a:buChar char="▪"/>
              <a:tabLst>
                <a:tab pos="772795" algn="l"/>
              </a:tabLst>
            </a:pP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This</a:t>
            </a:r>
            <a:r>
              <a:rPr dirty="0" sz="13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3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dirty="0" sz="13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we</a:t>
            </a:r>
            <a:r>
              <a:rPr dirty="0" sz="13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speak</a:t>
            </a:r>
            <a:r>
              <a:rPr dirty="0" sz="13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3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65">
                <a:solidFill>
                  <a:srgbClr val="FFFFFF"/>
                </a:solidFill>
                <a:latin typeface="Cambria"/>
                <a:cs typeface="Cambria"/>
              </a:rPr>
              <a:t>32-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3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3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65">
                <a:solidFill>
                  <a:srgbClr val="FFFFFF"/>
                </a:solidFill>
                <a:latin typeface="Cambria"/>
                <a:cs typeface="Cambria"/>
              </a:rPr>
              <a:t>64-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3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operating</a:t>
            </a:r>
            <a:r>
              <a:rPr dirty="0" sz="13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mbria"/>
                <a:cs typeface="Cambria"/>
              </a:rPr>
              <a:t>systems.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-20" b="1">
                <a:solidFill>
                  <a:srgbClr val="FFDD41"/>
                </a:solidFill>
                <a:latin typeface="Cambria"/>
                <a:cs typeface="Cambria"/>
              </a:rPr>
              <a:t>Forensic</a:t>
            </a:r>
            <a:r>
              <a:rPr dirty="0" sz="1500" spc="65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angle:</a:t>
            </a:r>
            <a:r>
              <a:rPr dirty="0" sz="1500" spc="75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hex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editors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display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evidence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at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time,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as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two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hex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digits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(two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nibbles).</a:t>
            </a:r>
            <a:endParaRPr sz="1500">
              <a:latin typeface="Cambria"/>
              <a:cs typeface="Cambria"/>
            </a:endParaRPr>
          </a:p>
        </p:txBody>
      </p:sp>
      <p:pic>
        <p:nvPicPr>
          <p:cNvPr id="5" name="object 5" descr="smile-green-hex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5352" y="5759999"/>
            <a:ext cx="665080" cy="919997"/>
          </a:xfrm>
          <a:prstGeom prst="rect">
            <a:avLst/>
          </a:prstGeom>
        </p:spPr>
      </p:pic>
      <p:pic>
        <p:nvPicPr>
          <p:cNvPr id="6" name="object 6" descr="talk-coral-tri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85434" y="5759999"/>
            <a:ext cx="742429" cy="919997"/>
          </a:xfrm>
          <a:prstGeom prst="rect">
            <a:avLst/>
          </a:prstGeom>
        </p:spPr>
      </p:pic>
      <p:pic>
        <p:nvPicPr>
          <p:cNvPr id="7" name="object 7" descr="wow-sand-tri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22872" y="5759999"/>
            <a:ext cx="743470" cy="91999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20310" y="361016"/>
            <a:ext cx="375031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Units</a:t>
            </a:r>
            <a:r>
              <a:rPr dirty="0" sz="2700" spc="145"/>
              <a:t> </a:t>
            </a:r>
            <a:r>
              <a:rPr dirty="0" sz="2700" spc="55"/>
              <a:t>of</a:t>
            </a:r>
            <a:r>
              <a:rPr dirty="0" sz="2700" spc="130"/>
              <a:t> </a:t>
            </a:r>
            <a:r>
              <a:rPr dirty="0" sz="2700" spc="50"/>
              <a:t>Digital</a:t>
            </a:r>
            <a:r>
              <a:rPr dirty="0" sz="2700" spc="150"/>
              <a:t> </a:t>
            </a:r>
            <a:r>
              <a:rPr dirty="0" sz="2700" spc="-10"/>
              <a:t>Storage</a:t>
            </a:r>
            <a:endParaRPr sz="27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91084" y="1555248"/>
          <a:ext cx="10885805" cy="2149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0020"/>
                <a:gridCol w="2700020"/>
                <a:gridCol w="2700019"/>
                <a:gridCol w="2700020"/>
              </a:tblGrid>
              <a:tr h="429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50" spc="-2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Unit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9017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5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Decimal</a:t>
                      </a:r>
                      <a:r>
                        <a:rPr dirty="0" sz="1450" spc="135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-2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(SI)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9017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50" spc="-2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Unit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9017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5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Binary</a:t>
                      </a:r>
                      <a:r>
                        <a:rPr dirty="0" sz="1450" spc="-6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-2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(IEC)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9017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r>
                        <a:rPr dirty="0" sz="1400" spc="6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kilobyte</a:t>
                      </a:r>
                      <a:r>
                        <a:rPr dirty="0" sz="1400" spc="7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(KB)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 spc="-3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1,000</a:t>
                      </a:r>
                      <a:r>
                        <a:rPr dirty="0" sz="1400" spc="-4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bytes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r>
                        <a:rPr dirty="0" sz="1400" spc="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kibibyte</a:t>
                      </a:r>
                      <a:r>
                        <a:rPr dirty="0" sz="1400" spc="7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(KiB)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 spc="-3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1,024</a:t>
                      </a:r>
                      <a:r>
                        <a:rPr dirty="0" sz="1400" spc="-4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bytes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r>
                        <a:rPr dirty="0" sz="1400" spc="7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megabyte</a:t>
                      </a:r>
                      <a:r>
                        <a:rPr dirty="0" sz="1400" spc="8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(MB)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 spc="-6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1,000²</a:t>
                      </a:r>
                      <a:r>
                        <a:rPr dirty="0" sz="1400" spc="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bytes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r>
                        <a:rPr dirty="0" sz="1400" spc="4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mebibyte</a:t>
                      </a:r>
                      <a:r>
                        <a:rPr dirty="0" sz="1400" spc="6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(MiB)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 spc="-6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1,024²</a:t>
                      </a:r>
                      <a:r>
                        <a:rPr dirty="0" sz="1400" spc="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bytes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r>
                        <a:rPr dirty="0" sz="1400" spc="10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gigabyte</a:t>
                      </a:r>
                      <a:r>
                        <a:rPr dirty="0" sz="1400" spc="1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(GB)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 spc="-6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1,000³</a:t>
                      </a:r>
                      <a:r>
                        <a:rPr dirty="0" sz="1400" spc="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bytes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r>
                        <a:rPr dirty="0" sz="1400" spc="7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gibibyte</a:t>
                      </a:r>
                      <a:r>
                        <a:rPr dirty="0" sz="1400" spc="9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(GiB)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 spc="-6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1,024³</a:t>
                      </a:r>
                      <a:r>
                        <a:rPr dirty="0" sz="1400" spc="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bytes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r>
                        <a:rPr dirty="0" sz="1400" spc="-1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terabyte 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(TB)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1400" spc="-3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1,000</a:t>
                      </a:r>
                      <a:r>
                        <a:rPr dirty="0" sz="1400" spc="-3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⁴</a:t>
                      </a:r>
                      <a:r>
                        <a:rPr dirty="0" sz="1400" spc="-3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bytes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588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r>
                        <a:rPr dirty="0" sz="1400" spc="-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tebibyte</a:t>
                      </a:r>
                      <a:r>
                        <a:rPr dirty="0" sz="1400" spc="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(TiB)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dirty="0" sz="1400" spc="-3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1,024</a:t>
                      </a:r>
                      <a:r>
                        <a:rPr dirty="0" sz="1400" spc="-3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⁴</a:t>
                      </a:r>
                      <a:r>
                        <a:rPr dirty="0" sz="1400" spc="-3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bytes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588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" name="object 4" descr="smile-white-squar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6773" y="5859999"/>
            <a:ext cx="493049" cy="849994"/>
          </a:xfrm>
          <a:prstGeom prst="rect">
            <a:avLst/>
          </a:prstGeom>
        </p:spPr>
      </p:pic>
      <p:pic>
        <p:nvPicPr>
          <p:cNvPr id="5" name="object 5" descr="talk-blue-circl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44831" y="5859999"/>
            <a:ext cx="690079" cy="84999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17:39:23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Drive makers use decimal </a:t>
            </a:r>
            <a:r>
              <a:rPr dirty="0" sz="1000" spc="-10">
                <a:latin typeface="Microsoft Sans Serif"/>
                <a:cs typeface="Microsoft Sans Serif"/>
              </a:rPr>
              <a:t>units, </a:t>
            </a:r>
            <a:r>
              <a:rPr dirty="0" sz="1000">
                <a:latin typeface="Microsoft Sans Serif"/>
                <a:cs typeface="Microsoft Sans Serif"/>
              </a:rPr>
              <a:t>operating systems mostly </a:t>
            </a:r>
            <a:r>
              <a:rPr dirty="0" sz="1000" spc="-10">
                <a:latin typeface="Microsoft Sans Serif"/>
                <a:cs typeface="Microsoft Sans Serif"/>
              </a:rPr>
              <a:t>binary </a:t>
            </a:r>
            <a:r>
              <a:rPr dirty="0" sz="1000">
                <a:latin typeface="Microsoft Sans Serif"/>
                <a:cs typeface="Microsoft Sans Serif"/>
              </a:rPr>
              <a:t>units. A "500 GB" drive </a:t>
            </a:r>
            <a:r>
              <a:rPr dirty="0" sz="1000" spc="-10">
                <a:latin typeface="Microsoft Sans Serif"/>
                <a:cs typeface="Microsoft Sans Serif"/>
              </a:rPr>
              <a:t>shows </a:t>
            </a:r>
            <a:r>
              <a:rPr dirty="0" sz="1000">
                <a:latin typeface="Microsoft Sans Serif"/>
                <a:cs typeface="Microsoft Sans Serif"/>
              </a:rPr>
              <a:t>about 465.7 GB in </a:t>
            </a:r>
            <a:r>
              <a:rPr dirty="0" sz="1000" spc="-10">
                <a:latin typeface="Microsoft Sans Serif"/>
                <a:cs typeface="Microsoft Sans Serif"/>
              </a:rPr>
              <a:t>Windows </a:t>
            </a:r>
            <a:r>
              <a:rPr dirty="0" sz="1000">
                <a:latin typeface="Microsoft Sans Serif"/>
                <a:cs typeface="Microsoft Sans Serif"/>
              </a:rPr>
              <a:t>because Windows </a:t>
            </a:r>
            <a:r>
              <a:rPr dirty="0" sz="1000" spc="-10">
                <a:latin typeface="Microsoft Sans Serif"/>
                <a:cs typeface="Microsoft Sans Serif"/>
              </a:rPr>
              <a:t>actually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counts </a:t>
            </a:r>
            <a:r>
              <a:rPr dirty="0" sz="1000" spc="-20">
                <a:latin typeface="Microsoft Sans Serif"/>
                <a:cs typeface="Microsoft Sans Serif"/>
              </a:rPr>
              <a:t>GiB.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r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999" y="899999"/>
            <a:ext cx="9059999" cy="4719991"/>
          </a:xfrm>
          <a:prstGeom prst="rect">
            <a:avLst/>
          </a:prstGeom>
        </p:spPr>
      </p:pic>
      <p:pic>
        <p:nvPicPr>
          <p:cNvPr id="3" name="object 3" descr="talk-purple-rect-L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60000" y="3560000"/>
            <a:ext cx="1322920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38739" y="1424063"/>
            <a:ext cx="4617085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>
                <a:solidFill>
                  <a:srgbClr val="FFDD41"/>
                </a:solidFill>
              </a:rPr>
              <a:t>Why</a:t>
            </a:r>
            <a:r>
              <a:rPr dirty="0" sz="2500" spc="114">
                <a:solidFill>
                  <a:srgbClr val="FFDD41"/>
                </a:solidFill>
              </a:rPr>
              <a:t> </a:t>
            </a:r>
            <a:r>
              <a:rPr dirty="0" sz="2500" spc="-190">
                <a:solidFill>
                  <a:srgbClr val="FFDD41"/>
                </a:solidFill>
              </a:rPr>
              <a:t>"500</a:t>
            </a:r>
            <a:r>
              <a:rPr dirty="0" sz="2500" spc="110">
                <a:solidFill>
                  <a:srgbClr val="FFDD41"/>
                </a:solidFill>
              </a:rPr>
              <a:t> </a:t>
            </a:r>
            <a:r>
              <a:rPr dirty="0" sz="2500" spc="140">
                <a:solidFill>
                  <a:srgbClr val="FFDD41"/>
                </a:solidFill>
              </a:rPr>
              <a:t>GB"</a:t>
            </a:r>
            <a:r>
              <a:rPr dirty="0" sz="2500" spc="114">
                <a:solidFill>
                  <a:srgbClr val="FFDD41"/>
                </a:solidFill>
              </a:rPr>
              <a:t> </a:t>
            </a:r>
            <a:r>
              <a:rPr dirty="0" sz="2500">
                <a:solidFill>
                  <a:srgbClr val="FFDD41"/>
                </a:solidFill>
              </a:rPr>
              <a:t>Shows</a:t>
            </a:r>
            <a:r>
              <a:rPr dirty="0" sz="2500" spc="130">
                <a:solidFill>
                  <a:srgbClr val="FFDD41"/>
                </a:solidFill>
              </a:rPr>
              <a:t> </a:t>
            </a:r>
            <a:r>
              <a:rPr dirty="0" sz="2500">
                <a:solidFill>
                  <a:srgbClr val="FFDD41"/>
                </a:solidFill>
              </a:rPr>
              <a:t>as</a:t>
            </a:r>
            <a:r>
              <a:rPr dirty="0" sz="2500" spc="105">
                <a:solidFill>
                  <a:srgbClr val="FFDD41"/>
                </a:solidFill>
              </a:rPr>
              <a:t> </a:t>
            </a:r>
            <a:r>
              <a:rPr dirty="0" sz="2500" spc="-240">
                <a:solidFill>
                  <a:srgbClr val="FFDD41"/>
                </a:solidFill>
              </a:rPr>
              <a:t>465</a:t>
            </a:r>
            <a:r>
              <a:rPr dirty="0" sz="2500" spc="130">
                <a:solidFill>
                  <a:srgbClr val="FFDD41"/>
                </a:solidFill>
              </a:rPr>
              <a:t> </a:t>
            </a:r>
            <a:r>
              <a:rPr dirty="0" sz="2500" spc="210">
                <a:solidFill>
                  <a:srgbClr val="FFDD41"/>
                </a:solidFill>
              </a:rPr>
              <a:t>GB</a:t>
            </a:r>
            <a:endParaRPr sz="2500"/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8843" y="2149303"/>
            <a:ext cx="7071359" cy="154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 marR="5080" indent="-360045">
              <a:lnSpc>
                <a:spcPct val="100000"/>
              </a:lnSpc>
              <a:spcBef>
                <a:spcPts val="1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Storage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vendors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count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decimal</a:t>
            </a:r>
            <a:r>
              <a:rPr dirty="0" sz="1500" spc="1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units;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Windows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reports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sizes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binary</a:t>
            </a:r>
            <a:r>
              <a:rPr dirty="0" sz="1500" spc="1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units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while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still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labelling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them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KB,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MB,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GB.</a:t>
            </a:r>
            <a:endParaRPr sz="1500">
              <a:latin typeface="Cambria"/>
              <a:cs typeface="Cambria"/>
            </a:endParaRPr>
          </a:p>
          <a:p>
            <a:pPr marL="372110" marR="5080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Cambria"/>
                <a:cs typeface="Cambria"/>
              </a:rPr>
              <a:t>"500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GB"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drive</a:t>
            </a:r>
            <a:r>
              <a:rPr dirty="0" sz="1500" spc="1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Cambria"/>
                <a:cs typeface="Cambria"/>
              </a:rPr>
              <a:t>500,000,000,000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about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80" b="1">
                <a:solidFill>
                  <a:srgbClr val="FFFFFF"/>
                </a:solidFill>
                <a:latin typeface="Cambria"/>
                <a:cs typeface="Cambria"/>
              </a:rPr>
              <a:t>465.7</a:t>
            </a:r>
            <a:r>
              <a:rPr dirty="0" sz="1500" spc="18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90" b="1">
                <a:solidFill>
                  <a:srgbClr val="FFFFFF"/>
                </a:solidFill>
                <a:latin typeface="Cambria"/>
                <a:cs typeface="Cambria"/>
              </a:rPr>
              <a:t>GiB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which</a:t>
            </a:r>
            <a:r>
              <a:rPr dirty="0" sz="1500" spc="1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Windows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displays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as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60">
                <a:solidFill>
                  <a:srgbClr val="FFFFFF"/>
                </a:solidFill>
                <a:latin typeface="Cambria"/>
                <a:cs typeface="Cambria"/>
              </a:rPr>
              <a:t>"465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GB":</a:t>
            </a:r>
            <a:r>
              <a:rPr dirty="0" sz="1500" spc="1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nothing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missing.</a:t>
            </a:r>
            <a:endParaRPr sz="1500">
              <a:latin typeface="Cambria"/>
              <a:cs typeface="Cambria"/>
            </a:endParaRPr>
          </a:p>
          <a:p>
            <a:pPr marL="372110" marR="5715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Forensic</a:t>
            </a:r>
            <a:r>
              <a:rPr dirty="0" sz="1500" spc="204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angle:</a:t>
            </a:r>
            <a:r>
              <a:rPr dirty="0" sz="1500" spc="210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always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record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media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size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2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exact</a:t>
            </a:r>
            <a:r>
              <a:rPr dirty="0" sz="1500" spc="2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500" spc="20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2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total</a:t>
            </a:r>
            <a:r>
              <a:rPr dirty="0" sz="1500" spc="2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0" b="1">
                <a:solidFill>
                  <a:srgbClr val="FFFFFF"/>
                </a:solidFill>
                <a:latin typeface="Cambria"/>
                <a:cs typeface="Cambria"/>
              </a:rPr>
              <a:t>sectors</a:t>
            </a:r>
            <a:r>
              <a:rPr dirty="0" sz="1500" spc="2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in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your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notes,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never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rounded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GB.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720001"/>
            <a:ext cx="11429996" cy="4817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739" y="1082540"/>
            <a:ext cx="4098290" cy="42227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dirty="0" spc="60"/>
              <a:t> </a:t>
            </a:r>
            <a:r>
              <a:rPr dirty="0"/>
              <a:t>is</a:t>
            </a:r>
            <a:r>
              <a:rPr dirty="0" spc="85"/>
              <a:t> </a:t>
            </a:r>
            <a:r>
              <a:rPr dirty="0"/>
              <a:t>a</a:t>
            </a:r>
            <a:r>
              <a:rPr dirty="0" spc="95"/>
              <a:t> </a:t>
            </a:r>
            <a:r>
              <a:rPr dirty="0"/>
              <a:t>Number</a:t>
            </a:r>
            <a:r>
              <a:rPr dirty="0" spc="45"/>
              <a:t> </a:t>
            </a:r>
            <a:r>
              <a:rPr dirty="0" spc="-10"/>
              <a:t>System?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843" y="1703104"/>
            <a:ext cx="9439910" cy="185610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number</a:t>
            </a:r>
            <a:r>
              <a:rPr dirty="0" sz="1500" spc="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system</a:t>
            </a:r>
            <a:r>
              <a:rPr dirty="0" sz="1500" spc="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method</a:t>
            </a:r>
            <a:r>
              <a:rPr dirty="0" sz="1500" spc="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represent</a:t>
            </a:r>
            <a:r>
              <a:rPr dirty="0" sz="1500" spc="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(write)</a:t>
            </a:r>
            <a:r>
              <a:rPr dirty="0" sz="1500" spc="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numbers.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number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system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has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set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unique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symbols,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called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its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digits</a:t>
            </a:r>
            <a:r>
              <a:rPr dirty="0" sz="1500" spc="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literals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count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these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symbols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radix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base</a:t>
            </a:r>
            <a:r>
              <a:rPr dirty="0" sz="1500" spc="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number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system.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These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positional</a:t>
            </a:r>
            <a:r>
              <a:rPr dirty="0" sz="1500" spc="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number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systems: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value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each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digit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depends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upon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its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position</a:t>
            </a:r>
            <a:r>
              <a:rPr dirty="0" sz="1500" spc="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within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number.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Example: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555,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same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digit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worth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500,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Cambria"/>
                <a:cs typeface="Cambria"/>
              </a:rPr>
              <a:t>50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depending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where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it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stands.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Notation: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base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written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as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subscript,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e.g.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5">
                <a:solidFill>
                  <a:srgbClr val="FFFFFF"/>
                </a:solidFill>
                <a:latin typeface="Cambria"/>
                <a:cs typeface="Cambria"/>
              </a:rPr>
              <a:t>(101)</a:t>
            </a:r>
            <a:r>
              <a:rPr dirty="0" sz="1500" spc="-45">
                <a:solidFill>
                  <a:srgbClr val="FFFFFF"/>
                </a:solidFill>
                <a:latin typeface="Cambria Math"/>
                <a:cs typeface="Cambria Math"/>
              </a:rPr>
              <a:t>₂</a:t>
            </a:r>
            <a:r>
              <a:rPr dirty="0" sz="1500" spc="-45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5">
                <a:solidFill>
                  <a:srgbClr val="FFFFFF"/>
                </a:solidFill>
                <a:latin typeface="Cambria"/>
                <a:cs typeface="Cambria"/>
              </a:rPr>
              <a:t>(75)</a:t>
            </a:r>
            <a:r>
              <a:rPr dirty="0" sz="1500" spc="-35">
                <a:solidFill>
                  <a:srgbClr val="FFFFFF"/>
                </a:solidFill>
                <a:latin typeface="Cambria Math"/>
                <a:cs typeface="Cambria Math"/>
              </a:rPr>
              <a:t>₈</a:t>
            </a:r>
            <a:r>
              <a:rPr dirty="0" sz="1500" spc="-35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5">
                <a:solidFill>
                  <a:srgbClr val="FFFFFF"/>
                </a:solidFill>
                <a:latin typeface="Cambria"/>
                <a:cs typeface="Cambria"/>
              </a:rPr>
              <a:t>(240)</a:t>
            </a:r>
            <a:r>
              <a:rPr dirty="0" sz="1500" spc="-35">
                <a:solidFill>
                  <a:srgbClr val="FFFFFF"/>
                </a:solidFill>
                <a:latin typeface="Cambria Math"/>
                <a:cs typeface="Cambria Math"/>
              </a:rPr>
              <a:t>₁₀</a:t>
            </a:r>
            <a:r>
              <a:rPr dirty="0" sz="1500" spc="-35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(F0)</a:t>
            </a:r>
            <a:r>
              <a:rPr dirty="0" sz="1500" spc="-10">
                <a:solidFill>
                  <a:srgbClr val="FFFFFF"/>
                </a:solidFill>
                <a:latin typeface="Cambria Math"/>
                <a:cs typeface="Cambria Math"/>
              </a:rPr>
              <a:t>₁₆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</p:txBody>
      </p:sp>
      <p:pic>
        <p:nvPicPr>
          <p:cNvPr id="5" name="object 5" descr="smile-white-squar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16817" y="5759999"/>
            <a:ext cx="533653" cy="919997"/>
          </a:xfrm>
          <a:prstGeom prst="rect">
            <a:avLst/>
          </a:prstGeom>
        </p:spPr>
      </p:pic>
      <p:pic>
        <p:nvPicPr>
          <p:cNvPr id="6" name="object 6" descr="smile-yellow-pent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45480" y="5759999"/>
            <a:ext cx="713117" cy="919997"/>
          </a:xfrm>
          <a:prstGeom prst="rect">
            <a:avLst/>
          </a:prstGeom>
        </p:spPr>
      </p:pic>
      <p:pic>
        <p:nvPicPr>
          <p:cNvPr id="7" name="object 7" descr="smile-cyan-diamond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53606" y="5759999"/>
            <a:ext cx="721270" cy="91999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41090" y="361016"/>
            <a:ext cx="6508115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The</a:t>
            </a:r>
            <a:r>
              <a:rPr dirty="0" sz="2700" spc="55"/>
              <a:t> </a:t>
            </a:r>
            <a:r>
              <a:rPr dirty="0" sz="2700" spc="-10"/>
              <a:t>Four</a:t>
            </a:r>
            <a:r>
              <a:rPr dirty="0" sz="2700" spc="65"/>
              <a:t> </a:t>
            </a:r>
            <a:r>
              <a:rPr dirty="0" sz="2700"/>
              <a:t>Number</a:t>
            </a:r>
            <a:r>
              <a:rPr dirty="0" sz="2700" spc="70"/>
              <a:t> </a:t>
            </a:r>
            <a:r>
              <a:rPr dirty="0" sz="2700"/>
              <a:t>Systems</a:t>
            </a:r>
            <a:r>
              <a:rPr dirty="0" sz="2700" spc="75"/>
              <a:t> </a:t>
            </a:r>
            <a:r>
              <a:rPr dirty="0" sz="2700" spc="60"/>
              <a:t>of </a:t>
            </a:r>
            <a:r>
              <a:rPr dirty="0" sz="2700" spc="-10"/>
              <a:t>Computing</a:t>
            </a:r>
            <a:endParaRPr sz="27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91084" y="1355237"/>
          <a:ext cx="10885805" cy="2658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0595"/>
                <a:gridCol w="1009650"/>
                <a:gridCol w="2220595"/>
                <a:gridCol w="2119630"/>
                <a:gridCol w="3229610"/>
              </a:tblGrid>
              <a:tr h="419734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40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Number</a:t>
                      </a:r>
                      <a:r>
                        <a:rPr dirty="0" sz="1400" spc="9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system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890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400" spc="-2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Base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890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40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Digits</a:t>
                      </a:r>
                      <a:r>
                        <a:rPr dirty="0" sz="1400" spc="235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2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used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890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40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Example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890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40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Where</a:t>
                      </a:r>
                      <a:r>
                        <a:rPr dirty="0" sz="1400" spc="-3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you</a:t>
                      </a:r>
                      <a:r>
                        <a:rPr dirty="0" sz="1400" spc="-25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meet</a:t>
                      </a:r>
                      <a:r>
                        <a:rPr dirty="0" sz="1400" spc="-2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25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it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890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Binary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35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0,</a:t>
                      </a:r>
                      <a:r>
                        <a:rPr dirty="0" sz="1350" spc="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(11110000)</a:t>
                      </a: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₂</a:t>
                      </a:r>
                      <a:endParaRPr sz="1350">
                        <a:latin typeface="Cambria Math"/>
                        <a:cs typeface="Cambria Math"/>
                      </a:endParaRPr>
                    </a:p>
                  </a:txBody>
                  <a:tcPr marL="0" marR="0" marB="0" marT="9461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raw</a:t>
                      </a:r>
                      <a:r>
                        <a:rPr dirty="0" sz="1350" spc="14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data,</a:t>
                      </a:r>
                      <a:r>
                        <a:rPr dirty="0" sz="1350" spc="13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machine</a:t>
                      </a:r>
                      <a:r>
                        <a:rPr dirty="0" sz="1350" spc="1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spc="-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level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Octal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35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8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</a:t>
                      </a: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350" spc="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7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(360)</a:t>
                      </a: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₈</a:t>
                      </a:r>
                      <a:endParaRPr sz="1350">
                        <a:latin typeface="Cambria Math"/>
                        <a:cs typeface="Cambria Math"/>
                      </a:endParaRPr>
                    </a:p>
                  </a:txBody>
                  <a:tcPr marL="0" marR="0" marB="0" marT="9461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350" spc="6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Unix</a:t>
                      </a:r>
                      <a:r>
                        <a:rPr dirty="0" sz="1350" spc="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spc="15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/</a:t>
                      </a:r>
                      <a:r>
                        <a:rPr dirty="0" sz="1350" spc="4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spc="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Linux</a:t>
                      </a:r>
                      <a:r>
                        <a:rPr dirty="0" sz="1350" spc="3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permissions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Decimal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334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10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334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</a:t>
                      </a: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350" spc="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9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334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(240)</a:t>
                      </a: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₁₀</a:t>
                      </a:r>
                      <a:endParaRPr sz="1350">
                        <a:latin typeface="Cambria Math"/>
                        <a:cs typeface="Cambria Math"/>
                      </a:endParaRPr>
                    </a:p>
                  </a:txBody>
                  <a:tcPr marL="0" marR="0" marB="0" marT="9461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human</a:t>
                      </a:r>
                      <a:r>
                        <a:rPr dirty="0" sz="1350" spc="21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counting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334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Hexadecimal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334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16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334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</a:t>
                      </a:r>
                      <a:r>
                        <a:rPr dirty="0" sz="1350" spc="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350" spc="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9,</a:t>
                      </a:r>
                      <a:r>
                        <a:rPr dirty="0" sz="1350" spc="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spc="204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</a:t>
                      </a:r>
                      <a:r>
                        <a:rPr dirty="0" sz="1350" spc="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dirty="0" sz="1350" spc="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F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334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(F0)</a:t>
                      </a: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₁₆</a:t>
                      </a:r>
                      <a:endParaRPr sz="1350">
                        <a:latin typeface="Cambria Math"/>
                        <a:cs typeface="Cambria Math"/>
                      </a:endParaRPr>
                    </a:p>
                  </a:txBody>
                  <a:tcPr marL="0" marR="0" marB="0" marT="9461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hex</a:t>
                      </a:r>
                      <a:r>
                        <a:rPr dirty="0" sz="1350" spc="1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editors,</a:t>
                      </a:r>
                      <a:r>
                        <a:rPr dirty="0" sz="1350" spc="10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hashes,</a:t>
                      </a:r>
                      <a:r>
                        <a:rPr dirty="0" sz="1350" spc="114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spc="17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MAC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334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" name="object 4" descr="smile-white-squar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6773" y="5859999"/>
            <a:ext cx="493049" cy="849994"/>
          </a:xfrm>
          <a:prstGeom prst="rect">
            <a:avLst/>
          </a:prstGeom>
        </p:spPr>
      </p:pic>
      <p:pic>
        <p:nvPicPr>
          <p:cNvPr id="5" name="object 5" descr="talk-blue-circl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44831" y="5859999"/>
            <a:ext cx="690079" cy="84999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r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999" y="899999"/>
            <a:ext cx="9059999" cy="4719991"/>
          </a:xfrm>
          <a:prstGeom prst="rect">
            <a:avLst/>
          </a:prstGeom>
        </p:spPr>
      </p:pic>
      <p:pic>
        <p:nvPicPr>
          <p:cNvPr id="3" name="object 3" descr="talk-coral-trap-L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59999" y="3560000"/>
            <a:ext cx="2335988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38739" y="1424063"/>
            <a:ext cx="4629785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>
                <a:solidFill>
                  <a:srgbClr val="FFDD41"/>
                </a:solidFill>
              </a:rPr>
              <a:t>Binary</a:t>
            </a:r>
            <a:r>
              <a:rPr dirty="0" sz="2500" spc="35">
                <a:solidFill>
                  <a:srgbClr val="FFDD41"/>
                </a:solidFill>
              </a:rPr>
              <a:t> </a:t>
            </a:r>
            <a:r>
              <a:rPr dirty="0" sz="2500">
                <a:solidFill>
                  <a:srgbClr val="FFDD41"/>
                </a:solidFill>
              </a:rPr>
              <a:t>Number</a:t>
            </a:r>
            <a:r>
              <a:rPr dirty="0" sz="2500" spc="50">
                <a:solidFill>
                  <a:srgbClr val="FFDD41"/>
                </a:solidFill>
              </a:rPr>
              <a:t> </a:t>
            </a:r>
            <a:r>
              <a:rPr dirty="0" sz="2500">
                <a:solidFill>
                  <a:srgbClr val="FFDD41"/>
                </a:solidFill>
              </a:rPr>
              <a:t>System</a:t>
            </a:r>
            <a:r>
              <a:rPr dirty="0" sz="2500" spc="40">
                <a:solidFill>
                  <a:srgbClr val="FFDD41"/>
                </a:solidFill>
              </a:rPr>
              <a:t> </a:t>
            </a:r>
            <a:r>
              <a:rPr dirty="0" sz="2500" spc="-45">
                <a:solidFill>
                  <a:srgbClr val="FFDD41"/>
                </a:solidFill>
              </a:rPr>
              <a:t>(Base</a:t>
            </a:r>
            <a:r>
              <a:rPr dirty="0" sz="2500" spc="45">
                <a:solidFill>
                  <a:srgbClr val="FFDD41"/>
                </a:solidFill>
              </a:rPr>
              <a:t> </a:t>
            </a:r>
            <a:r>
              <a:rPr dirty="0" sz="2500" spc="-75">
                <a:solidFill>
                  <a:srgbClr val="FFDD41"/>
                </a:solidFill>
              </a:rPr>
              <a:t>2)</a:t>
            </a:r>
            <a:endParaRPr sz="2500"/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8843" y="2073103"/>
            <a:ext cx="7073265" cy="20066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Uses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only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two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digits: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50" b="1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1500" spc="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base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because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there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only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two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symbols.</a:t>
            </a:r>
            <a:endParaRPr sz="1500">
              <a:latin typeface="Cambria"/>
              <a:cs typeface="Cambria"/>
            </a:endParaRPr>
          </a:p>
          <a:p>
            <a:pPr marL="372110" marR="5080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Hardware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loves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binary: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transistor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dirty="0" sz="1500" spc="1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1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 b="1">
                <a:solidFill>
                  <a:srgbClr val="FFFFFF"/>
                </a:solidFill>
                <a:latin typeface="Cambria"/>
                <a:cs typeface="Cambria"/>
              </a:rPr>
              <a:t>off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capacitor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charged</a:t>
            </a:r>
            <a:r>
              <a:rPr dirty="0" sz="1500" spc="1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1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empty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,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magnetic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domain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north</a:t>
            </a:r>
            <a:r>
              <a:rPr dirty="0" sz="1500" spc="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south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Each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position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power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2: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...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dirty="0" sz="1500">
                <a:solidFill>
                  <a:srgbClr val="FFFFFF"/>
                </a:solidFill>
                <a:latin typeface="Cambria Math"/>
                <a:cs typeface="Cambria Math"/>
              </a:rPr>
              <a:t>⁴</a:t>
            </a:r>
            <a:r>
              <a:rPr dirty="0" sz="1500" spc="4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dirty="0" sz="1500" spc="-120">
                <a:solidFill>
                  <a:srgbClr val="FFFFFF"/>
                </a:solidFill>
                <a:latin typeface="Cambria"/>
                <a:cs typeface="Cambria"/>
              </a:rPr>
              <a:t>2³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20">
                <a:solidFill>
                  <a:srgbClr val="FFFFFF"/>
                </a:solidFill>
                <a:latin typeface="Cambria"/>
                <a:cs typeface="Cambria"/>
              </a:rPr>
              <a:t>2²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10">
                <a:solidFill>
                  <a:srgbClr val="FFFFFF"/>
                </a:solidFill>
                <a:latin typeface="Cambria"/>
                <a:cs typeface="Cambria"/>
              </a:rPr>
              <a:t>2¹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dirty="0" sz="1500">
                <a:solidFill>
                  <a:srgbClr val="FFFFFF"/>
                </a:solidFill>
                <a:latin typeface="Cambria Math"/>
                <a:cs typeface="Cambria Math"/>
              </a:rPr>
              <a:t>⁰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...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16,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4,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2,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1.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Example: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5">
                <a:solidFill>
                  <a:srgbClr val="FFFFFF"/>
                </a:solidFill>
                <a:latin typeface="Cambria"/>
                <a:cs typeface="Cambria"/>
              </a:rPr>
              <a:t>(1101)</a:t>
            </a:r>
            <a:r>
              <a:rPr dirty="0" sz="1500" spc="-75">
                <a:solidFill>
                  <a:srgbClr val="FFFFFF"/>
                </a:solidFill>
                <a:latin typeface="Cambria Math"/>
                <a:cs typeface="Cambria Math"/>
              </a:rPr>
              <a:t>₂</a:t>
            </a:r>
            <a:r>
              <a:rPr dirty="0" sz="150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+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+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+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(13)</a:t>
            </a:r>
            <a:r>
              <a:rPr dirty="0" sz="1500" spc="-10">
                <a:solidFill>
                  <a:srgbClr val="FFFFFF"/>
                </a:solidFill>
                <a:latin typeface="Cambria Math"/>
                <a:cs typeface="Cambria Math"/>
              </a:rPr>
              <a:t>₁₀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leftmost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20" b="1">
                <a:solidFill>
                  <a:srgbClr val="FFFFFF"/>
                </a:solidFill>
                <a:latin typeface="Cambria"/>
                <a:cs typeface="Cambria"/>
              </a:rPr>
              <a:t>MSB</a:t>
            </a:r>
            <a:r>
              <a:rPr dirty="0" sz="1500" spc="1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(most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significant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bit),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rightmost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 b="1">
                <a:solidFill>
                  <a:srgbClr val="FFFFFF"/>
                </a:solidFill>
                <a:latin typeface="Cambria"/>
                <a:cs typeface="Cambria"/>
              </a:rPr>
              <a:t>LSB</a:t>
            </a:r>
            <a:endParaRPr sz="1500">
              <a:latin typeface="Cambria"/>
              <a:cs typeface="Cambria"/>
            </a:endParaRPr>
          </a:p>
          <a:p>
            <a:pPr marL="372110">
              <a:lnSpc>
                <a:spcPct val="100000"/>
              </a:lnSpc>
            </a:pP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(least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significant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bit).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0001" y="899999"/>
            <a:ext cx="9059989" cy="4719991"/>
          </a:xfrm>
          <a:prstGeom prst="rect">
            <a:avLst/>
          </a:prstGeom>
        </p:spPr>
      </p:pic>
      <p:pic>
        <p:nvPicPr>
          <p:cNvPr id="3" name="object 3" descr="talk-cyan-circl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9999" y="3560000"/>
            <a:ext cx="2208285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158739" y="1424063"/>
            <a:ext cx="4437380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/>
              <a:t>Octal</a:t>
            </a:r>
            <a:r>
              <a:rPr dirty="0" sz="2500" spc="125"/>
              <a:t> </a:t>
            </a:r>
            <a:r>
              <a:rPr dirty="0" sz="2500"/>
              <a:t>Number</a:t>
            </a:r>
            <a:r>
              <a:rPr dirty="0" sz="2500" spc="130"/>
              <a:t> </a:t>
            </a:r>
            <a:r>
              <a:rPr dirty="0" sz="2500"/>
              <a:t>System</a:t>
            </a:r>
            <a:r>
              <a:rPr dirty="0" sz="2500" spc="110"/>
              <a:t> </a:t>
            </a:r>
            <a:r>
              <a:rPr dirty="0" sz="2500" spc="-45"/>
              <a:t>(Base</a:t>
            </a:r>
            <a:r>
              <a:rPr dirty="0" sz="2500" spc="114"/>
              <a:t> </a:t>
            </a:r>
            <a:r>
              <a:rPr dirty="0" sz="2500" spc="-85"/>
              <a:t>8)</a:t>
            </a:r>
            <a:endParaRPr sz="2500"/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28843" y="2071579"/>
            <a:ext cx="7073900" cy="200850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Uses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eight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digits: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1500" spc="8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8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Digits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not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exist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octal.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Each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position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power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8: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... </a:t>
            </a:r>
            <a:r>
              <a:rPr dirty="0" sz="1500" spc="-120">
                <a:solidFill>
                  <a:srgbClr val="FFFFFF"/>
                </a:solidFill>
                <a:latin typeface="Cambria"/>
                <a:cs typeface="Cambria"/>
              </a:rPr>
              <a:t>8²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10">
                <a:solidFill>
                  <a:srgbClr val="FFFFFF"/>
                </a:solidFill>
                <a:latin typeface="Cambria"/>
                <a:cs typeface="Cambria"/>
              </a:rPr>
              <a:t>8¹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dirty="0" sz="1500">
                <a:solidFill>
                  <a:srgbClr val="FFFFFF"/>
                </a:solidFill>
                <a:latin typeface="Cambria Math"/>
                <a:cs typeface="Cambria Math"/>
              </a:rPr>
              <a:t>⁰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...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64,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8,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1.</a:t>
            </a:r>
            <a:endParaRPr sz="1500">
              <a:latin typeface="Cambria"/>
              <a:cs typeface="Cambria"/>
            </a:endParaRPr>
          </a:p>
          <a:p>
            <a:pPr marL="372110" marR="5080" indent="-360045">
              <a:lnSpc>
                <a:spcPct val="100000"/>
              </a:lnSpc>
              <a:spcBef>
                <a:spcPts val="59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One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octal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digit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represents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exactly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0" b="1">
                <a:solidFill>
                  <a:srgbClr val="FFFFFF"/>
                </a:solidFill>
                <a:latin typeface="Cambria"/>
                <a:cs typeface="Cambria"/>
              </a:rPr>
              <a:t>three</a:t>
            </a:r>
            <a:r>
              <a:rPr dirty="0" sz="1500" spc="1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binary</a:t>
            </a:r>
            <a:r>
              <a:rPr dirty="0" sz="1500" spc="1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bits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which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made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octal</a:t>
            </a:r>
            <a:r>
              <a:rPr dirty="0" sz="15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popular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early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computers.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Example: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65">
                <a:solidFill>
                  <a:srgbClr val="FFFFFF"/>
                </a:solidFill>
                <a:latin typeface="Cambria"/>
                <a:cs typeface="Cambria"/>
              </a:rPr>
              <a:t>(17)</a:t>
            </a:r>
            <a:r>
              <a:rPr dirty="0" sz="1500" spc="-65">
                <a:solidFill>
                  <a:srgbClr val="FFFFFF"/>
                </a:solidFill>
                <a:latin typeface="Cambria Math"/>
                <a:cs typeface="Cambria Math"/>
              </a:rPr>
              <a:t>₈</a:t>
            </a:r>
            <a:r>
              <a:rPr dirty="0" sz="1500" spc="1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×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+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(15)</a:t>
            </a:r>
            <a:r>
              <a:rPr dirty="0" sz="1500" spc="-10">
                <a:solidFill>
                  <a:srgbClr val="FFFFFF"/>
                </a:solidFill>
                <a:latin typeface="Cambria Math"/>
                <a:cs typeface="Cambria Math"/>
              </a:rPr>
              <a:t>₁₀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-10" b="1">
                <a:solidFill>
                  <a:srgbClr val="FFDD41"/>
                </a:solidFill>
                <a:latin typeface="Cambria"/>
                <a:cs typeface="Cambria"/>
              </a:rPr>
              <a:t>Forensic</a:t>
            </a:r>
            <a:r>
              <a:rPr dirty="0" sz="1500" spc="95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angle:</a:t>
            </a:r>
            <a:r>
              <a:rPr dirty="0" sz="1500" spc="100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Linux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file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permissions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octal: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chmod</a:t>
            </a:r>
            <a:r>
              <a:rPr dirty="0" sz="1500" spc="1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20" b="1">
                <a:solidFill>
                  <a:srgbClr val="FFFFFF"/>
                </a:solidFill>
                <a:latin typeface="Cambria"/>
                <a:cs typeface="Cambria"/>
              </a:rPr>
              <a:t>755</a:t>
            </a:r>
            <a:r>
              <a:rPr dirty="0" sz="1500" spc="1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means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rwx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Cambria"/>
                <a:cs typeface="Cambria"/>
              </a:rPr>
              <a:t>r-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x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Cambria"/>
                <a:cs typeface="Cambria"/>
              </a:rPr>
              <a:t>r-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x,</a:t>
            </a:r>
            <a:endParaRPr sz="1500">
              <a:latin typeface="Cambria"/>
              <a:cs typeface="Cambria"/>
            </a:endParaRPr>
          </a:p>
          <a:p>
            <a:pPr marL="372110">
              <a:lnSpc>
                <a:spcPct val="100000"/>
              </a:lnSpc>
            </a:pP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i.e.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0">
                <a:solidFill>
                  <a:srgbClr val="FFFFFF"/>
                </a:solidFill>
                <a:latin typeface="Cambria"/>
                <a:cs typeface="Cambria"/>
              </a:rPr>
              <a:t>111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0">
                <a:solidFill>
                  <a:srgbClr val="FFFFFF"/>
                </a:solidFill>
                <a:latin typeface="Cambria"/>
                <a:cs typeface="Cambria"/>
              </a:rPr>
              <a:t>101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0">
                <a:solidFill>
                  <a:srgbClr val="FFFFFF"/>
                </a:solidFill>
                <a:latin typeface="Cambria"/>
                <a:cs typeface="Cambria"/>
              </a:rPr>
              <a:t>101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binary.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17:39:28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Quick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check: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why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can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743924 </a:t>
            </a:r>
            <a:r>
              <a:rPr dirty="0" sz="1000">
                <a:latin typeface="Microsoft Sans Serif"/>
                <a:cs typeface="Microsoft Sans Serif"/>
              </a:rPr>
              <a:t>never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octal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number? </a:t>
            </a:r>
            <a:r>
              <a:rPr dirty="0" sz="1000">
                <a:latin typeface="Microsoft Sans Serif"/>
                <a:cs typeface="Microsoft Sans Serif"/>
              </a:rPr>
              <a:t>Because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9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octal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digit.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r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999" y="899999"/>
            <a:ext cx="9059999" cy="4719991"/>
          </a:xfrm>
          <a:prstGeom prst="rect">
            <a:avLst/>
          </a:prstGeom>
        </p:spPr>
      </p:pic>
      <p:pic>
        <p:nvPicPr>
          <p:cNvPr id="3" name="object 3" descr="talk-yellow-hex-L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60000" y="3560000"/>
            <a:ext cx="1966336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38739" y="1424063"/>
            <a:ext cx="5036820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>
                <a:solidFill>
                  <a:srgbClr val="FFDD41"/>
                </a:solidFill>
              </a:rPr>
              <a:t>Decimal</a:t>
            </a:r>
            <a:r>
              <a:rPr dirty="0" sz="2500" spc="140">
                <a:solidFill>
                  <a:srgbClr val="FFDD41"/>
                </a:solidFill>
              </a:rPr>
              <a:t> </a:t>
            </a:r>
            <a:r>
              <a:rPr dirty="0" sz="2500">
                <a:solidFill>
                  <a:srgbClr val="FFDD41"/>
                </a:solidFill>
              </a:rPr>
              <a:t>Number</a:t>
            </a:r>
            <a:r>
              <a:rPr dirty="0" sz="2500" spc="120">
                <a:solidFill>
                  <a:srgbClr val="FFDD41"/>
                </a:solidFill>
              </a:rPr>
              <a:t> </a:t>
            </a:r>
            <a:r>
              <a:rPr dirty="0" sz="2500">
                <a:solidFill>
                  <a:srgbClr val="FFDD41"/>
                </a:solidFill>
              </a:rPr>
              <a:t>System</a:t>
            </a:r>
            <a:r>
              <a:rPr dirty="0" sz="2500" spc="125">
                <a:solidFill>
                  <a:srgbClr val="FFDD41"/>
                </a:solidFill>
              </a:rPr>
              <a:t> </a:t>
            </a:r>
            <a:r>
              <a:rPr dirty="0" sz="2500" spc="-45">
                <a:solidFill>
                  <a:srgbClr val="FFDD41"/>
                </a:solidFill>
              </a:rPr>
              <a:t>(Base</a:t>
            </a:r>
            <a:r>
              <a:rPr dirty="0" sz="2500" spc="110">
                <a:solidFill>
                  <a:srgbClr val="FFDD41"/>
                </a:solidFill>
              </a:rPr>
              <a:t> </a:t>
            </a:r>
            <a:r>
              <a:rPr dirty="0" sz="2500" spc="-130">
                <a:solidFill>
                  <a:srgbClr val="FFDD41"/>
                </a:solidFill>
              </a:rPr>
              <a:t>10)</a:t>
            </a:r>
            <a:endParaRPr sz="2500"/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8843" y="2071579"/>
            <a:ext cx="7073900" cy="200850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system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humans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use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daily: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ten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digits,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1500" spc="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base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10.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Each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position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power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0">
                <a:solidFill>
                  <a:srgbClr val="FFFFFF"/>
                </a:solidFill>
                <a:latin typeface="Cambria"/>
                <a:cs typeface="Cambria"/>
              </a:rPr>
              <a:t>10: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... </a:t>
            </a:r>
            <a:r>
              <a:rPr dirty="0" sz="1500" spc="-110">
                <a:solidFill>
                  <a:srgbClr val="FFFFFF"/>
                </a:solidFill>
                <a:latin typeface="Cambria"/>
                <a:cs typeface="Cambria"/>
              </a:rPr>
              <a:t>10²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5">
                <a:solidFill>
                  <a:srgbClr val="FFFFFF"/>
                </a:solidFill>
                <a:latin typeface="Cambria"/>
                <a:cs typeface="Cambria"/>
              </a:rPr>
              <a:t>10¹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dirty="0" sz="1500">
                <a:solidFill>
                  <a:srgbClr val="FFFFFF"/>
                </a:solidFill>
                <a:latin typeface="Cambria Math"/>
                <a:cs typeface="Cambria Math"/>
              </a:rPr>
              <a:t>⁰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...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100,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10,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1.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Example:</a:t>
            </a:r>
            <a:r>
              <a:rPr dirty="0" sz="15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60">
                <a:solidFill>
                  <a:srgbClr val="FFFFFF"/>
                </a:solidFill>
                <a:latin typeface="Cambria"/>
                <a:cs typeface="Cambria"/>
              </a:rPr>
              <a:t>(240)</a:t>
            </a:r>
            <a:r>
              <a:rPr dirty="0" sz="1500" spc="-60">
                <a:solidFill>
                  <a:srgbClr val="FFFFFF"/>
                </a:solidFill>
                <a:latin typeface="Cambria Math"/>
                <a:cs typeface="Cambria Math"/>
              </a:rPr>
              <a:t>₁₀</a:t>
            </a:r>
            <a:r>
              <a:rPr dirty="0" sz="1500" spc="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×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0">
                <a:solidFill>
                  <a:srgbClr val="FFFFFF"/>
                </a:solidFill>
                <a:latin typeface="Cambria"/>
                <a:cs typeface="Cambria"/>
              </a:rPr>
              <a:t>100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+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×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5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+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×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1.</a:t>
            </a:r>
            <a:endParaRPr sz="1500">
              <a:latin typeface="Cambria"/>
              <a:cs typeface="Cambria"/>
            </a:endParaRPr>
          </a:p>
          <a:p>
            <a:pPr marL="372110" marR="6350" indent="-360045">
              <a:lnSpc>
                <a:spcPct val="100000"/>
              </a:lnSpc>
              <a:spcBef>
                <a:spcPts val="59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Computers</a:t>
            </a:r>
            <a:r>
              <a:rPr dirty="0" sz="1500" spc="3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dirty="0" sz="1500" spc="3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not</a:t>
            </a:r>
            <a:r>
              <a:rPr dirty="0" sz="1500" spc="3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store</a:t>
            </a:r>
            <a:r>
              <a:rPr dirty="0" sz="1500" spc="3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decimal</a:t>
            </a:r>
            <a:r>
              <a:rPr dirty="0" sz="1500" spc="3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internally;</a:t>
            </a:r>
            <a:r>
              <a:rPr dirty="0" sz="1500" spc="3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they</a:t>
            </a:r>
            <a:r>
              <a:rPr dirty="0" sz="1500" spc="3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convert</a:t>
            </a:r>
            <a:r>
              <a:rPr dirty="0" sz="1500" spc="3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decimal</a:t>
            </a:r>
            <a:r>
              <a:rPr dirty="0" sz="1500" spc="3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input</a:t>
            </a:r>
            <a:r>
              <a:rPr dirty="0" sz="1500" spc="4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into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binary,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work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binary,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convert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back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display.</a:t>
            </a:r>
            <a:endParaRPr sz="1500">
              <a:latin typeface="Cambria"/>
              <a:cs typeface="Cambria"/>
            </a:endParaRPr>
          </a:p>
          <a:p>
            <a:pPr marL="372110" marR="5080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dirty="0" sz="15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dirty="0" sz="1500" spc="2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conversion</a:t>
            </a:r>
            <a:r>
              <a:rPr dirty="0" sz="15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skills</a:t>
            </a:r>
            <a:r>
              <a:rPr dirty="0" sz="15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bridge</a:t>
            </a:r>
            <a:r>
              <a:rPr dirty="0" sz="15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between</a:t>
            </a:r>
            <a:r>
              <a:rPr dirty="0" sz="15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dirty="0" sz="15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people</a:t>
            </a:r>
            <a:r>
              <a:rPr dirty="0" sz="15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write</a:t>
            </a:r>
            <a:r>
              <a:rPr dirty="0" sz="15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machines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store.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0001" y="899999"/>
            <a:ext cx="9059989" cy="4719991"/>
          </a:xfrm>
          <a:prstGeom prst="rect">
            <a:avLst/>
          </a:prstGeom>
        </p:spPr>
      </p:pic>
      <p:pic>
        <p:nvPicPr>
          <p:cNvPr id="3" name="object 3" descr="talk-green-pent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9999" y="3560000"/>
            <a:ext cx="2105303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158739" y="1424063"/>
            <a:ext cx="5708015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/>
              <a:t>Hexadecimal</a:t>
            </a:r>
            <a:r>
              <a:rPr dirty="0" sz="2500" spc="85"/>
              <a:t> </a:t>
            </a:r>
            <a:r>
              <a:rPr dirty="0" sz="2500"/>
              <a:t>Number</a:t>
            </a:r>
            <a:r>
              <a:rPr dirty="0" sz="2500" spc="50"/>
              <a:t> </a:t>
            </a:r>
            <a:r>
              <a:rPr dirty="0" sz="2500"/>
              <a:t>System</a:t>
            </a:r>
            <a:r>
              <a:rPr dirty="0" sz="2500" spc="55"/>
              <a:t> </a:t>
            </a:r>
            <a:r>
              <a:rPr dirty="0" sz="2500" spc="-45"/>
              <a:t>(Base</a:t>
            </a:r>
            <a:r>
              <a:rPr dirty="0" sz="2500" spc="40"/>
              <a:t> </a:t>
            </a:r>
            <a:r>
              <a:rPr dirty="0" sz="2500" spc="-114"/>
              <a:t>16)</a:t>
            </a:r>
            <a:endParaRPr sz="2500"/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28843" y="2149303"/>
            <a:ext cx="7073265" cy="1932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 marR="5080" indent="-360045">
              <a:lnSpc>
                <a:spcPct val="100000"/>
              </a:lnSpc>
              <a:spcBef>
                <a:spcPts val="1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Uses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sixteen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symbols: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50" b="1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1500" spc="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50" b="1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dirty="0" sz="1500" spc="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letters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85" b="1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F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where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10,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11,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C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12, 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D</a:t>
            </a:r>
            <a:r>
              <a:rPr dirty="0" sz="15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13,</a:t>
            </a:r>
            <a:r>
              <a:rPr dirty="0" sz="15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E</a:t>
            </a:r>
            <a:r>
              <a:rPr dirty="0" sz="1500" spc="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14,</a:t>
            </a:r>
            <a:r>
              <a:rPr dirty="0" sz="1500" spc="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15.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Each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position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power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0">
                <a:solidFill>
                  <a:srgbClr val="FFFFFF"/>
                </a:solidFill>
                <a:latin typeface="Cambria"/>
                <a:cs typeface="Cambria"/>
              </a:rPr>
              <a:t>16: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... </a:t>
            </a:r>
            <a:r>
              <a:rPr dirty="0" sz="1500" spc="-110">
                <a:solidFill>
                  <a:srgbClr val="FFFFFF"/>
                </a:solidFill>
                <a:latin typeface="Cambria"/>
                <a:cs typeface="Cambria"/>
              </a:rPr>
              <a:t>16²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5">
                <a:solidFill>
                  <a:srgbClr val="FFFFFF"/>
                </a:solidFill>
                <a:latin typeface="Cambria"/>
                <a:cs typeface="Cambria"/>
              </a:rPr>
              <a:t>16¹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r>
              <a:rPr dirty="0" sz="1500">
                <a:solidFill>
                  <a:srgbClr val="FFFFFF"/>
                </a:solidFill>
                <a:latin typeface="Cambria Math"/>
                <a:cs typeface="Cambria Math"/>
              </a:rPr>
              <a:t>⁰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...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256,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16,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1.</a:t>
            </a:r>
            <a:endParaRPr sz="1500">
              <a:latin typeface="Cambria"/>
              <a:cs typeface="Cambria"/>
            </a:endParaRPr>
          </a:p>
          <a:p>
            <a:pPr marL="372110" marR="6985" indent="-360045">
              <a:lnSpc>
                <a:spcPct val="100000"/>
              </a:lnSpc>
              <a:spcBef>
                <a:spcPts val="59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One</a:t>
            </a:r>
            <a:r>
              <a:rPr dirty="0" sz="1500" spc="1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hex</a:t>
            </a:r>
            <a:r>
              <a:rPr dirty="0" sz="1500" spc="1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digit</a:t>
            </a:r>
            <a:r>
              <a:rPr dirty="0" sz="1500" spc="1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represents</a:t>
            </a:r>
            <a:r>
              <a:rPr dirty="0" sz="1500" spc="1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exactly</a:t>
            </a:r>
            <a:r>
              <a:rPr dirty="0" sz="1500" spc="1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four</a:t>
            </a:r>
            <a:r>
              <a:rPr dirty="0" sz="1500" spc="1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binary</a:t>
            </a:r>
            <a:r>
              <a:rPr dirty="0" sz="1500" spc="1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bits</a:t>
            </a:r>
            <a:r>
              <a:rPr dirty="0" sz="1500" spc="1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(one</a:t>
            </a:r>
            <a:r>
              <a:rPr dirty="0" sz="1500" spc="1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nibble)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1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so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one</a:t>
            </a:r>
            <a:r>
              <a:rPr dirty="0" sz="1500" spc="1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byte</a:t>
            </a:r>
            <a:r>
              <a:rPr dirty="0" sz="1500" spc="1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0" b="1">
                <a:solidFill>
                  <a:srgbClr val="FFFFFF"/>
                </a:solidFill>
                <a:latin typeface="Cambria"/>
                <a:cs typeface="Cambria"/>
              </a:rPr>
              <a:t>=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two</a:t>
            </a:r>
            <a:r>
              <a:rPr dirty="0" sz="1500" spc="-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hex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digits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Hex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standard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shorthand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binary: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5">
                <a:solidFill>
                  <a:srgbClr val="FFFFFF"/>
                </a:solidFill>
                <a:latin typeface="Cambria"/>
                <a:cs typeface="Cambria"/>
              </a:rPr>
              <a:t>(1111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0">
                <a:solidFill>
                  <a:srgbClr val="FFFFFF"/>
                </a:solidFill>
                <a:latin typeface="Cambria"/>
                <a:cs typeface="Cambria"/>
              </a:rPr>
              <a:t>0000)</a:t>
            </a:r>
            <a:r>
              <a:rPr dirty="0" sz="1500" spc="-70">
                <a:solidFill>
                  <a:srgbClr val="FFFFFF"/>
                </a:solidFill>
                <a:latin typeface="Cambria Math"/>
                <a:cs typeface="Cambria Math"/>
              </a:rPr>
              <a:t>₂</a:t>
            </a:r>
            <a:r>
              <a:rPr dirty="0" sz="1500" spc="6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simply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written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Cambria"/>
                <a:cs typeface="Cambria"/>
              </a:rPr>
              <a:t>F0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Example:</a:t>
            </a:r>
            <a:r>
              <a:rPr dirty="0" sz="1500" spc="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(2D5)</a:t>
            </a:r>
            <a:r>
              <a:rPr dirty="0" sz="1500" spc="-20">
                <a:solidFill>
                  <a:srgbClr val="FFFFFF"/>
                </a:solidFill>
                <a:latin typeface="Cambria Math"/>
                <a:cs typeface="Cambria Math"/>
              </a:rPr>
              <a:t>₁₆</a:t>
            </a:r>
            <a:r>
              <a:rPr dirty="0" sz="150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dirty="0" sz="15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×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0">
                <a:solidFill>
                  <a:srgbClr val="FFFFFF"/>
                </a:solidFill>
                <a:latin typeface="Cambria"/>
                <a:cs typeface="Cambria"/>
              </a:rPr>
              <a:t>256</a:t>
            </a:r>
            <a:r>
              <a:rPr dirty="0" sz="15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+</a:t>
            </a:r>
            <a:r>
              <a:rPr dirty="0" sz="15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dirty="0" sz="15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×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5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+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×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(725)</a:t>
            </a:r>
            <a:r>
              <a:rPr dirty="0" sz="1500" spc="-10">
                <a:solidFill>
                  <a:srgbClr val="FFFFFF"/>
                </a:solidFill>
                <a:latin typeface="Cambria Math"/>
                <a:cs typeface="Cambria Math"/>
              </a:rPr>
              <a:t>₁₀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66870" y="361016"/>
            <a:ext cx="5456555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Master</a:t>
            </a:r>
            <a:r>
              <a:rPr dirty="0" sz="2700" spc="-120"/>
              <a:t> </a:t>
            </a:r>
            <a:r>
              <a:rPr dirty="0" sz="2700"/>
              <a:t>Table:</a:t>
            </a:r>
            <a:r>
              <a:rPr dirty="0" sz="2700" spc="15"/>
              <a:t> </a:t>
            </a:r>
            <a:r>
              <a:rPr dirty="0" sz="2700" spc="-260"/>
              <a:t>0</a:t>
            </a:r>
            <a:r>
              <a:rPr dirty="0" sz="2700" spc="80"/>
              <a:t> </a:t>
            </a:r>
            <a:r>
              <a:rPr dirty="0" sz="2700"/>
              <a:t>to</a:t>
            </a:r>
            <a:r>
              <a:rPr dirty="0" sz="2700" spc="15"/>
              <a:t> </a:t>
            </a:r>
            <a:r>
              <a:rPr dirty="0" sz="2700" spc="-254"/>
              <a:t>15</a:t>
            </a:r>
            <a:r>
              <a:rPr dirty="0" sz="2700" spc="70"/>
              <a:t> </a:t>
            </a:r>
            <a:r>
              <a:rPr dirty="0" sz="2700"/>
              <a:t>in</a:t>
            </a:r>
            <a:r>
              <a:rPr dirty="0" sz="2700" spc="20"/>
              <a:t> </a:t>
            </a:r>
            <a:r>
              <a:rPr dirty="0" sz="2700"/>
              <a:t>Every</a:t>
            </a:r>
            <a:r>
              <a:rPr dirty="0" sz="2700" spc="15"/>
              <a:t> </a:t>
            </a:r>
            <a:r>
              <a:rPr dirty="0" sz="2700" spc="-20"/>
              <a:t>Base</a:t>
            </a:r>
            <a:endParaRPr sz="27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91084" y="1495237"/>
          <a:ext cx="10885805" cy="3057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0010"/>
                <a:gridCol w="1350010"/>
                <a:gridCol w="1350009"/>
                <a:gridCol w="1350010"/>
                <a:gridCol w="1350010"/>
                <a:gridCol w="1350009"/>
                <a:gridCol w="1350009"/>
                <a:gridCol w="1350009"/>
              </a:tblGrid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35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Decimal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5270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35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Binary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5270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35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Octal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5270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350" spc="-25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Hex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5270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35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Decimal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5270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35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Binary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5270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35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Octal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5270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1350" spc="-25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Hex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5270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0000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5FDEEE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8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1000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5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5FDEEE"/>
                          </a:solidFill>
                          <a:latin typeface="Cambria"/>
                          <a:cs typeface="Cambria"/>
                        </a:rPr>
                        <a:t>8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0001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5FDEEE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9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1001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5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11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5FDEEE"/>
                          </a:solidFill>
                          <a:latin typeface="Cambria"/>
                          <a:cs typeface="Cambria"/>
                        </a:rPr>
                        <a:t>9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0010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5FDEEE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5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1010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5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145">
                          <a:solidFill>
                            <a:srgbClr val="5FDEEE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3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0011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3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5FDEEE"/>
                          </a:solidFill>
                          <a:latin typeface="Cambria"/>
                          <a:cs typeface="Cambria"/>
                        </a:rPr>
                        <a:t>3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5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11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1011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5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13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5FDEEE"/>
                          </a:solidFill>
                          <a:latin typeface="Cambria"/>
                          <a:cs typeface="Cambria"/>
                        </a:rPr>
                        <a:t>B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0100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5FDEEE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5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1100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5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14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125">
                          <a:solidFill>
                            <a:srgbClr val="5FDEEE"/>
                          </a:solidFill>
                          <a:latin typeface="Cambria"/>
                          <a:cs typeface="Cambria"/>
                        </a:rPr>
                        <a:t>C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0101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5FDEEE"/>
                          </a:solidFill>
                          <a:latin typeface="Cambria"/>
                          <a:cs typeface="Cambria"/>
                        </a:rPr>
                        <a:t>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5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13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1101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5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85">
                          <a:solidFill>
                            <a:srgbClr val="5FDEEE"/>
                          </a:solidFill>
                          <a:latin typeface="Cambria"/>
                          <a:cs typeface="Cambria"/>
                        </a:rPr>
                        <a:t>D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6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0110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6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5FDEEE"/>
                          </a:solidFill>
                          <a:latin typeface="Cambria"/>
                          <a:cs typeface="Cambria"/>
                        </a:rPr>
                        <a:t>6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5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14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1110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5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16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5FDEEE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7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0111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7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5FDEEE"/>
                          </a:solidFill>
                          <a:latin typeface="Cambria"/>
                          <a:cs typeface="Cambria"/>
                        </a:rPr>
                        <a:t>7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5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15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0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1111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25">
                          <a:solidFill>
                            <a:srgbClr val="C5C6D4"/>
                          </a:solidFill>
                          <a:latin typeface="Cambria"/>
                          <a:cs typeface="Cambria"/>
                        </a:rPr>
                        <a:t>17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300" spc="-50">
                          <a:solidFill>
                            <a:srgbClr val="5FDEEE"/>
                          </a:solidFill>
                          <a:latin typeface="Cambria"/>
                          <a:cs typeface="Cambria"/>
                        </a:rPr>
                        <a:t>F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5715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" name="object 4" descr="smile-white-squar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6773" y="5859999"/>
            <a:ext cx="493049" cy="849994"/>
          </a:xfrm>
          <a:prstGeom prst="rect">
            <a:avLst/>
          </a:prstGeom>
        </p:spPr>
      </p:pic>
      <p:pic>
        <p:nvPicPr>
          <p:cNvPr id="5" name="object 5" descr="talk-blue-circl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44831" y="5859999"/>
            <a:ext cx="690079" cy="84999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17:39:31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Students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should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memorise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this </a:t>
            </a:r>
            <a:r>
              <a:rPr dirty="0" sz="1000">
                <a:latin typeface="Microsoft Sans Serif"/>
                <a:cs typeface="Microsoft Sans Serif"/>
              </a:rPr>
              <a:t>table,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especially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binary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hex.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It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single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most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used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table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in </a:t>
            </a:r>
            <a:r>
              <a:rPr dirty="0" sz="1000">
                <a:latin typeface="Microsoft Sans Serif"/>
                <a:cs typeface="Microsoft Sans Serif"/>
              </a:rPr>
              <a:t>disk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forensics.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720001"/>
            <a:ext cx="11429996" cy="4817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739" y="1082540"/>
            <a:ext cx="3773804" cy="42227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DD41"/>
                </a:solidFill>
              </a:rPr>
              <a:t>Hexadecimal</a:t>
            </a:r>
            <a:r>
              <a:rPr dirty="0" spc="-5">
                <a:solidFill>
                  <a:srgbClr val="FFDD41"/>
                </a:solidFill>
              </a:rPr>
              <a:t> </a:t>
            </a:r>
            <a:r>
              <a:rPr dirty="0">
                <a:solidFill>
                  <a:srgbClr val="FFDD41"/>
                </a:solidFill>
              </a:rPr>
              <a:t>in</a:t>
            </a:r>
            <a:r>
              <a:rPr dirty="0" spc="-15">
                <a:solidFill>
                  <a:srgbClr val="FFDD41"/>
                </a:solidFill>
              </a:rPr>
              <a:t> </a:t>
            </a:r>
            <a:r>
              <a:rPr dirty="0">
                <a:solidFill>
                  <a:srgbClr val="FFDD41"/>
                </a:solidFill>
              </a:rPr>
              <a:t>the </a:t>
            </a:r>
            <a:r>
              <a:rPr dirty="0" spc="35">
                <a:solidFill>
                  <a:srgbClr val="FFDD41"/>
                </a:solidFill>
              </a:rPr>
              <a:t>Wild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843" y="1733442"/>
            <a:ext cx="8168640" cy="199199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File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signatures</a:t>
            </a:r>
            <a:r>
              <a:rPr dirty="0" sz="1500" spc="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(magic</a:t>
            </a:r>
            <a:r>
              <a:rPr dirty="0" sz="1500" spc="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numbers)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true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identity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file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regardless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its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extension:</a:t>
            </a:r>
            <a:endParaRPr sz="1500">
              <a:latin typeface="Cambria"/>
              <a:cs typeface="Cambria"/>
            </a:endParaRPr>
          </a:p>
          <a:p>
            <a:pPr marL="772795" indent="-300355">
              <a:lnSpc>
                <a:spcPct val="100000"/>
              </a:lnSpc>
              <a:spcBef>
                <a:spcPts val="309"/>
              </a:spcBef>
              <a:buClr>
                <a:srgbClr val="B89E87"/>
              </a:buClr>
              <a:buSzPct val="69230"/>
              <a:buFont typeface="Microsoft Sans Serif"/>
              <a:buChar char="▪"/>
              <a:tabLst>
                <a:tab pos="772795" algn="l"/>
                <a:tab pos="2228215" algn="l"/>
                <a:tab pos="3806825" algn="l"/>
              </a:tabLst>
            </a:pPr>
            <a:r>
              <a:rPr dirty="0" sz="1300" spc="50">
                <a:solidFill>
                  <a:srgbClr val="FFFFFF"/>
                </a:solidFill>
                <a:latin typeface="Cambria"/>
                <a:cs typeface="Cambria"/>
              </a:rPr>
              <a:t>JPEG:</a:t>
            </a:r>
            <a:r>
              <a:rPr dirty="0" sz="13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FF</a:t>
            </a:r>
            <a:r>
              <a:rPr dirty="0" sz="13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D8</a:t>
            </a:r>
            <a:r>
              <a:rPr dirty="0" sz="13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Cambria"/>
                <a:cs typeface="Cambria"/>
              </a:rPr>
              <a:t>FF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300" spc="95">
                <a:solidFill>
                  <a:srgbClr val="FFFFFF"/>
                </a:solidFill>
                <a:latin typeface="Cambria"/>
                <a:cs typeface="Cambria"/>
              </a:rPr>
              <a:t>PNG:</a:t>
            </a:r>
            <a:r>
              <a:rPr dirty="0" sz="1300" spc="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55">
                <a:solidFill>
                  <a:srgbClr val="FFFFFF"/>
                </a:solidFill>
                <a:latin typeface="Cambria"/>
                <a:cs typeface="Cambria"/>
              </a:rPr>
              <a:t>89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Cambria"/>
                <a:cs typeface="Cambria"/>
              </a:rPr>
              <a:t>50</a:t>
            </a:r>
            <a:r>
              <a:rPr dirty="0" sz="1300" spc="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4E</a:t>
            </a:r>
            <a:r>
              <a:rPr dirty="0" sz="1300" spc="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Cambria"/>
                <a:cs typeface="Cambria"/>
              </a:rPr>
              <a:t>47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	PDF:</a:t>
            </a:r>
            <a:r>
              <a:rPr dirty="0" sz="13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Cambria"/>
                <a:cs typeface="Cambria"/>
              </a:rPr>
              <a:t>25</a:t>
            </a:r>
            <a:r>
              <a:rPr dirty="0" sz="13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55">
                <a:solidFill>
                  <a:srgbClr val="FFFFFF"/>
                </a:solidFill>
                <a:latin typeface="Cambria"/>
                <a:cs typeface="Cambria"/>
              </a:rPr>
              <a:t>50</a:t>
            </a:r>
            <a:r>
              <a:rPr dirty="0" sz="13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55">
                <a:solidFill>
                  <a:srgbClr val="FFFFFF"/>
                </a:solidFill>
                <a:latin typeface="Cambria"/>
                <a:cs typeface="Cambria"/>
              </a:rPr>
              <a:t>44</a:t>
            </a:r>
            <a:r>
              <a:rPr dirty="0" sz="13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Cambria"/>
                <a:cs typeface="Cambria"/>
              </a:rPr>
              <a:t>46</a:t>
            </a:r>
            <a:r>
              <a:rPr dirty="0" sz="13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mbria"/>
                <a:cs typeface="Cambria"/>
              </a:rPr>
              <a:t>(%PDF)</a:t>
            </a:r>
            <a:endParaRPr sz="1300">
              <a:latin typeface="Cambria"/>
              <a:cs typeface="Cambria"/>
            </a:endParaRPr>
          </a:p>
          <a:p>
            <a:pPr marL="772795" indent="-300355">
              <a:lnSpc>
                <a:spcPct val="100000"/>
              </a:lnSpc>
              <a:spcBef>
                <a:spcPts val="300"/>
              </a:spcBef>
              <a:buClr>
                <a:srgbClr val="B89E87"/>
              </a:buClr>
              <a:buSzPct val="69230"/>
              <a:buFont typeface="Microsoft Sans Serif"/>
              <a:buChar char="▪"/>
              <a:tabLst>
                <a:tab pos="772795" algn="l"/>
                <a:tab pos="3128645" algn="l"/>
              </a:tabLst>
            </a:pP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Windows</a:t>
            </a:r>
            <a:r>
              <a:rPr dirty="0" sz="13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EXE:</a:t>
            </a:r>
            <a:r>
              <a:rPr dirty="0" sz="1300" spc="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4D</a:t>
            </a:r>
            <a:r>
              <a:rPr dirty="0" sz="1300" spc="1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55">
                <a:solidFill>
                  <a:srgbClr val="FFFFFF"/>
                </a:solidFill>
                <a:latin typeface="Cambria"/>
                <a:cs typeface="Cambria"/>
              </a:rPr>
              <a:t>5A</a:t>
            </a:r>
            <a:r>
              <a:rPr dirty="0" sz="1300" spc="1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Cambria"/>
                <a:cs typeface="Cambria"/>
              </a:rPr>
              <a:t>(MZ)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300" spc="60">
                <a:solidFill>
                  <a:srgbClr val="FFFFFF"/>
                </a:solidFill>
                <a:latin typeface="Cambria"/>
                <a:cs typeface="Cambria"/>
              </a:rPr>
              <a:t>ZIP</a:t>
            </a:r>
            <a:r>
              <a:rPr dirty="0" sz="1300" spc="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145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dirty="0" sz="1300" spc="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150">
                <a:solidFill>
                  <a:srgbClr val="FFFFFF"/>
                </a:solidFill>
                <a:latin typeface="Cambria"/>
                <a:cs typeface="Cambria"/>
              </a:rPr>
              <a:t>DOCX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145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dirty="0" sz="1300" spc="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85">
                <a:solidFill>
                  <a:srgbClr val="FFFFFF"/>
                </a:solidFill>
                <a:latin typeface="Cambria"/>
                <a:cs typeface="Cambria"/>
              </a:rPr>
              <a:t>APK:</a:t>
            </a:r>
            <a:r>
              <a:rPr dirty="0" sz="13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Cambria"/>
                <a:cs typeface="Cambria"/>
              </a:rPr>
              <a:t>50</a:t>
            </a:r>
            <a:r>
              <a:rPr dirty="0" sz="1300" spc="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4B</a:t>
            </a:r>
            <a:r>
              <a:rPr dirty="0" sz="13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55">
                <a:solidFill>
                  <a:srgbClr val="FFFFFF"/>
                </a:solidFill>
                <a:latin typeface="Cambria"/>
                <a:cs typeface="Cambria"/>
              </a:rPr>
              <a:t>03</a:t>
            </a:r>
            <a:r>
              <a:rPr dirty="0" sz="1300" spc="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Cambria"/>
                <a:cs typeface="Cambria"/>
              </a:rPr>
              <a:t>04</a:t>
            </a:r>
            <a:r>
              <a:rPr dirty="0" sz="13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Cambria"/>
                <a:cs typeface="Cambria"/>
              </a:rPr>
              <a:t>(PK)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Hash</a:t>
            </a:r>
            <a:r>
              <a:rPr dirty="0" sz="1500" spc="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values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5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MD5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Cambria"/>
                <a:cs typeface="Cambria"/>
              </a:rPr>
              <a:t>32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hex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digits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0">
                <a:solidFill>
                  <a:srgbClr val="FFFFFF"/>
                </a:solidFill>
                <a:latin typeface="Cambria"/>
                <a:cs typeface="Cambria"/>
              </a:rPr>
              <a:t>(128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bits),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SHA-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40,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SHA-</a:t>
            </a:r>
            <a:r>
              <a:rPr dirty="0" sz="1500" spc="-70">
                <a:solidFill>
                  <a:srgbClr val="FFFFFF"/>
                </a:solidFill>
                <a:latin typeface="Cambria"/>
                <a:cs typeface="Cambria"/>
              </a:rPr>
              <a:t>256</a:t>
            </a:r>
            <a:r>
              <a:rPr dirty="0" sz="1500" spc="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64.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204" b="1">
                <a:solidFill>
                  <a:srgbClr val="FFFFFF"/>
                </a:solidFill>
                <a:latin typeface="Cambria"/>
                <a:cs typeface="Cambria"/>
              </a:rPr>
              <a:t>MAC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5" b="1">
                <a:solidFill>
                  <a:srgbClr val="FFFFFF"/>
                </a:solidFill>
                <a:latin typeface="Cambria"/>
                <a:cs typeface="Cambria"/>
              </a:rPr>
              <a:t>addresses</a:t>
            </a:r>
            <a:r>
              <a:rPr dirty="0" sz="1500" spc="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(A4:5E:60:D2:11:0F)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IPv6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5" b="1">
                <a:solidFill>
                  <a:srgbClr val="FFFFFF"/>
                </a:solidFill>
                <a:latin typeface="Cambria"/>
                <a:cs typeface="Cambria"/>
              </a:rPr>
              <a:t>addresses</a:t>
            </a:r>
            <a:r>
              <a:rPr dirty="0" sz="1500" spc="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written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hex.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Memory</a:t>
            </a:r>
            <a:r>
              <a:rPr dirty="0" sz="1500" spc="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5" b="1">
                <a:solidFill>
                  <a:srgbClr val="FFFFFF"/>
                </a:solidFill>
                <a:latin typeface="Cambria"/>
                <a:cs typeface="Cambria"/>
              </a:rPr>
              <a:t>addresses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offsets</a:t>
            </a:r>
            <a:r>
              <a:rPr dirty="0" sz="1500" spc="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forensic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tool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hex: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offset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0x1BE,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address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0x7FF6...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-20" b="1">
                <a:solidFill>
                  <a:srgbClr val="FFDD41"/>
                </a:solidFill>
                <a:latin typeface="Cambria"/>
                <a:cs typeface="Cambria"/>
              </a:rPr>
              <a:t>Forensic</a:t>
            </a:r>
            <a:r>
              <a:rPr dirty="0" sz="1500" spc="70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angle:</a:t>
            </a:r>
            <a:r>
              <a:rPr dirty="0" sz="1500" spc="75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signature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mismatch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versus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extension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classic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sign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evidence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hiding.</a:t>
            </a:r>
            <a:endParaRPr sz="1500">
              <a:latin typeface="Cambria"/>
              <a:cs typeface="Cambria"/>
            </a:endParaRPr>
          </a:p>
        </p:txBody>
      </p:sp>
      <p:pic>
        <p:nvPicPr>
          <p:cNvPr id="5" name="object 5" descr="smile-cyan-diamon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1427" y="5759999"/>
            <a:ext cx="721267" cy="919997"/>
          </a:xfrm>
          <a:prstGeom prst="rect">
            <a:avLst/>
          </a:prstGeom>
        </p:spPr>
      </p:pic>
      <p:pic>
        <p:nvPicPr>
          <p:cNvPr id="6" name="object 6" descr="smile-purple-rect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37694" y="5759999"/>
            <a:ext cx="447458" cy="919997"/>
          </a:xfrm>
          <a:prstGeom prst="rect">
            <a:avLst/>
          </a:prstGeom>
        </p:spPr>
      </p:pic>
      <p:pic>
        <p:nvPicPr>
          <p:cNvPr id="7" name="object 7" descr="smile-yellow-trap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80162" y="5759999"/>
            <a:ext cx="790108" cy="91999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17:39:33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Demo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idea: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rename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.jpg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to </a:t>
            </a:r>
            <a:r>
              <a:rPr dirty="0" sz="1000">
                <a:latin typeface="Microsoft Sans Serif"/>
                <a:cs typeface="Microsoft Sans Serif"/>
              </a:rPr>
              <a:t>.docx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show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FF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D8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FF </a:t>
            </a:r>
            <a:r>
              <a:rPr dirty="0" sz="1000">
                <a:latin typeface="Microsoft Sans Serif"/>
                <a:cs typeface="Microsoft Sans Serif"/>
              </a:rPr>
              <a:t>signature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surviving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hex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editor.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Reading</a:t>
            </a:r>
            <a:r>
              <a:rPr dirty="0" spc="100"/>
              <a:t> </a:t>
            </a:r>
            <a:r>
              <a:rPr dirty="0"/>
              <a:t>a</a:t>
            </a:r>
            <a:r>
              <a:rPr dirty="0" spc="150"/>
              <a:t> </a:t>
            </a:r>
            <a:r>
              <a:rPr dirty="0"/>
              <a:t>Hex</a:t>
            </a:r>
            <a:r>
              <a:rPr dirty="0" spc="120"/>
              <a:t> </a:t>
            </a:r>
            <a:r>
              <a:rPr dirty="0" spc="80"/>
              <a:t>Dump</a:t>
            </a:r>
          </a:p>
        </p:txBody>
      </p:sp>
      <p:pic>
        <p:nvPicPr>
          <p:cNvPr id="3" name="object 3" descr="u1_hexdump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828" y="1240002"/>
            <a:ext cx="10310037" cy="44439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88871" y="5768716"/>
            <a:ext cx="44151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Offset,</a:t>
            </a:r>
            <a:r>
              <a:rPr dirty="0" sz="1200" spc="8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hex,</a:t>
            </a:r>
            <a:r>
              <a:rPr dirty="0" sz="1200" spc="8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 spc="75">
                <a:solidFill>
                  <a:srgbClr val="B89E87"/>
                </a:solidFill>
                <a:latin typeface="Cambria"/>
                <a:cs typeface="Cambria"/>
              </a:rPr>
              <a:t>ASCII,</a:t>
            </a:r>
            <a:r>
              <a:rPr dirty="0" sz="1200" spc="7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and</a:t>
            </a:r>
            <a:r>
              <a:rPr dirty="0" sz="1200" spc="10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 spc="50">
                <a:solidFill>
                  <a:srgbClr val="B89E87"/>
                </a:solidFill>
                <a:latin typeface="Cambria"/>
                <a:cs typeface="Cambria"/>
              </a:rPr>
              <a:t>why</a:t>
            </a:r>
            <a:r>
              <a:rPr dirty="0" sz="1200" spc="7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the</a:t>
            </a:r>
            <a:r>
              <a:rPr dirty="0" sz="1200" spc="9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profession</a:t>
            </a:r>
            <a:r>
              <a:rPr dirty="0" sz="1200" spc="8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writes</a:t>
            </a:r>
            <a:r>
              <a:rPr dirty="0" sz="1200" spc="8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in</a:t>
            </a:r>
            <a:r>
              <a:rPr dirty="0" sz="1200" spc="10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base</a:t>
            </a:r>
            <a:r>
              <a:rPr dirty="0" sz="1200" spc="10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 spc="-10">
                <a:solidFill>
                  <a:srgbClr val="B89E87"/>
                </a:solidFill>
                <a:latin typeface="Cambria"/>
                <a:cs typeface="Cambria"/>
              </a:rPr>
              <a:t>sixteen.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17:39:33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Spend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time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last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two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lines </a:t>
            </a:r>
            <a:r>
              <a:rPr dirty="0" sz="1000">
                <a:latin typeface="Microsoft Sans Serif"/>
                <a:cs typeface="Microsoft Sans Serif"/>
              </a:rPr>
              <a:t>of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yellow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panel.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hex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digit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exactly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four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bits,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so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 </a:t>
            </a:r>
            <a:r>
              <a:rPr dirty="0" sz="1000">
                <a:latin typeface="Microsoft Sans Serif"/>
                <a:cs typeface="Microsoft Sans Serif"/>
              </a:rPr>
              <a:t>always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exactly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two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digits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 </a:t>
            </a:r>
            <a:r>
              <a:rPr dirty="0" sz="1000">
                <a:latin typeface="Microsoft Sans Serif"/>
                <a:cs typeface="Microsoft Sans Serif"/>
              </a:rPr>
              <a:t>boundary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never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falls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inside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</a:t>
            </a:r>
            <a:r>
              <a:rPr dirty="0" sz="1000">
                <a:latin typeface="Microsoft Sans Serif"/>
                <a:cs typeface="Microsoft Sans Serif"/>
              </a:rPr>
              <a:t> digit.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Decimal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cannot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do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that: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255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three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digits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256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 </a:t>
            </a:r>
            <a:r>
              <a:rPr dirty="0" sz="1000">
                <a:latin typeface="Microsoft Sans Serif"/>
                <a:cs typeface="Microsoft Sans Serif"/>
              </a:rPr>
              <a:t>three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digits,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neither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aligns </a:t>
            </a:r>
            <a:r>
              <a:rPr dirty="0" sz="1000">
                <a:latin typeface="Microsoft Sans Serif"/>
                <a:cs typeface="Microsoft Sans Serif"/>
              </a:rPr>
              <a:t>with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anything.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whole </a:t>
            </a:r>
            <a:r>
              <a:rPr dirty="0" sz="1000">
                <a:latin typeface="Microsoft Sans Serif"/>
                <a:cs typeface="Microsoft Sans Serif"/>
              </a:rPr>
              <a:t>reason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forensics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written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35">
                <a:latin typeface="Microsoft Sans Serif"/>
                <a:cs typeface="Microsoft Sans Serif"/>
              </a:rPr>
              <a:t>in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hex.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68394" y="361016"/>
            <a:ext cx="545592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25"/>
              <a:t>Powers</a:t>
            </a:r>
            <a:r>
              <a:rPr dirty="0" sz="2700"/>
              <a:t> </a:t>
            </a:r>
            <a:r>
              <a:rPr dirty="0" sz="2700" spc="55"/>
              <a:t>of</a:t>
            </a:r>
            <a:r>
              <a:rPr dirty="0" sz="2700" spc="5"/>
              <a:t> </a:t>
            </a:r>
            <a:r>
              <a:rPr dirty="0" sz="2700"/>
              <a:t>Two</a:t>
            </a:r>
            <a:r>
              <a:rPr dirty="0" sz="2700" spc="10"/>
              <a:t> </a:t>
            </a:r>
            <a:r>
              <a:rPr dirty="0" sz="2700"/>
              <a:t>Worth </a:t>
            </a:r>
            <a:r>
              <a:rPr dirty="0" sz="2700" spc="-10"/>
              <a:t>Memorising</a:t>
            </a:r>
            <a:endParaRPr sz="27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91084" y="1355237"/>
          <a:ext cx="10885805" cy="2658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225"/>
                <a:gridCol w="1800225"/>
                <a:gridCol w="1800225"/>
                <a:gridCol w="1800225"/>
                <a:gridCol w="1800225"/>
                <a:gridCol w="1800225"/>
              </a:tblGrid>
              <a:tr h="37973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35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Power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7302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35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Value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7302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35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Power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7302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35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Value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7302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35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Power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7302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35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Value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7302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⁰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7874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3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⁶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7874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64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2¹²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3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4,096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2¹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3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⁷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7874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128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2¹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⁶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7874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3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65,536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2²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3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⁸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7874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256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2²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⁰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7874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300" spc="-4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1,048,576</a:t>
                      </a:r>
                      <a:r>
                        <a:rPr dirty="0" sz="1300" spc="-1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00" spc="-3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(1</a:t>
                      </a:r>
                      <a:r>
                        <a:rPr dirty="0" sz="1300" spc="-1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Mi)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2³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3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8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⁹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7874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512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2³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⁰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7874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3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1,073,741,824</a:t>
                      </a:r>
                      <a:r>
                        <a:rPr dirty="0" sz="1300" spc="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00" spc="-3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(1</a:t>
                      </a:r>
                      <a:r>
                        <a:rPr dirty="0" sz="1300" spc="1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Gi)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683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⁴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7874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16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747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2¹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⁰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7874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3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1,024 (1</a:t>
                      </a:r>
                      <a:r>
                        <a:rPr dirty="0" sz="1300" spc="-3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Ki)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747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2³²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747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4,294,967,296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747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⁵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7874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747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2¹¹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747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2,048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B="0" marT="7747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</a:t>
                      </a:r>
                      <a:r>
                        <a:rPr dirty="0" sz="1300" spc="-25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⁶⁴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7874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3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≈</a:t>
                      </a:r>
                      <a:r>
                        <a:rPr dirty="0" sz="13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1.8</a:t>
                      </a:r>
                      <a:r>
                        <a:rPr dirty="0" sz="1300" spc="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00" spc="5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×</a:t>
                      </a:r>
                      <a:r>
                        <a:rPr dirty="0" sz="1300" spc="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00" spc="-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10¹</a:t>
                      </a:r>
                      <a:r>
                        <a:rPr dirty="0" sz="1300" spc="-2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⁹</a:t>
                      </a:r>
                      <a:endParaRPr sz="1300">
                        <a:latin typeface="Cambria Math"/>
                        <a:cs typeface="Cambria Math"/>
                      </a:endParaRPr>
                    </a:p>
                  </a:txBody>
                  <a:tcPr marL="0" marR="0" marB="0" marT="7874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" name="object 4" descr="smile-white-squar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6773" y="5859999"/>
            <a:ext cx="493049" cy="849994"/>
          </a:xfrm>
          <a:prstGeom prst="rect">
            <a:avLst/>
          </a:prstGeom>
        </p:spPr>
      </p:pic>
      <p:pic>
        <p:nvPicPr>
          <p:cNvPr id="5" name="object 5" descr="talk-blue-circl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44831" y="5859999"/>
            <a:ext cx="690079" cy="84999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17:39:34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512 = classic sector size, 4096 </a:t>
            </a:r>
            <a:r>
              <a:rPr dirty="0" sz="1000" spc="-50">
                <a:latin typeface="Microsoft Sans Serif"/>
                <a:cs typeface="Microsoft Sans Serif"/>
              </a:rPr>
              <a:t>= </a:t>
            </a:r>
            <a:r>
              <a:rPr dirty="0" sz="1000">
                <a:latin typeface="Microsoft Sans Serif"/>
                <a:cs typeface="Microsoft Sans Serif"/>
              </a:rPr>
              <a:t>modern sector and cluster </a:t>
            </a:r>
            <a:r>
              <a:rPr dirty="0" sz="1000" spc="-10">
                <a:latin typeface="Microsoft Sans Serif"/>
                <a:cs typeface="Microsoft Sans Serif"/>
              </a:rPr>
              <a:t>size, </a:t>
            </a:r>
            <a:r>
              <a:rPr dirty="0" sz="1000">
                <a:latin typeface="Microsoft Sans Serif"/>
                <a:cs typeface="Microsoft Sans Serif"/>
              </a:rPr>
              <a:t>2^32 = 4 GiB limit of 32-</a:t>
            </a:r>
            <a:r>
              <a:rPr dirty="0" sz="1000" spc="-25">
                <a:latin typeface="Microsoft Sans Serif"/>
                <a:cs typeface="Microsoft Sans Serif"/>
              </a:rPr>
              <a:t>bit </a:t>
            </a:r>
            <a:r>
              <a:rPr dirty="0" sz="1000">
                <a:latin typeface="Microsoft Sans Serif"/>
                <a:cs typeface="Microsoft Sans Serif"/>
              </a:rPr>
              <a:t>systems and FAT32 file </a:t>
            </a:r>
            <a:r>
              <a:rPr dirty="0" sz="1000" spc="-20">
                <a:latin typeface="Microsoft Sans Serif"/>
                <a:cs typeface="Microsoft Sans Serif"/>
              </a:rPr>
              <a:t>size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limit.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78739" y="993167"/>
            <a:ext cx="1508125" cy="16109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400" spc="560">
                <a:solidFill>
                  <a:srgbClr val="FFDD41"/>
                </a:solidFill>
                <a:latin typeface="Times New Roman"/>
                <a:cs typeface="Times New Roman"/>
              </a:rPr>
              <a:t>02</a:t>
            </a:r>
            <a:endParaRPr sz="10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33740" y="1427924"/>
            <a:ext cx="6527165" cy="154178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365"/>
              </a:spcBef>
            </a:pPr>
            <a:r>
              <a:rPr dirty="0" sz="1300" spc="55" b="1">
                <a:solidFill>
                  <a:srgbClr val="5FDEEE"/>
                </a:solidFill>
                <a:latin typeface="Cambria"/>
                <a:cs typeface="Cambria"/>
              </a:rPr>
              <a:t>PART</a:t>
            </a:r>
            <a:r>
              <a:rPr dirty="0" sz="1300" spc="50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-140" b="1">
                <a:solidFill>
                  <a:srgbClr val="5FDEEE"/>
                </a:solidFill>
                <a:latin typeface="Cambria"/>
                <a:cs typeface="Cambria"/>
              </a:rPr>
              <a:t>2</a:t>
            </a:r>
            <a:r>
              <a:rPr dirty="0" sz="1300" spc="40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85" b="1">
                <a:solidFill>
                  <a:srgbClr val="5FDEEE"/>
                </a:solidFill>
                <a:latin typeface="Cambria"/>
                <a:cs typeface="Cambria"/>
              </a:rPr>
              <a:t>OF</a:t>
            </a:r>
            <a:r>
              <a:rPr dirty="0" sz="1300" spc="50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-135" b="1">
                <a:solidFill>
                  <a:srgbClr val="5FDEEE"/>
                </a:solidFill>
                <a:latin typeface="Cambria"/>
                <a:cs typeface="Cambria"/>
              </a:rPr>
              <a:t>5</a:t>
            </a:r>
            <a:r>
              <a:rPr dirty="0" sz="1300" spc="55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65" b="1">
                <a:solidFill>
                  <a:srgbClr val="5FDEEE"/>
                </a:solidFill>
                <a:latin typeface="Cambria"/>
                <a:cs typeface="Cambria"/>
              </a:rPr>
              <a:t>·</a:t>
            </a:r>
            <a:r>
              <a:rPr dirty="0" sz="1300" spc="40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125" b="1">
                <a:solidFill>
                  <a:srgbClr val="5FDEEE"/>
                </a:solidFill>
                <a:latin typeface="Cambria"/>
                <a:cs typeface="Cambria"/>
              </a:rPr>
              <a:t>CONVERSIONS</a:t>
            </a:r>
            <a:endParaRPr sz="1300">
              <a:latin typeface="Cambria"/>
              <a:cs typeface="Cambria"/>
            </a:endParaRPr>
          </a:p>
          <a:p>
            <a:pPr marL="12700" marR="5080">
              <a:lnSpc>
                <a:spcPct val="104200"/>
              </a:lnSpc>
              <a:spcBef>
                <a:spcPts val="610"/>
              </a:spcBef>
            </a:pPr>
            <a:r>
              <a:rPr dirty="0" sz="3800" b="1">
                <a:solidFill>
                  <a:srgbClr val="FFFFFF"/>
                </a:solidFill>
                <a:latin typeface="Times New Roman"/>
                <a:cs typeface="Times New Roman"/>
              </a:rPr>
              <a:t>Conversions</a:t>
            </a:r>
            <a:r>
              <a:rPr dirty="0" sz="38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800" spc="185" b="1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dirty="0" sz="38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800" spc="65" b="1">
                <a:solidFill>
                  <a:srgbClr val="FFFFFF"/>
                </a:solidFill>
                <a:latin typeface="Times New Roman"/>
                <a:cs typeface="Times New Roman"/>
              </a:rPr>
              <a:t>Number </a:t>
            </a:r>
            <a:r>
              <a:rPr dirty="0" sz="3800" spc="140" b="1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endParaRPr sz="3800">
              <a:latin typeface="Times New Roman"/>
              <a:cs typeface="Times New Roman"/>
            </a:endParaRPr>
          </a:p>
        </p:txBody>
      </p:sp>
      <p:pic>
        <p:nvPicPr>
          <p:cNvPr id="4" name="object 4" descr="rule-wid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0001" y="3099638"/>
            <a:ext cx="8229993" cy="157993"/>
          </a:xfrm>
          <a:prstGeom prst="rect">
            <a:avLst/>
          </a:prstGeom>
        </p:spPr>
      </p:pic>
      <p:pic>
        <p:nvPicPr>
          <p:cNvPr id="5" name="object 5" descr="talk-coral-tri-L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30004" y="3759999"/>
            <a:ext cx="2114330" cy="261999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95"/>
              <a:t>One</a:t>
            </a:r>
            <a:r>
              <a:rPr dirty="0" spc="30"/>
              <a:t> </a:t>
            </a:r>
            <a:r>
              <a:rPr dirty="0" spc="110"/>
              <a:t>Map</a:t>
            </a:r>
            <a:r>
              <a:rPr dirty="0" spc="30"/>
              <a:t> </a:t>
            </a:r>
            <a:r>
              <a:rPr dirty="0"/>
              <a:t>for</a:t>
            </a:r>
            <a:r>
              <a:rPr dirty="0" spc="55"/>
              <a:t> </a:t>
            </a:r>
            <a:r>
              <a:rPr dirty="0"/>
              <a:t>Every</a:t>
            </a:r>
            <a:r>
              <a:rPr dirty="0" spc="40"/>
              <a:t> </a:t>
            </a:r>
            <a:r>
              <a:rPr dirty="0" spc="-10"/>
              <a:t>Conversion</a:t>
            </a:r>
          </a:p>
        </p:txBody>
      </p:sp>
      <p:pic>
        <p:nvPicPr>
          <p:cNvPr id="3" name="object 3" descr="d1_conversion_map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4529" y="1305229"/>
            <a:ext cx="8082635" cy="41147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86989" y="5499531"/>
            <a:ext cx="66173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Decimal</a:t>
            </a:r>
            <a:r>
              <a:rPr dirty="0" sz="1200" spc="14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is</a:t>
            </a:r>
            <a:r>
              <a:rPr dirty="0" sz="1200" spc="13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the</a:t>
            </a:r>
            <a:r>
              <a:rPr dirty="0" sz="1200" spc="10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hub</a:t>
            </a:r>
            <a:r>
              <a:rPr dirty="0" sz="1200" spc="13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for</a:t>
            </a:r>
            <a:r>
              <a:rPr dirty="0" sz="1200" spc="11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division</a:t>
            </a:r>
            <a:r>
              <a:rPr dirty="0" sz="1200" spc="13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and</a:t>
            </a:r>
            <a:r>
              <a:rPr dirty="0" sz="1200" spc="114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place-value</a:t>
            </a:r>
            <a:r>
              <a:rPr dirty="0" sz="1200" spc="15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methods;</a:t>
            </a:r>
            <a:r>
              <a:rPr dirty="0" sz="1200" spc="12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binary</a:t>
            </a:r>
            <a:r>
              <a:rPr dirty="0" sz="1200" spc="12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is</a:t>
            </a:r>
            <a:r>
              <a:rPr dirty="0" sz="1200" spc="13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the</a:t>
            </a:r>
            <a:r>
              <a:rPr dirty="0" sz="1200" spc="10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hub</a:t>
            </a:r>
            <a:r>
              <a:rPr dirty="0" sz="1200" spc="12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for</a:t>
            </a:r>
            <a:r>
              <a:rPr dirty="0" sz="1200" spc="11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grouping</a:t>
            </a:r>
            <a:r>
              <a:rPr dirty="0" sz="1200" spc="11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 spc="-10">
                <a:solidFill>
                  <a:srgbClr val="B89E87"/>
                </a:solidFill>
                <a:latin typeface="Cambria"/>
                <a:cs typeface="Cambria"/>
              </a:rPr>
              <a:t>methods.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0001" y="899999"/>
            <a:ext cx="9059989" cy="4719991"/>
          </a:xfrm>
          <a:prstGeom prst="rect">
            <a:avLst/>
          </a:prstGeom>
        </p:spPr>
      </p:pic>
      <p:pic>
        <p:nvPicPr>
          <p:cNvPr id="3" name="object 3" descr="talk-purple-rect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000" y="3560000"/>
            <a:ext cx="1322920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158739" y="1424063"/>
            <a:ext cx="6110605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/>
              <a:t>Decimal</a:t>
            </a:r>
            <a:r>
              <a:rPr dirty="0" sz="2500" spc="65"/>
              <a:t> </a:t>
            </a:r>
            <a:r>
              <a:rPr dirty="0" sz="2500"/>
              <a:t>to</a:t>
            </a:r>
            <a:r>
              <a:rPr dirty="0" sz="2500" spc="35"/>
              <a:t> </a:t>
            </a:r>
            <a:r>
              <a:rPr dirty="0" sz="2500" spc="114"/>
              <a:t>Any</a:t>
            </a:r>
            <a:r>
              <a:rPr dirty="0" sz="2500" spc="30"/>
              <a:t> </a:t>
            </a:r>
            <a:r>
              <a:rPr dirty="0" sz="2500" spc="-20"/>
              <a:t>Base:</a:t>
            </a:r>
            <a:r>
              <a:rPr dirty="0" sz="2500" spc="35"/>
              <a:t> </a:t>
            </a:r>
            <a:r>
              <a:rPr dirty="0" sz="2500"/>
              <a:t>Successive</a:t>
            </a:r>
            <a:r>
              <a:rPr dirty="0" sz="2500" spc="55"/>
              <a:t> </a:t>
            </a:r>
            <a:r>
              <a:rPr dirty="0" sz="2500" spc="35"/>
              <a:t>Division</a:t>
            </a:r>
            <a:endParaRPr sz="2500"/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28843" y="2073103"/>
            <a:ext cx="5793105" cy="18542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Step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80" b="1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dirty="0" sz="1500" spc="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divide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decimal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number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target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base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(2,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16).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Step</a:t>
            </a:r>
            <a:r>
              <a:rPr dirty="0" sz="1500" spc="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80" b="1">
                <a:solidFill>
                  <a:srgbClr val="FFFFFF"/>
                </a:solidFill>
                <a:latin typeface="Cambria"/>
                <a:cs typeface="Cambria"/>
              </a:rPr>
              <a:t>2:</a:t>
            </a:r>
            <a:r>
              <a:rPr dirty="0" sz="1500" spc="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note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down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remainder.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Step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80" b="1">
                <a:solidFill>
                  <a:srgbClr val="FFFFFF"/>
                </a:solidFill>
                <a:latin typeface="Cambria"/>
                <a:cs typeface="Cambria"/>
              </a:rPr>
              <a:t>3:</a:t>
            </a:r>
            <a:r>
              <a:rPr dirty="0" sz="1500" spc="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keep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dividing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quotient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until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it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becomes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zero.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Step</a:t>
            </a:r>
            <a:r>
              <a:rPr dirty="0" sz="1500" spc="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80" b="1">
                <a:solidFill>
                  <a:srgbClr val="FFFFFF"/>
                </a:solidFill>
                <a:latin typeface="Cambria"/>
                <a:cs typeface="Cambria"/>
              </a:rPr>
              <a:t>4:</a:t>
            </a:r>
            <a:r>
              <a:rPr dirty="0" sz="1500" spc="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write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remainders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5" b="1">
                <a:solidFill>
                  <a:srgbClr val="FFFFFF"/>
                </a:solidFill>
                <a:latin typeface="Cambria"/>
                <a:cs typeface="Cambria"/>
              </a:rPr>
              <a:t>reverse</a:t>
            </a:r>
            <a:r>
              <a:rPr dirty="0" sz="1500" spc="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5" b="1">
                <a:solidFill>
                  <a:srgbClr val="FFFFFF"/>
                </a:solidFill>
                <a:latin typeface="Cambria"/>
                <a:cs typeface="Cambria"/>
              </a:rPr>
              <a:t>order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(bottom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top).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first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remainder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75" b="1">
                <a:solidFill>
                  <a:srgbClr val="FFFFFF"/>
                </a:solidFill>
                <a:latin typeface="Cambria"/>
                <a:cs typeface="Cambria"/>
              </a:rPr>
              <a:t>LSB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last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remainder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5" b="1">
                <a:solidFill>
                  <a:srgbClr val="FFFFFF"/>
                </a:solidFill>
                <a:latin typeface="Cambria"/>
                <a:cs typeface="Cambria"/>
              </a:rPr>
              <a:t>MSB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same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recipe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works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base: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only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divisor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changes.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Solved:</a:t>
            </a:r>
            <a:r>
              <a:rPr dirty="0" spc="95"/>
              <a:t> </a:t>
            </a:r>
            <a:r>
              <a:rPr dirty="0" spc="-160"/>
              <a:t>(25)</a:t>
            </a:r>
            <a:r>
              <a:rPr dirty="0" spc="-160" b="0">
                <a:latin typeface="Cambria Math"/>
                <a:cs typeface="Cambria Math"/>
              </a:rPr>
              <a:t>₁₀</a:t>
            </a:r>
            <a:r>
              <a:rPr dirty="0" spc="65" b="0">
                <a:latin typeface="Cambria Math"/>
                <a:cs typeface="Cambria Math"/>
              </a:rPr>
              <a:t> </a:t>
            </a:r>
            <a:r>
              <a:rPr dirty="0"/>
              <a:t>to</a:t>
            </a:r>
            <a:r>
              <a:rPr dirty="0" spc="135"/>
              <a:t> </a:t>
            </a:r>
            <a:r>
              <a:rPr dirty="0" spc="-10"/>
              <a:t>Binary</a:t>
            </a:r>
          </a:p>
        </p:txBody>
      </p:sp>
      <p:pic>
        <p:nvPicPr>
          <p:cNvPr id="3" name="object 3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87820" y="1502351"/>
            <a:ext cx="1458595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25</a:t>
            </a:r>
            <a:r>
              <a:rPr dirty="0" sz="17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÷</a:t>
            </a:r>
            <a:r>
              <a:rPr dirty="0" sz="17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2 =</a:t>
            </a:r>
            <a:r>
              <a:rPr dirty="0" sz="1700" spc="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spc="-25">
                <a:solidFill>
                  <a:srgbClr val="FFFFFF"/>
                </a:solidFill>
                <a:latin typeface="Courier New"/>
                <a:cs typeface="Courier New"/>
              </a:rPr>
              <a:t>12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34727" y="1502351"/>
            <a:ext cx="67691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10">
                <a:solidFill>
                  <a:srgbClr val="FFFFFF"/>
                </a:solidFill>
                <a:latin typeface="Courier New"/>
                <a:cs typeface="Courier New"/>
              </a:rPr>
              <a:t>(LSB)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7820" y="1763556"/>
            <a:ext cx="1066800" cy="114427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54"/>
              </a:spcBef>
            </a:pP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12</a:t>
            </a:r>
            <a:r>
              <a:rPr dirty="0" sz="17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÷</a:t>
            </a:r>
            <a:r>
              <a:rPr dirty="0" sz="17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2</a:t>
            </a:r>
            <a:r>
              <a:rPr dirty="0" sz="17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spc="-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endParaRPr sz="170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155"/>
              </a:spcBef>
            </a:pP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6</a:t>
            </a:r>
            <a:r>
              <a:rPr dirty="0" sz="17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÷</a:t>
            </a:r>
            <a:r>
              <a:rPr dirty="0" sz="17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2 </a:t>
            </a:r>
            <a:r>
              <a:rPr dirty="0" sz="1700" spc="-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endParaRPr sz="170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170"/>
              </a:spcBef>
            </a:pP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3</a:t>
            </a:r>
            <a:r>
              <a:rPr dirty="0" sz="17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÷</a:t>
            </a:r>
            <a:r>
              <a:rPr dirty="0" sz="17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2 </a:t>
            </a:r>
            <a:r>
              <a:rPr dirty="0" sz="1700" spc="-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endParaRPr sz="170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165"/>
              </a:spcBef>
            </a:pP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7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÷</a:t>
            </a:r>
            <a:r>
              <a:rPr dirty="0" sz="17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2 </a:t>
            </a:r>
            <a:r>
              <a:rPr dirty="0" sz="1700" spc="-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91159" y="1481575"/>
            <a:ext cx="1978660" cy="142621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532130">
              <a:lnSpc>
                <a:spcPct val="100000"/>
              </a:lnSpc>
              <a:spcBef>
                <a:spcPts val="265"/>
              </a:spcBef>
            </a:pP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remainder</a:t>
            </a:r>
            <a:r>
              <a:rPr dirty="0" sz="1700" spc="-6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spc="-50" b="1">
                <a:solidFill>
                  <a:srgbClr val="FFDD41"/>
                </a:solidFill>
                <a:latin typeface="Courier New"/>
                <a:cs typeface="Courier New"/>
              </a:rPr>
              <a:t>1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  <a:tabLst>
                <a:tab pos="532130" algn="l"/>
              </a:tabLst>
            </a:pPr>
            <a:r>
              <a:rPr dirty="0" sz="1700" spc="-50">
                <a:solidFill>
                  <a:srgbClr val="FFFFFF"/>
                </a:solidFill>
                <a:latin typeface="Courier New"/>
                <a:cs typeface="Courier New"/>
              </a:rPr>
              <a:t>6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	remainder</a:t>
            </a:r>
            <a:r>
              <a:rPr dirty="0" sz="1700" spc="-6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spc="-50" b="1">
                <a:solidFill>
                  <a:srgbClr val="FFDD41"/>
                </a:solidFill>
                <a:latin typeface="Courier New"/>
                <a:cs typeface="Courier New"/>
              </a:rPr>
              <a:t>0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  <a:tabLst>
                <a:tab pos="532130" algn="l"/>
              </a:tabLst>
            </a:pPr>
            <a:r>
              <a:rPr dirty="0" sz="1700" spc="-50">
                <a:solidFill>
                  <a:srgbClr val="FFFFFF"/>
                </a:solidFill>
                <a:latin typeface="Courier New"/>
                <a:cs typeface="Courier New"/>
              </a:rPr>
              <a:t>3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	remainder</a:t>
            </a:r>
            <a:r>
              <a:rPr dirty="0" sz="1700" spc="-6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spc="-50" b="1">
                <a:solidFill>
                  <a:srgbClr val="FFDD41"/>
                </a:solidFill>
                <a:latin typeface="Courier New"/>
                <a:cs typeface="Courier New"/>
              </a:rPr>
              <a:t>0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  <a:tabLst>
                <a:tab pos="532130" algn="l"/>
              </a:tabLst>
            </a:pPr>
            <a:r>
              <a:rPr dirty="0" sz="1700" spc="-5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	remainder</a:t>
            </a:r>
            <a:r>
              <a:rPr dirty="0" sz="1700" spc="-6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spc="-50" b="1">
                <a:solidFill>
                  <a:srgbClr val="FFDD41"/>
                </a:solidFill>
                <a:latin typeface="Courier New"/>
                <a:cs typeface="Courier New"/>
              </a:rPr>
              <a:t>1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  <a:tabLst>
                <a:tab pos="532130" algn="l"/>
              </a:tabLst>
            </a:pPr>
            <a:r>
              <a:rPr dirty="0" sz="1700" spc="-5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	remainder</a:t>
            </a:r>
            <a:r>
              <a:rPr dirty="0" sz="1700" spc="-6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spc="-50" b="1">
                <a:solidFill>
                  <a:srgbClr val="FFDD41"/>
                </a:solidFill>
                <a:latin typeface="Courier New"/>
                <a:cs typeface="Courier New"/>
              </a:rPr>
              <a:t>1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34727" y="2622695"/>
            <a:ext cx="676910" cy="285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10">
                <a:solidFill>
                  <a:srgbClr val="FFFFFF"/>
                </a:solidFill>
                <a:latin typeface="Courier New"/>
                <a:cs typeface="Courier New"/>
              </a:rPr>
              <a:t>(MSB)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7820" y="3182110"/>
            <a:ext cx="4454525" cy="1403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read</a:t>
            </a:r>
            <a:r>
              <a:rPr dirty="0" sz="1700" spc="-5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dirty="0" sz="170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remainders</a:t>
            </a:r>
            <a:r>
              <a:rPr dirty="0" sz="1700" spc="-4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bottom</a:t>
            </a:r>
            <a:r>
              <a:rPr dirty="0" sz="1700" spc="-5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to</a:t>
            </a:r>
            <a:r>
              <a:rPr dirty="0" sz="1700" spc="-5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Courier New"/>
                <a:cs typeface="Courier New"/>
              </a:rPr>
              <a:t>top:</a:t>
            </a:r>
            <a:endParaRPr sz="1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700" b="1">
                <a:solidFill>
                  <a:srgbClr val="FFFFFF"/>
                </a:solidFill>
                <a:latin typeface="Courier New"/>
                <a:cs typeface="Courier New"/>
              </a:rPr>
              <a:t>(25)10</a:t>
            </a:r>
            <a:r>
              <a:rPr dirty="0" sz="1700" spc="-10" b="1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70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700" spc="-15" b="1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700" spc="-10" b="1">
                <a:solidFill>
                  <a:srgbClr val="FFFFFF"/>
                </a:solidFill>
                <a:latin typeface="Courier New"/>
                <a:cs typeface="Courier New"/>
              </a:rPr>
              <a:t>(11001)2</a:t>
            </a:r>
            <a:endParaRPr sz="1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700" b="1">
                <a:solidFill>
                  <a:srgbClr val="5FDEEE"/>
                </a:solidFill>
                <a:latin typeface="Courier New"/>
                <a:cs typeface="Courier New"/>
              </a:rPr>
              <a:t>check:</a:t>
            </a:r>
            <a:r>
              <a:rPr dirty="0" sz="1700" spc="-1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16</a:t>
            </a:r>
            <a:r>
              <a:rPr dirty="0" sz="17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+</a:t>
            </a:r>
            <a:r>
              <a:rPr dirty="0" sz="17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8</a:t>
            </a:r>
            <a:r>
              <a:rPr dirty="0" sz="17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+</a:t>
            </a:r>
            <a:r>
              <a:rPr dirty="0" sz="17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7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+ 0</a:t>
            </a:r>
            <a:r>
              <a:rPr dirty="0" sz="17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+</a:t>
            </a:r>
            <a:r>
              <a:rPr dirty="0" sz="17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7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7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>
                <a:solidFill>
                  <a:srgbClr val="FFFFFF"/>
                </a:solidFill>
                <a:latin typeface="Courier New"/>
                <a:cs typeface="Courier New"/>
              </a:rPr>
              <a:t>25</a:t>
            </a:r>
            <a:r>
              <a:rPr dirty="0" sz="1700" spc="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700" spc="-25">
                <a:solidFill>
                  <a:srgbClr val="FFFFFF"/>
                </a:solidFill>
                <a:latin typeface="Courier New"/>
                <a:cs typeface="Courier New"/>
              </a:rPr>
              <a:t>OK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Solved:</a:t>
            </a:r>
            <a:r>
              <a:rPr dirty="0" spc="114"/>
              <a:t> </a:t>
            </a:r>
            <a:r>
              <a:rPr dirty="0" spc="-195"/>
              <a:t>(12345)</a:t>
            </a:r>
            <a:r>
              <a:rPr dirty="0" spc="-195" b="0">
                <a:latin typeface="Cambria Math"/>
                <a:cs typeface="Cambria Math"/>
              </a:rPr>
              <a:t>₁₀</a:t>
            </a:r>
            <a:r>
              <a:rPr dirty="0" spc="80" b="0">
                <a:latin typeface="Cambria Math"/>
                <a:cs typeface="Cambria Math"/>
              </a:rPr>
              <a:t> </a:t>
            </a:r>
            <a:r>
              <a:rPr dirty="0"/>
              <a:t>to</a:t>
            </a:r>
            <a:r>
              <a:rPr dirty="0" spc="155"/>
              <a:t> </a:t>
            </a:r>
            <a:r>
              <a:rPr dirty="0" spc="-10"/>
              <a:t>Binary</a:t>
            </a:r>
          </a:p>
        </p:txBody>
      </p:sp>
      <p:pic>
        <p:nvPicPr>
          <p:cNvPr id="3" name="object 3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27038" y="1549501"/>
          <a:ext cx="6718934" cy="1752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545"/>
                <a:gridCol w="234949"/>
                <a:gridCol w="234950"/>
                <a:gridCol w="235584"/>
                <a:gridCol w="645795"/>
                <a:gridCol w="293369"/>
                <a:gridCol w="293369"/>
                <a:gridCol w="1056639"/>
                <a:gridCol w="645795"/>
                <a:gridCol w="234950"/>
                <a:gridCol w="234950"/>
                <a:gridCol w="234314"/>
                <a:gridCol w="410210"/>
                <a:gridCol w="292735"/>
                <a:gridCol w="913130"/>
              </a:tblGrid>
              <a:tr h="238760">
                <a:tc>
                  <a:txBody>
                    <a:bodyPr/>
                    <a:lstStyle/>
                    <a:p>
                      <a:pPr algn="r" marR="51435">
                        <a:lnSpc>
                          <a:spcPts val="1600"/>
                        </a:lnSpc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12345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9855">
                        <a:lnSpc>
                          <a:spcPts val="1600"/>
                        </a:lnSpc>
                      </a:pPr>
                      <a:r>
                        <a:rPr dirty="0" sz="15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6172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7785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1600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1600"/>
                        </a:lnSpc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(LSB)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1435">
                        <a:lnSpc>
                          <a:spcPts val="160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96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0489">
                        <a:lnSpc>
                          <a:spcPts val="160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48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7150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1600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55270">
                <a:tc>
                  <a:txBody>
                    <a:bodyPr/>
                    <a:lstStyle/>
                    <a:p>
                      <a:pPr algn="r" marR="50800">
                        <a:lnSpc>
                          <a:spcPts val="1730"/>
                        </a:lnSpc>
                      </a:pPr>
                      <a:r>
                        <a:rPr dirty="0" sz="15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6172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9855">
                        <a:lnSpc>
                          <a:spcPts val="1730"/>
                        </a:lnSpc>
                      </a:pPr>
                      <a:r>
                        <a:rPr dirty="0" sz="15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3086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8419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730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1435">
                        <a:lnSpc>
                          <a:spcPts val="173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48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9855">
                        <a:lnSpc>
                          <a:spcPts val="173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24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7785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730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55270">
                <a:tc>
                  <a:txBody>
                    <a:bodyPr/>
                    <a:lstStyle/>
                    <a:p>
                      <a:pPr algn="r" marR="50800">
                        <a:lnSpc>
                          <a:spcPts val="1725"/>
                        </a:lnSpc>
                      </a:pPr>
                      <a:r>
                        <a:rPr dirty="0" sz="15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3086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9220">
                        <a:lnSpc>
                          <a:spcPts val="1725"/>
                        </a:lnSpc>
                      </a:pPr>
                      <a:r>
                        <a:rPr dirty="0" sz="15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1543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25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800">
                        <a:lnSpc>
                          <a:spcPts val="1725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24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9855">
                        <a:lnSpc>
                          <a:spcPts val="1725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25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55270">
                <a:tc>
                  <a:txBody>
                    <a:bodyPr/>
                    <a:lstStyle/>
                    <a:p>
                      <a:pPr algn="r" marR="50165">
                        <a:lnSpc>
                          <a:spcPts val="1730"/>
                        </a:lnSpc>
                      </a:pPr>
                      <a:r>
                        <a:rPr dirty="0" sz="15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1543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9220">
                        <a:lnSpc>
                          <a:spcPts val="173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771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690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30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800">
                        <a:lnSpc>
                          <a:spcPts val="173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8585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30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54000">
                <a:tc>
                  <a:txBody>
                    <a:bodyPr/>
                    <a:lstStyle/>
                    <a:p>
                      <a:pPr algn="r" marR="50165">
                        <a:lnSpc>
                          <a:spcPts val="1725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771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9220">
                        <a:lnSpc>
                          <a:spcPts val="1725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385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690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25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858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25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55270">
                <a:tc>
                  <a:txBody>
                    <a:bodyPr/>
                    <a:lstStyle/>
                    <a:p>
                      <a:pPr algn="r" marR="50165">
                        <a:lnSpc>
                          <a:spcPts val="1725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385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9220">
                        <a:lnSpc>
                          <a:spcPts val="1725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192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690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25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858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25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38760">
                <a:tc>
                  <a:txBody>
                    <a:bodyPr/>
                    <a:lstStyle/>
                    <a:p>
                      <a:pPr algn="r" marR="50165">
                        <a:lnSpc>
                          <a:spcPts val="173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192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8585">
                        <a:lnSpc>
                          <a:spcPts val="173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96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690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30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8585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690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30"/>
                        </a:lnSpc>
                      </a:pPr>
                      <a:r>
                        <a:rPr dirty="0" sz="15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(MSB)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64832" y="3546114"/>
            <a:ext cx="401891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solidFill>
                  <a:srgbClr val="FFFFFF"/>
                </a:solidFill>
                <a:latin typeface="Courier New"/>
                <a:cs typeface="Courier New"/>
              </a:rPr>
              <a:t>(12345)10</a:t>
            </a:r>
            <a:r>
              <a:rPr dirty="0" sz="1550" spc="-20" b="1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55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550" spc="-20" b="1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550" b="1">
                <a:solidFill>
                  <a:srgbClr val="FFFFFF"/>
                </a:solidFill>
                <a:latin typeface="Courier New"/>
                <a:cs typeface="Courier New"/>
              </a:rPr>
              <a:t>(11</a:t>
            </a:r>
            <a:r>
              <a:rPr dirty="0" sz="155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ourier New"/>
                <a:cs typeface="Courier New"/>
              </a:rPr>
              <a:t>0000</a:t>
            </a:r>
            <a:r>
              <a:rPr dirty="0" sz="155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ourier New"/>
                <a:cs typeface="Courier New"/>
              </a:rPr>
              <a:t>0011</a:t>
            </a:r>
            <a:r>
              <a:rPr dirty="0" sz="155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ourier New"/>
                <a:cs typeface="Courier New"/>
              </a:rPr>
              <a:t>1001)2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17:39:38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Fourteen divisions. Later we </a:t>
            </a:r>
            <a:r>
              <a:rPr dirty="0" sz="1000" spc="-20">
                <a:latin typeface="Microsoft Sans Serif"/>
                <a:cs typeface="Microsoft Sans Serif"/>
              </a:rPr>
              <a:t>will </a:t>
            </a:r>
            <a:r>
              <a:rPr dirty="0" sz="1000">
                <a:latin typeface="Microsoft Sans Serif"/>
                <a:cs typeface="Microsoft Sans Serif"/>
              </a:rPr>
              <a:t>see that hex gives the </a:t>
            </a:r>
            <a:r>
              <a:rPr dirty="0" sz="1000" spc="-20">
                <a:latin typeface="Microsoft Sans Serif"/>
                <a:cs typeface="Microsoft Sans Serif"/>
              </a:rPr>
              <a:t>same </a:t>
            </a:r>
            <a:r>
              <a:rPr dirty="0" sz="1000">
                <a:latin typeface="Microsoft Sans Serif"/>
                <a:cs typeface="Microsoft Sans Serif"/>
              </a:rPr>
              <a:t>answer in four divisions, which </a:t>
            </a:r>
            <a:r>
              <a:rPr dirty="0" sz="1000" spc="-25">
                <a:latin typeface="Microsoft Sans Serif"/>
                <a:cs typeface="Microsoft Sans Serif"/>
              </a:rPr>
              <a:t>is </a:t>
            </a:r>
            <a:r>
              <a:rPr dirty="0" sz="1000">
                <a:latin typeface="Microsoft Sans Serif"/>
                <a:cs typeface="Microsoft Sans Serif"/>
              </a:rPr>
              <a:t>why examiners think in </a:t>
            </a:r>
            <a:r>
              <a:rPr dirty="0" sz="1000" spc="-20">
                <a:latin typeface="Microsoft Sans Serif"/>
                <a:cs typeface="Microsoft Sans Serif"/>
              </a:rPr>
              <a:t>hex.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Successive</a:t>
            </a:r>
            <a:r>
              <a:rPr dirty="0" spc="30"/>
              <a:t> </a:t>
            </a:r>
            <a:r>
              <a:rPr dirty="0" spc="55"/>
              <a:t>Division,</a:t>
            </a:r>
            <a:r>
              <a:rPr dirty="0" spc="50"/>
              <a:t> </a:t>
            </a:r>
            <a:r>
              <a:rPr dirty="0" spc="-10"/>
              <a:t>Watched</a:t>
            </a:r>
          </a:p>
        </p:txBody>
      </p:sp>
      <p:pic>
        <p:nvPicPr>
          <p:cNvPr id="3" name="object 3" descr="a_base_convert.gif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816" y="1240002"/>
            <a:ext cx="10364049" cy="444397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43736" y="5768716"/>
            <a:ext cx="4305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0">
                <a:solidFill>
                  <a:srgbClr val="B89E87"/>
                </a:solidFill>
                <a:latin typeface="Cambria"/>
                <a:cs typeface="Cambria"/>
              </a:rPr>
              <a:t>2026</a:t>
            </a:r>
            <a:r>
              <a:rPr dirty="0" sz="1200" spc="7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to</a:t>
            </a:r>
            <a:r>
              <a:rPr dirty="0" sz="1200" spc="5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binary,</a:t>
            </a:r>
            <a:r>
              <a:rPr dirty="0" sz="1200" spc="8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one</a:t>
            </a:r>
            <a:r>
              <a:rPr dirty="0" sz="1200" spc="6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division</a:t>
            </a:r>
            <a:r>
              <a:rPr dirty="0" sz="1200" spc="9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at</a:t>
            </a:r>
            <a:r>
              <a:rPr dirty="0" sz="1200" spc="7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a</a:t>
            </a:r>
            <a:r>
              <a:rPr dirty="0" sz="1200" spc="8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time,</a:t>
            </a:r>
            <a:r>
              <a:rPr dirty="0" sz="1200" spc="7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remainders</a:t>
            </a:r>
            <a:r>
              <a:rPr dirty="0" sz="1200" spc="8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read</a:t>
            </a:r>
            <a:r>
              <a:rPr dirty="0" sz="1200" spc="7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 spc="-10">
                <a:solidFill>
                  <a:srgbClr val="B89E87"/>
                </a:solidFill>
                <a:latin typeface="Cambria"/>
                <a:cs typeface="Cambria"/>
              </a:rPr>
              <a:t>upward.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17:39:39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This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animates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slideshow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mode.</a:t>
            </a:r>
            <a:r>
              <a:rPr dirty="0" sz="1000" spc="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Let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run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once,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work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second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number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board </a:t>
            </a:r>
            <a:r>
              <a:rPr dirty="0" sz="1000">
                <a:latin typeface="Microsoft Sans Serif"/>
                <a:cs typeface="Microsoft Sans Serif"/>
              </a:rPr>
              <a:t>with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class.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check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line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at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end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matters: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students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should </a:t>
            </a:r>
            <a:r>
              <a:rPr dirty="0" sz="1000">
                <a:latin typeface="Microsoft Sans Serif"/>
                <a:cs typeface="Microsoft Sans Serif"/>
              </a:rPr>
              <a:t>always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verify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adding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place </a:t>
            </a:r>
            <a:r>
              <a:rPr dirty="0" sz="1000">
                <a:latin typeface="Microsoft Sans Serif"/>
                <a:cs typeface="Microsoft Sans Serif"/>
              </a:rPr>
              <a:t>values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back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up,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because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single </a:t>
            </a:r>
            <a:r>
              <a:rPr dirty="0" sz="1000">
                <a:latin typeface="Microsoft Sans Serif"/>
                <a:cs typeface="Microsoft Sans Serif"/>
              </a:rPr>
              <a:t>transposed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remainder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invisible otherwise.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Solved:</a:t>
            </a:r>
            <a:r>
              <a:rPr dirty="0" spc="80"/>
              <a:t> </a:t>
            </a:r>
            <a:r>
              <a:rPr dirty="0" spc="-195"/>
              <a:t>(12345)</a:t>
            </a:r>
            <a:r>
              <a:rPr dirty="0" spc="-195" b="0">
                <a:latin typeface="Cambria Math"/>
                <a:cs typeface="Cambria Math"/>
              </a:rPr>
              <a:t>₁₀</a:t>
            </a:r>
            <a:r>
              <a:rPr dirty="0" spc="45" b="0">
                <a:latin typeface="Cambria Math"/>
                <a:cs typeface="Cambria Math"/>
              </a:rPr>
              <a:t> </a:t>
            </a:r>
            <a:r>
              <a:rPr dirty="0"/>
              <a:t>to</a:t>
            </a:r>
            <a:r>
              <a:rPr dirty="0" spc="114"/>
              <a:t> </a:t>
            </a:r>
            <a:r>
              <a:rPr dirty="0"/>
              <a:t>Octal</a:t>
            </a:r>
            <a:r>
              <a:rPr dirty="0" spc="85"/>
              <a:t> </a:t>
            </a:r>
            <a:r>
              <a:rPr dirty="0"/>
              <a:t>and</a:t>
            </a:r>
            <a:r>
              <a:rPr dirty="0" spc="100"/>
              <a:t> </a:t>
            </a:r>
            <a:r>
              <a:rPr dirty="0"/>
              <a:t>to</a:t>
            </a:r>
            <a:r>
              <a:rPr dirty="0" spc="105"/>
              <a:t> </a:t>
            </a:r>
            <a:r>
              <a:rPr dirty="0" spc="25"/>
              <a:t>Hex</a:t>
            </a:r>
          </a:p>
        </p:txBody>
      </p:sp>
      <p:pic>
        <p:nvPicPr>
          <p:cNvPr id="3" name="object 3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63436" y="1503875"/>
            <a:ext cx="260985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to</a:t>
            </a:r>
            <a:r>
              <a:rPr dirty="0" sz="1550" spc="-3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octal</a:t>
            </a:r>
            <a:r>
              <a:rPr dirty="0" sz="1550" spc="-2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(divide</a:t>
            </a:r>
            <a:r>
              <a:rPr dirty="0" sz="1550" spc="-3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by</a:t>
            </a:r>
            <a:r>
              <a:rPr dirty="0" sz="1550" spc="-25" b="1">
                <a:solidFill>
                  <a:srgbClr val="5FDEEE"/>
                </a:solidFill>
                <a:latin typeface="Courier New"/>
                <a:cs typeface="Courier New"/>
              </a:rPr>
              <a:t> 8)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21762" y="1503875"/>
            <a:ext cx="343281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to</a:t>
            </a:r>
            <a:r>
              <a:rPr dirty="0" sz="1550" spc="-4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hexadecimal</a:t>
            </a:r>
            <a:r>
              <a:rPr dirty="0" sz="1550" spc="-3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(divide</a:t>
            </a:r>
            <a:r>
              <a:rPr dirty="0" sz="1550" spc="-3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by</a:t>
            </a:r>
            <a:r>
              <a:rPr dirty="0" sz="1550" spc="-3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spc="-25" b="1">
                <a:solidFill>
                  <a:srgbClr val="5FDEEE"/>
                </a:solidFill>
                <a:latin typeface="Courier New"/>
                <a:cs typeface="Courier New"/>
              </a:rPr>
              <a:t>16)</a:t>
            </a:r>
            <a:endParaRPr sz="155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44583" y="2060061"/>
          <a:ext cx="6494145" cy="1752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8180"/>
                <a:gridCol w="234950"/>
                <a:gridCol w="234950"/>
                <a:gridCol w="235584"/>
                <a:gridCol w="646429"/>
                <a:gridCol w="361314"/>
                <a:gridCol w="763905"/>
                <a:gridCol w="1409700"/>
                <a:gridCol w="234314"/>
                <a:gridCol w="351789"/>
                <a:gridCol w="234314"/>
                <a:gridCol w="528320"/>
                <a:gridCol w="293370"/>
                <a:gridCol w="207645"/>
              </a:tblGrid>
              <a:tr h="238760">
                <a:tc>
                  <a:txBody>
                    <a:bodyPr/>
                    <a:lstStyle/>
                    <a:p>
                      <a:pPr algn="r" marR="51435">
                        <a:lnSpc>
                          <a:spcPts val="1600"/>
                        </a:lnSpc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12345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0489">
                        <a:lnSpc>
                          <a:spcPts val="1600"/>
                        </a:lnSpc>
                      </a:pPr>
                      <a:r>
                        <a:rPr dirty="0" sz="15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1543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800">
                        <a:lnSpc>
                          <a:spcPts val="1600"/>
                        </a:lnSpc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12345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16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1125">
                        <a:lnSpc>
                          <a:spcPts val="160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771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8419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600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55270">
                <a:tc>
                  <a:txBody>
                    <a:bodyPr/>
                    <a:lstStyle/>
                    <a:p>
                      <a:pPr algn="r" marR="51435">
                        <a:lnSpc>
                          <a:spcPts val="1730"/>
                        </a:lnSpc>
                      </a:pPr>
                      <a:r>
                        <a:rPr dirty="0" sz="15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1543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9855">
                        <a:lnSpc>
                          <a:spcPts val="173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192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730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800">
                        <a:lnSpc>
                          <a:spcPts val="173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771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16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0489">
                        <a:lnSpc>
                          <a:spcPts val="173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48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8419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730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54000">
                <a:tc>
                  <a:txBody>
                    <a:bodyPr/>
                    <a:lstStyle/>
                    <a:p>
                      <a:pPr algn="r" marR="51435">
                        <a:lnSpc>
                          <a:spcPts val="1725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192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9855">
                        <a:lnSpc>
                          <a:spcPts val="1725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24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725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ts val="1725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48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16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985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725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55270">
                <a:tc>
                  <a:txBody>
                    <a:bodyPr/>
                    <a:lstStyle/>
                    <a:p>
                      <a:pPr algn="r" marR="50800">
                        <a:lnSpc>
                          <a:spcPts val="1725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24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9220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725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16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9220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690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725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38760">
                <a:tc>
                  <a:txBody>
                    <a:bodyPr/>
                    <a:lstStyle/>
                    <a:p>
                      <a:pPr algn="r" marR="50165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8585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 marR="3175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730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51054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32384">
                        <a:lnSpc>
                          <a:spcPct val="100000"/>
                        </a:lnSpc>
                      </a:pPr>
                      <a:r>
                        <a:rPr dirty="0" sz="1550" spc="-1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(12345)10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50" spc="-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 gridSpan="2"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</a:pPr>
                      <a:r>
                        <a:rPr dirty="0" sz="1550" spc="-1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(30071)8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409065">
                        <a:lnSpc>
                          <a:spcPct val="100000"/>
                        </a:lnSpc>
                      </a:pPr>
                      <a:r>
                        <a:rPr dirty="0" sz="15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(12345)10</a:t>
                      </a:r>
                      <a:r>
                        <a:rPr dirty="0" sz="1550" spc="-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dirty="0" sz="1550" spc="-1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(3039)16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Solved:</a:t>
            </a:r>
            <a:r>
              <a:rPr dirty="0" spc="125"/>
              <a:t> </a:t>
            </a:r>
            <a:r>
              <a:rPr dirty="0" spc="-165"/>
              <a:t>(725)</a:t>
            </a:r>
            <a:r>
              <a:rPr dirty="0" spc="-165" b="0">
                <a:latin typeface="Cambria Math"/>
                <a:cs typeface="Cambria Math"/>
              </a:rPr>
              <a:t>₁₀</a:t>
            </a:r>
            <a:r>
              <a:rPr dirty="0" spc="130" b="0">
                <a:latin typeface="Cambria Math"/>
                <a:cs typeface="Cambria Math"/>
              </a:rPr>
              <a:t> </a:t>
            </a:r>
            <a:r>
              <a:rPr dirty="0"/>
              <a:t>to</a:t>
            </a:r>
            <a:r>
              <a:rPr dirty="0" spc="140"/>
              <a:t> </a:t>
            </a:r>
            <a:r>
              <a:rPr dirty="0"/>
              <a:t>Hex,</a:t>
            </a:r>
            <a:r>
              <a:rPr dirty="0" spc="130"/>
              <a:t> </a:t>
            </a:r>
            <a:r>
              <a:rPr dirty="0"/>
              <a:t>and</a:t>
            </a:r>
            <a:r>
              <a:rPr dirty="0" spc="140"/>
              <a:t> </a:t>
            </a:r>
            <a:r>
              <a:rPr dirty="0"/>
              <a:t>Decimal</a:t>
            </a:r>
            <a:r>
              <a:rPr dirty="0" spc="120"/>
              <a:t> </a:t>
            </a:r>
            <a:r>
              <a:rPr dirty="0" spc="-30"/>
              <a:t>Fractions</a:t>
            </a:r>
          </a:p>
        </p:txBody>
      </p:sp>
      <p:pic>
        <p:nvPicPr>
          <p:cNvPr id="3" name="object 3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63436" y="1503875"/>
            <a:ext cx="213995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725</a:t>
            </a:r>
            <a:r>
              <a:rPr dirty="0" sz="1550" spc="-2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to</a:t>
            </a:r>
            <a:r>
              <a:rPr dirty="0" sz="1550" spc="-2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spc="-10" b="1">
                <a:solidFill>
                  <a:srgbClr val="5FDEEE"/>
                </a:solidFill>
                <a:latin typeface="Courier New"/>
                <a:cs typeface="Courier New"/>
              </a:rPr>
              <a:t>hexadecimal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38933" y="1503875"/>
            <a:ext cx="3669029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0.625</a:t>
            </a:r>
            <a:r>
              <a:rPr dirty="0" sz="1550" spc="-3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to</a:t>
            </a:r>
            <a:r>
              <a:rPr dirty="0" sz="1550" spc="-3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binary</a:t>
            </a:r>
            <a:r>
              <a:rPr dirty="0" sz="1550" spc="-3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(multiply</a:t>
            </a:r>
            <a:r>
              <a:rPr dirty="0" sz="1550" spc="-3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by</a:t>
            </a:r>
            <a:r>
              <a:rPr dirty="0" sz="1550" spc="-3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spc="-25" b="1">
                <a:solidFill>
                  <a:srgbClr val="5FDEEE"/>
                </a:solidFill>
                <a:latin typeface="Courier New"/>
                <a:cs typeface="Courier New"/>
              </a:rPr>
              <a:t>2)</a:t>
            </a:r>
            <a:endParaRPr sz="155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44386" y="2060061"/>
          <a:ext cx="7774940" cy="732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595"/>
                <a:gridCol w="234950"/>
                <a:gridCol w="351789"/>
                <a:gridCol w="236220"/>
                <a:gridCol w="411480"/>
                <a:gridCol w="294005"/>
                <a:gridCol w="410844"/>
                <a:gridCol w="1056639"/>
                <a:gridCol w="1234439"/>
                <a:gridCol w="234314"/>
                <a:gridCol w="234314"/>
                <a:gridCol w="234314"/>
                <a:gridCol w="704214"/>
                <a:gridCol w="704850"/>
                <a:gridCol w="913129"/>
              </a:tblGrid>
              <a:tr h="238760">
                <a:tc>
                  <a:txBody>
                    <a:bodyPr/>
                    <a:lstStyle/>
                    <a:p>
                      <a:pPr algn="r" marR="50800">
                        <a:lnSpc>
                          <a:spcPts val="160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725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16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9220">
                        <a:lnSpc>
                          <a:spcPts val="160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45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8585">
                        <a:lnSpc>
                          <a:spcPts val="1600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ts val="160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(5)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7375">
                        <a:lnSpc>
                          <a:spcPts val="1600"/>
                        </a:lnSpc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0.625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×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600"/>
                        </a:lnSpc>
                      </a:pPr>
                      <a:r>
                        <a:rPr dirty="0" sz="1550" spc="-2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.25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800">
                        <a:lnSpc>
                          <a:spcPts val="1600"/>
                        </a:lnSpc>
                      </a:pPr>
                      <a:r>
                        <a:rPr dirty="0" sz="15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keep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55270">
                <a:tc>
                  <a:txBody>
                    <a:bodyPr/>
                    <a:lstStyle/>
                    <a:p>
                      <a:pPr algn="r" marR="50800">
                        <a:lnSpc>
                          <a:spcPts val="173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45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16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9220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800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9855">
                        <a:lnSpc>
                          <a:spcPts val="1730"/>
                        </a:lnSpc>
                      </a:pPr>
                      <a:r>
                        <a:rPr dirty="0" sz="1550" spc="-25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13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ts val="173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(D)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7375">
                        <a:lnSpc>
                          <a:spcPts val="1730"/>
                        </a:lnSpc>
                      </a:pPr>
                      <a:r>
                        <a:rPr dirty="0" sz="15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0.25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×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730"/>
                        </a:lnSpc>
                      </a:pPr>
                      <a:r>
                        <a:rPr dirty="0" sz="1550" spc="-25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.5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800">
                        <a:lnSpc>
                          <a:spcPts val="1730"/>
                        </a:lnSpc>
                      </a:pPr>
                      <a:r>
                        <a:rPr dirty="0" sz="15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keep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38125">
                <a:tc>
                  <a:txBody>
                    <a:bodyPr/>
                    <a:lstStyle/>
                    <a:p>
                      <a:pPr algn="r" marR="5016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÷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16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9220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800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9220">
                        <a:lnSpc>
                          <a:spcPts val="1725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1725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(2)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7375">
                        <a:lnSpc>
                          <a:spcPts val="1725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0.5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×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725"/>
                        </a:lnSpc>
                      </a:pPr>
                      <a:r>
                        <a:rPr dirty="0" sz="1550" spc="-25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.0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800">
                        <a:lnSpc>
                          <a:spcPts val="1725"/>
                        </a:lnSpc>
                      </a:pPr>
                      <a:r>
                        <a:rPr dirty="0" sz="15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keep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25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1,</a:t>
                      </a:r>
                      <a:r>
                        <a:rPr dirty="0" sz="1550" spc="-3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stop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362846" y="3035555"/>
            <a:ext cx="8601075" cy="772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70629" algn="l"/>
              </a:tabLst>
            </a:pPr>
            <a:r>
              <a:rPr dirty="0" sz="1550" b="1">
                <a:solidFill>
                  <a:srgbClr val="FFFFFF"/>
                </a:solidFill>
                <a:latin typeface="Courier New"/>
                <a:cs typeface="Courier New"/>
              </a:rPr>
              <a:t>(725)10</a:t>
            </a:r>
            <a:r>
              <a:rPr dirty="0" sz="155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55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ourier New"/>
                <a:cs typeface="Courier New"/>
              </a:rPr>
              <a:t>(2D5)16</a:t>
            </a:r>
            <a:r>
              <a:rPr dirty="0" sz="1550" b="1">
                <a:solidFill>
                  <a:srgbClr val="FFFFFF"/>
                </a:solidFill>
                <a:latin typeface="Courier New"/>
                <a:cs typeface="Courier New"/>
              </a:rPr>
              <a:t>	(0.625)10</a:t>
            </a:r>
            <a:r>
              <a:rPr dirty="0" sz="155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55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ourier New"/>
                <a:cs typeface="Courier New"/>
              </a:rPr>
              <a:t>(0.101)2</a:t>
            </a:r>
            <a:endParaRPr sz="15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5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4359275" algn="l"/>
              </a:tabLst>
            </a:pP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remainders</a:t>
            </a:r>
            <a:r>
              <a:rPr dirty="0" sz="155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above</a:t>
            </a:r>
            <a:r>
              <a:rPr dirty="0" sz="155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9</a:t>
            </a:r>
            <a:r>
              <a:rPr dirty="0" sz="155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become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Courier New"/>
                <a:cs typeface="Courier New"/>
              </a:rPr>
              <a:t>letters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	integer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parts</a:t>
            </a:r>
            <a:r>
              <a:rPr dirty="0" sz="15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are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read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top</a:t>
            </a:r>
            <a:r>
              <a:rPr dirty="0" sz="15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to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Courier New"/>
                <a:cs typeface="Courier New"/>
              </a:rPr>
              <a:t>bottom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17:39:41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Fractions: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multiply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fractional </a:t>
            </a:r>
            <a:r>
              <a:rPr dirty="0" sz="1000">
                <a:latin typeface="Microsoft Sans Serif"/>
                <a:cs typeface="Microsoft Sans Serif"/>
              </a:rPr>
              <a:t>part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2,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harvest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integer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part </a:t>
            </a:r>
            <a:r>
              <a:rPr dirty="0" sz="1000">
                <a:latin typeface="Microsoft Sans Serif"/>
                <a:cs typeface="Microsoft Sans Serif"/>
              </a:rPr>
              <a:t>each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time,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read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downward.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Stop </a:t>
            </a:r>
            <a:r>
              <a:rPr dirty="0" sz="1000">
                <a:latin typeface="Microsoft Sans Serif"/>
                <a:cs typeface="Microsoft Sans Serif"/>
              </a:rPr>
              <a:t>when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fraction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becomes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0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or </a:t>
            </a:r>
            <a:r>
              <a:rPr dirty="0" sz="1000">
                <a:latin typeface="Microsoft Sans Serif"/>
                <a:cs typeface="Microsoft Sans Serif"/>
              </a:rPr>
              <a:t>enough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precision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reached.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r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999" y="899999"/>
            <a:ext cx="9059999" cy="4719991"/>
          </a:xfrm>
          <a:prstGeom prst="rect">
            <a:avLst/>
          </a:prstGeom>
        </p:spPr>
      </p:pic>
      <p:pic>
        <p:nvPicPr>
          <p:cNvPr id="3" name="object 3" descr="talk-white-square-L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60000" y="3560000"/>
            <a:ext cx="1577780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38739" y="1424063"/>
            <a:ext cx="5053965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114">
                <a:solidFill>
                  <a:srgbClr val="FFDD41"/>
                </a:solidFill>
              </a:rPr>
              <a:t>Any</a:t>
            </a:r>
            <a:r>
              <a:rPr dirty="0" sz="2500" spc="-20">
                <a:solidFill>
                  <a:srgbClr val="FFDD41"/>
                </a:solidFill>
              </a:rPr>
              <a:t> </a:t>
            </a:r>
            <a:r>
              <a:rPr dirty="0" sz="2500">
                <a:solidFill>
                  <a:srgbClr val="FFDD41"/>
                </a:solidFill>
              </a:rPr>
              <a:t>Base</a:t>
            </a:r>
            <a:r>
              <a:rPr dirty="0" sz="2500" spc="-5">
                <a:solidFill>
                  <a:srgbClr val="FFDD41"/>
                </a:solidFill>
              </a:rPr>
              <a:t> </a:t>
            </a:r>
            <a:r>
              <a:rPr dirty="0" sz="2500">
                <a:solidFill>
                  <a:srgbClr val="FFDD41"/>
                </a:solidFill>
              </a:rPr>
              <a:t>to</a:t>
            </a:r>
            <a:r>
              <a:rPr dirty="0" sz="2500" spc="-15">
                <a:solidFill>
                  <a:srgbClr val="FFDD41"/>
                </a:solidFill>
              </a:rPr>
              <a:t> </a:t>
            </a:r>
            <a:r>
              <a:rPr dirty="0" sz="2500">
                <a:solidFill>
                  <a:srgbClr val="FFDD41"/>
                </a:solidFill>
              </a:rPr>
              <a:t>Decimal:</a:t>
            </a:r>
            <a:r>
              <a:rPr dirty="0" sz="2500" spc="35">
                <a:solidFill>
                  <a:srgbClr val="FFDD41"/>
                </a:solidFill>
              </a:rPr>
              <a:t> </a:t>
            </a:r>
            <a:r>
              <a:rPr dirty="0" sz="2500" spc="-10">
                <a:solidFill>
                  <a:srgbClr val="FFDD41"/>
                </a:solidFill>
              </a:rPr>
              <a:t>Place</a:t>
            </a:r>
            <a:r>
              <a:rPr dirty="0" sz="2500">
                <a:solidFill>
                  <a:srgbClr val="FFDD41"/>
                </a:solidFill>
              </a:rPr>
              <a:t> </a:t>
            </a:r>
            <a:r>
              <a:rPr dirty="0" sz="2500" spc="-10">
                <a:solidFill>
                  <a:srgbClr val="FFDD41"/>
                </a:solidFill>
              </a:rPr>
              <a:t>Values</a:t>
            </a:r>
            <a:endParaRPr sz="2500"/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8843" y="2071579"/>
            <a:ext cx="7072630" cy="200850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Step</a:t>
            </a:r>
            <a:r>
              <a:rPr dirty="0" sz="1500" spc="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80" b="1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dirty="0" sz="1500" spc="8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write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position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number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digit,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counting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50" b="1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1500" spc="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from</a:t>
            </a:r>
            <a:r>
              <a:rPr dirty="0" sz="1500" spc="1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8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right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marL="372110" marR="6350" indent="-360045">
              <a:lnSpc>
                <a:spcPts val="1789"/>
              </a:lnSpc>
              <a:spcBef>
                <a:spcPts val="68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Step</a:t>
            </a:r>
            <a:r>
              <a:rPr dirty="0" sz="1500" spc="3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2:</a:t>
            </a:r>
            <a:r>
              <a:rPr dirty="0" sz="1500" spc="3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3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positional</a:t>
            </a:r>
            <a:r>
              <a:rPr dirty="0" sz="1500" spc="3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value</a:t>
            </a:r>
            <a:r>
              <a:rPr dirty="0" sz="1500" spc="3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3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each</a:t>
            </a:r>
            <a:r>
              <a:rPr dirty="0" sz="1500" spc="3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digit</a:t>
            </a:r>
            <a:r>
              <a:rPr dirty="0" sz="1500" spc="3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3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base^position</a:t>
            </a:r>
            <a:r>
              <a:rPr dirty="0" sz="1500" spc="3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(2</a:t>
            </a:r>
            <a:r>
              <a:rPr dirty="0" sz="1500">
                <a:solidFill>
                  <a:srgbClr val="FFFFFF"/>
                </a:solidFill>
                <a:latin typeface="Cambria Math"/>
                <a:cs typeface="Cambria Math"/>
              </a:rPr>
              <a:t>⁰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3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2¹,</a:t>
            </a:r>
            <a:r>
              <a:rPr dirty="0" sz="1500" spc="3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2²,</a:t>
            </a:r>
            <a:r>
              <a:rPr dirty="0" sz="1500" spc="3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...</a:t>
            </a:r>
            <a:r>
              <a:rPr dirty="0" sz="1500" spc="3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for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binary).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Step</a:t>
            </a:r>
            <a:r>
              <a:rPr dirty="0" sz="1500" spc="1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80" b="1">
                <a:solidFill>
                  <a:srgbClr val="FFFFFF"/>
                </a:solidFill>
                <a:latin typeface="Cambria"/>
                <a:cs typeface="Cambria"/>
              </a:rPr>
              <a:t>3:</a:t>
            </a:r>
            <a:r>
              <a:rPr dirty="0" sz="1500" spc="1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multiply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digit</a:t>
            </a:r>
            <a:r>
              <a:rPr dirty="0" sz="15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its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positional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value.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Step</a:t>
            </a:r>
            <a:r>
              <a:rPr dirty="0" sz="1500" spc="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80" b="1">
                <a:solidFill>
                  <a:srgbClr val="FFFFFF"/>
                </a:solidFill>
                <a:latin typeface="Cambria"/>
                <a:cs typeface="Cambria"/>
              </a:rPr>
              <a:t>4:</a:t>
            </a:r>
            <a:r>
              <a:rPr dirty="0" sz="1500" spc="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add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all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products: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sum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decimal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number.</a:t>
            </a:r>
            <a:endParaRPr sz="1500">
              <a:latin typeface="Cambria"/>
              <a:cs typeface="Cambria"/>
            </a:endParaRPr>
          </a:p>
          <a:p>
            <a:pPr marL="372110" marR="5080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Works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identically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binary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(powers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2),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octal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(powers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8)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hex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(powers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16).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Solved:</a:t>
            </a:r>
            <a:r>
              <a:rPr dirty="0" spc="110"/>
              <a:t> </a:t>
            </a:r>
            <a:r>
              <a:rPr dirty="0" spc="-225"/>
              <a:t>(11011001)</a:t>
            </a:r>
            <a:r>
              <a:rPr dirty="0" spc="-225" b="0">
                <a:latin typeface="Cambria Math"/>
                <a:cs typeface="Cambria Math"/>
              </a:rPr>
              <a:t>₂</a:t>
            </a:r>
            <a:r>
              <a:rPr dirty="0" spc="90" b="0">
                <a:latin typeface="Cambria Math"/>
                <a:cs typeface="Cambria Math"/>
              </a:rPr>
              <a:t> </a:t>
            </a:r>
            <a:r>
              <a:rPr dirty="0"/>
              <a:t>to</a:t>
            </a:r>
            <a:r>
              <a:rPr dirty="0" spc="150"/>
              <a:t> </a:t>
            </a:r>
            <a:r>
              <a:rPr dirty="0" spc="-10"/>
              <a:t>Decimal</a:t>
            </a:r>
          </a:p>
        </p:txBody>
      </p:sp>
      <p:pic>
        <p:nvPicPr>
          <p:cNvPr id="3" name="object 3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53530" y="1550522"/>
          <a:ext cx="6854190" cy="756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1895"/>
                <a:gridCol w="549909"/>
                <a:gridCol w="426719"/>
                <a:gridCol w="244475"/>
                <a:gridCol w="427355"/>
                <a:gridCol w="244475"/>
                <a:gridCol w="427354"/>
                <a:gridCol w="551814"/>
                <a:gridCol w="731520"/>
                <a:gridCol w="672464"/>
                <a:gridCol w="366395"/>
                <a:gridCol w="486410"/>
                <a:gridCol w="459105"/>
              </a:tblGrid>
              <a:tr h="246379">
                <a:tc>
                  <a:txBody>
                    <a:bodyPr/>
                    <a:lstStyle/>
                    <a:p>
                      <a:pPr marL="31750">
                        <a:lnSpc>
                          <a:spcPts val="1650"/>
                        </a:lnSpc>
                      </a:pPr>
                      <a:r>
                        <a:rPr dirty="0" sz="160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bit: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65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65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ts val="165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8125">
                        <a:lnSpc>
                          <a:spcPts val="165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7800">
                        <a:lnSpc>
                          <a:spcPts val="165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65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650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63525">
                <a:tc>
                  <a:txBody>
                    <a:bodyPr/>
                    <a:lstStyle/>
                    <a:p>
                      <a:pPr marL="31750">
                        <a:lnSpc>
                          <a:spcPts val="1785"/>
                        </a:lnSpc>
                      </a:pPr>
                      <a:r>
                        <a:rPr dirty="0" sz="16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position: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785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5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785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ts val="1785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38125">
                        <a:lnSpc>
                          <a:spcPts val="1785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7800">
                        <a:lnSpc>
                          <a:spcPts val="1785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85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785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46379">
                <a:tc>
                  <a:txBody>
                    <a:bodyPr/>
                    <a:lstStyle/>
                    <a:p>
                      <a:pPr marL="31750">
                        <a:lnSpc>
                          <a:spcPts val="1785"/>
                        </a:lnSpc>
                      </a:pPr>
                      <a:r>
                        <a:rPr dirty="0" sz="16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value: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785"/>
                        </a:lnSpc>
                      </a:pPr>
                      <a:r>
                        <a:rPr dirty="0" sz="1600" spc="-25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128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785"/>
                        </a:lnSpc>
                      </a:pPr>
                      <a:r>
                        <a:rPr dirty="0" sz="1600" spc="-25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64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785"/>
                        </a:lnSpc>
                      </a:pPr>
                      <a:r>
                        <a:rPr dirty="0" sz="160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785"/>
                        </a:lnSpc>
                      </a:pPr>
                      <a:r>
                        <a:rPr dirty="0" sz="1600" spc="-25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16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ts val="1785"/>
                        </a:lnSpc>
                      </a:pPr>
                      <a:r>
                        <a:rPr dirty="0" sz="160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12395">
                        <a:lnSpc>
                          <a:spcPts val="1785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0165">
                        <a:lnSpc>
                          <a:spcPts val="1785"/>
                        </a:lnSpc>
                      </a:pPr>
                      <a:r>
                        <a:rPr dirty="0" sz="16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1785"/>
                        </a:lnSpc>
                      </a:pPr>
                      <a:r>
                        <a:rPr dirty="0" sz="160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53733" y="2603710"/>
          <a:ext cx="4290060" cy="1283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2600"/>
                <a:gridCol w="854075"/>
                <a:gridCol w="335914"/>
              </a:tblGrid>
              <a:tr h="378460">
                <a:tc>
                  <a:txBody>
                    <a:bodyPr/>
                    <a:lstStyle/>
                    <a:p>
                      <a:pPr marL="31750">
                        <a:lnSpc>
                          <a:spcPts val="1650"/>
                        </a:lnSpc>
                      </a:pPr>
                      <a:r>
                        <a:rPr dirty="0" sz="16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r>
                        <a:rPr dirty="0" sz="1600" spc="-3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dirty="0" sz="1600" spc="-3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values</a:t>
                      </a:r>
                      <a:r>
                        <a:rPr dirty="0" sz="1600" spc="-3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where</a:t>
                      </a:r>
                      <a:r>
                        <a:rPr dirty="0" sz="1600" spc="-3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650"/>
                        </a:lnSpc>
                      </a:pPr>
                      <a:r>
                        <a:rPr dirty="0" sz="16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bit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650"/>
                        </a:lnSpc>
                      </a:pPr>
                      <a:r>
                        <a:rPr dirty="0" sz="160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5270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6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128</a:t>
                      </a:r>
                      <a:r>
                        <a:rPr dirty="0" sz="160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16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64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16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16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r>
                        <a:rPr dirty="0" sz="16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160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6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16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114300"/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600" spc="-2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217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84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6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(11011001)2</a:t>
                      </a:r>
                      <a:r>
                        <a:rPr dirty="0" sz="1600" spc="-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600" spc="-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(217)10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Solved:</a:t>
            </a:r>
            <a:r>
              <a:rPr dirty="0" spc="55"/>
              <a:t> </a:t>
            </a:r>
            <a:r>
              <a:rPr dirty="0" spc="-190"/>
              <a:t>(345)</a:t>
            </a:r>
            <a:r>
              <a:rPr dirty="0" spc="-190" b="0">
                <a:latin typeface="Cambria Math"/>
                <a:cs typeface="Cambria Math"/>
              </a:rPr>
              <a:t>₈</a:t>
            </a:r>
            <a:r>
              <a:rPr dirty="0" spc="30" b="0">
                <a:latin typeface="Cambria Math"/>
                <a:cs typeface="Cambria Math"/>
              </a:rPr>
              <a:t> </a:t>
            </a:r>
            <a:r>
              <a:rPr dirty="0"/>
              <a:t>and</a:t>
            </a:r>
            <a:r>
              <a:rPr dirty="0" spc="70"/>
              <a:t> </a:t>
            </a:r>
            <a:r>
              <a:rPr dirty="0" spc="-90"/>
              <a:t>(E5)</a:t>
            </a:r>
            <a:r>
              <a:rPr dirty="0" spc="-90" b="0">
                <a:latin typeface="Cambria Math"/>
                <a:cs typeface="Cambria Math"/>
              </a:rPr>
              <a:t>₁₆</a:t>
            </a:r>
            <a:r>
              <a:rPr dirty="0" spc="30" b="0">
                <a:latin typeface="Cambria Math"/>
                <a:cs typeface="Cambria Math"/>
              </a:rPr>
              <a:t> </a:t>
            </a:r>
            <a:r>
              <a:rPr dirty="0"/>
              <a:t>to</a:t>
            </a:r>
            <a:r>
              <a:rPr dirty="0" spc="85"/>
              <a:t> </a:t>
            </a:r>
            <a:r>
              <a:rPr dirty="0" spc="-10"/>
              <a:t>Decimal</a:t>
            </a:r>
          </a:p>
        </p:txBody>
      </p:sp>
      <p:pic>
        <p:nvPicPr>
          <p:cNvPr id="3" name="object 3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63436" y="1503875"/>
            <a:ext cx="190500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octal</a:t>
            </a:r>
            <a:r>
              <a:rPr dirty="0" sz="1550" spc="-3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to</a:t>
            </a:r>
            <a:r>
              <a:rPr dirty="0" sz="1550" spc="-2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spc="-10" b="1">
                <a:solidFill>
                  <a:srgbClr val="5FDEEE"/>
                </a:solidFill>
                <a:latin typeface="Courier New"/>
                <a:cs typeface="Courier New"/>
              </a:rPr>
              <a:t>decimal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38933" y="1503875"/>
            <a:ext cx="167068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hex</a:t>
            </a:r>
            <a:r>
              <a:rPr dirty="0" sz="1550" spc="-2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to</a:t>
            </a:r>
            <a:r>
              <a:rPr dirty="0" sz="1550" spc="-2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spc="-10" b="1">
                <a:solidFill>
                  <a:srgbClr val="5FDEEE"/>
                </a:solidFill>
                <a:latin typeface="Courier New"/>
                <a:cs typeface="Courier New"/>
              </a:rPr>
              <a:t>decimal</a:t>
            </a:r>
            <a:endParaRPr sz="155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44386" y="2060061"/>
          <a:ext cx="6602095" cy="1242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"/>
                <a:gridCol w="586105"/>
                <a:gridCol w="234950"/>
                <a:gridCol w="528955"/>
                <a:gridCol w="292735"/>
                <a:gridCol w="1466850"/>
                <a:gridCol w="1703704"/>
                <a:gridCol w="1499870"/>
              </a:tblGrid>
              <a:tr h="238760">
                <a:tc gridSpan="5">
                  <a:txBody>
                    <a:bodyPr/>
                    <a:lstStyle/>
                    <a:p>
                      <a:pPr marL="31750">
                        <a:lnSpc>
                          <a:spcPts val="1600"/>
                        </a:lnSpc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(345)8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821055">
                        <a:lnSpc>
                          <a:spcPts val="1600"/>
                        </a:lnSpc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(E5)16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38760">
                <a:tc gridSpan="5">
                  <a:txBody>
                    <a:bodyPr/>
                    <a:lstStyle/>
                    <a:p>
                      <a:pPr marL="31750">
                        <a:lnSpc>
                          <a:spcPts val="1730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3×8^2</a:t>
                      </a:r>
                      <a:r>
                        <a:rPr dirty="0" sz="15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15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4×8^1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730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5×8^0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175385">
                        <a:lnSpc>
                          <a:spcPts val="1730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E×16^1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5×16^0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0510">
                <a:tc>
                  <a:txBody>
                    <a:bodyPr/>
                    <a:lstStyle/>
                    <a:p>
                      <a:pPr algn="ctr" marR="17780">
                        <a:lnSpc>
                          <a:spcPts val="185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850"/>
                        </a:lnSpc>
                      </a:pPr>
                      <a:r>
                        <a:rPr dirty="0" sz="15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3×64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85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4×8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8419">
                        <a:lnSpc>
                          <a:spcPts val="185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85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5×1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22325">
                        <a:lnSpc>
                          <a:spcPts val="1850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55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14×16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850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5×1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55270">
                <a:tc>
                  <a:txBody>
                    <a:bodyPr/>
                    <a:lstStyle/>
                    <a:p>
                      <a:pPr algn="ctr" marR="17780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25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192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25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905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22325">
                        <a:lnSpc>
                          <a:spcPts val="1725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55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224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25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38760">
                <a:tc>
                  <a:txBody>
                    <a:bodyPr/>
                    <a:lstStyle/>
                    <a:p>
                      <a:pPr algn="ctr" marR="17145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30"/>
                        </a:lnSpc>
                      </a:pPr>
                      <a:r>
                        <a:rPr dirty="0" sz="1550" spc="-2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229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7375">
                        <a:lnSpc>
                          <a:spcPts val="1730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2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229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364812" y="3546114"/>
            <a:ext cx="284416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same</a:t>
            </a:r>
            <a:r>
              <a:rPr dirty="0" sz="1550" spc="-3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value,</a:t>
            </a:r>
            <a:r>
              <a:rPr dirty="0" sz="1550" spc="-2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three</a:t>
            </a:r>
            <a:r>
              <a:rPr dirty="0" sz="1550" spc="-3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spc="-10" b="1">
                <a:solidFill>
                  <a:srgbClr val="5FDEEE"/>
                </a:solidFill>
                <a:latin typeface="Courier New"/>
                <a:cs typeface="Courier New"/>
              </a:rPr>
              <a:t>faces: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18931" y="3546114"/>
            <a:ext cx="460692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(11100101)2</a:t>
            </a:r>
            <a:r>
              <a:rPr dirty="0" sz="15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55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(345)8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55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(E5)16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Courier New"/>
                <a:cs typeface="Courier New"/>
              </a:rPr>
              <a:t>(229)10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17:39:43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229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used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deliberately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all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following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grouping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examples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so </a:t>
            </a:r>
            <a:r>
              <a:rPr dirty="0" sz="1000">
                <a:latin typeface="Microsoft Sans Serif"/>
                <a:cs typeface="Microsoft Sans Serif"/>
              </a:rPr>
              <a:t>students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see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value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travelling </a:t>
            </a:r>
            <a:r>
              <a:rPr dirty="0" sz="1000">
                <a:latin typeface="Microsoft Sans Serif"/>
                <a:cs typeface="Microsoft Sans Serif"/>
              </a:rPr>
              <a:t>across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bases.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Binary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40"/>
              <a:t> </a:t>
            </a:r>
            <a:r>
              <a:rPr dirty="0"/>
              <a:t>Octal:</a:t>
            </a:r>
            <a:r>
              <a:rPr dirty="0" spc="10"/>
              <a:t> </a:t>
            </a:r>
            <a:r>
              <a:rPr dirty="0" spc="65"/>
              <a:t>Group</a:t>
            </a:r>
            <a:r>
              <a:rPr dirty="0" spc="20"/>
              <a:t> </a:t>
            </a:r>
            <a:r>
              <a:rPr dirty="0" spc="-250"/>
              <a:t>3</a:t>
            </a:r>
            <a:r>
              <a:rPr dirty="0" spc="80"/>
              <a:t> </a:t>
            </a:r>
            <a:r>
              <a:rPr dirty="0" spc="-20"/>
              <a:t>Bits</a:t>
            </a:r>
          </a:p>
        </p:txBody>
      </p:sp>
      <p:pic>
        <p:nvPicPr>
          <p:cNvPr id="3" name="object 3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63436" y="1503875"/>
            <a:ext cx="6838950" cy="1028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rule: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octal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digit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exactly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3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bits,</a:t>
            </a:r>
            <a:r>
              <a:rPr dirty="0" sz="155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group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from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spc="-10" b="1">
                <a:solidFill>
                  <a:srgbClr val="FFDD41"/>
                </a:solidFill>
                <a:latin typeface="Courier New"/>
                <a:cs typeface="Courier New"/>
              </a:rPr>
              <a:t>right</a:t>
            </a:r>
            <a:endParaRPr sz="15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5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550">
              <a:latin typeface="Courier New"/>
              <a:cs typeface="Courier New"/>
            </a:endParaRPr>
          </a:p>
          <a:p>
            <a:pPr marL="3770629">
              <a:lnSpc>
                <a:spcPct val="100000"/>
              </a:lnSpc>
            </a:pP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pad</a:t>
            </a:r>
            <a:r>
              <a:rPr dirty="0" sz="155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left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with</a:t>
            </a:r>
            <a:r>
              <a:rPr dirty="0" sz="1550" spc="-10">
                <a:solidFill>
                  <a:srgbClr val="FFFFFF"/>
                </a:solidFill>
                <a:latin typeface="Courier New"/>
                <a:cs typeface="Courier New"/>
              </a:rPr>
              <a:t> zeros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44386" y="2060061"/>
          <a:ext cx="3312160" cy="986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3875"/>
                <a:gridCol w="527685"/>
                <a:gridCol w="469900"/>
                <a:gridCol w="443230"/>
              </a:tblGrid>
              <a:tr h="238760">
                <a:tc>
                  <a:txBody>
                    <a:bodyPr/>
                    <a:lstStyle/>
                    <a:p>
                      <a:pPr marL="31750">
                        <a:lnSpc>
                          <a:spcPts val="1600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(11100101)2</a:t>
                      </a:r>
                      <a:r>
                        <a:rPr dirty="0" sz="1550" spc="-3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800">
                        <a:lnSpc>
                          <a:spcPts val="160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1435">
                        <a:lnSpc>
                          <a:spcPts val="160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100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60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101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552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800">
                        <a:lnSpc>
                          <a:spcPts val="1730"/>
                        </a:lnSpc>
                      </a:pPr>
                      <a:r>
                        <a:rPr dirty="0" sz="1550" spc="-25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011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2069">
                        <a:lnSpc>
                          <a:spcPts val="173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100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73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101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143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38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143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363436" y="3290146"/>
            <a:ext cx="6838950" cy="10267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solidFill>
                  <a:srgbClr val="FFFFFF"/>
                </a:solidFill>
                <a:latin typeface="Courier New"/>
                <a:cs typeface="Courier New"/>
              </a:rPr>
              <a:t>(11100101)2</a:t>
            </a:r>
            <a:r>
              <a:rPr dirty="0" sz="155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55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ourier New"/>
                <a:cs typeface="Courier New"/>
              </a:rPr>
              <a:t>(345)8</a:t>
            </a:r>
            <a:endParaRPr sz="15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550">
              <a:latin typeface="Courier New"/>
              <a:cs typeface="Courier New"/>
            </a:endParaRPr>
          </a:p>
          <a:p>
            <a:pPr marL="12700" marR="5080">
              <a:lnSpc>
                <a:spcPct val="107800"/>
              </a:lnSpc>
            </a:pP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reverse</a:t>
            </a:r>
            <a:r>
              <a:rPr dirty="0" sz="155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direction: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replace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every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octal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digit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by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its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3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spc="-20">
                <a:solidFill>
                  <a:srgbClr val="FFFFFF"/>
                </a:solidFill>
                <a:latin typeface="Courier New"/>
                <a:cs typeface="Courier New"/>
              </a:rPr>
              <a:t>bits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(345)8</a:t>
            </a:r>
            <a:r>
              <a:rPr dirty="0" sz="155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→</a:t>
            </a:r>
            <a:r>
              <a:rPr dirty="0" sz="15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011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100</a:t>
            </a:r>
            <a:r>
              <a:rPr dirty="0" sz="15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101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→</a:t>
            </a:r>
            <a:r>
              <a:rPr dirty="0" sz="15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ourier New"/>
                <a:cs typeface="Courier New"/>
              </a:rPr>
              <a:t>(11100101)2</a:t>
            </a:r>
            <a:endParaRPr sz="15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Binary</a:t>
            </a:r>
            <a:r>
              <a:rPr dirty="0" spc="-70"/>
              <a:t> </a:t>
            </a:r>
            <a:r>
              <a:rPr dirty="0"/>
              <a:t>to</a:t>
            </a:r>
            <a:r>
              <a:rPr dirty="0" spc="15"/>
              <a:t> </a:t>
            </a:r>
            <a:r>
              <a:rPr dirty="0" spc="-10"/>
              <a:t>Hexadecimal:</a:t>
            </a:r>
            <a:r>
              <a:rPr dirty="0" spc="-30"/>
              <a:t> </a:t>
            </a:r>
            <a:r>
              <a:rPr dirty="0" spc="65"/>
              <a:t>Group</a:t>
            </a:r>
            <a:r>
              <a:rPr dirty="0"/>
              <a:t> </a:t>
            </a:r>
            <a:r>
              <a:rPr dirty="0" spc="-254"/>
              <a:t>4</a:t>
            </a:r>
            <a:r>
              <a:rPr dirty="0" spc="65"/>
              <a:t> </a:t>
            </a:r>
            <a:r>
              <a:rPr dirty="0" spc="-20"/>
              <a:t>Bits</a:t>
            </a:r>
          </a:p>
        </p:txBody>
      </p:sp>
      <p:pic>
        <p:nvPicPr>
          <p:cNvPr id="3" name="object 3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7340" y="1503875"/>
            <a:ext cx="79121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rule: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hex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digit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exactly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4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bits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(one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nibble),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group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from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 b="1">
                <a:solidFill>
                  <a:srgbClr val="FFDD41"/>
                </a:solidFill>
                <a:latin typeface="Courier New"/>
                <a:cs typeface="Courier New"/>
              </a:rPr>
              <a:t>right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38290" y="2042256"/>
          <a:ext cx="2997200" cy="1202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6200"/>
                <a:gridCol w="400050"/>
                <a:gridCol w="628650"/>
                <a:gridCol w="546100"/>
              </a:tblGrid>
              <a:tr h="231140">
                <a:tc>
                  <a:txBody>
                    <a:bodyPr/>
                    <a:lstStyle/>
                    <a:p>
                      <a:pPr algn="ctr" marR="17145">
                        <a:lnSpc>
                          <a:spcPts val="1550"/>
                        </a:lnSpc>
                      </a:pPr>
                      <a:r>
                        <a:rPr dirty="0" sz="15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(11100101)2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ts val="155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1550"/>
                        </a:lnSpc>
                      </a:pPr>
                      <a:r>
                        <a:rPr dirty="0" sz="150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1110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1550"/>
                        </a:lnSpc>
                      </a:pPr>
                      <a:r>
                        <a:rPr dirty="0" sz="150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0101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463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8895">
                        <a:lnSpc>
                          <a:spcPts val="167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5115">
                        <a:lnSpc>
                          <a:spcPts val="167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31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8895">
                        <a:lnSpc>
                          <a:spcPts val="167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5115">
                        <a:lnSpc>
                          <a:spcPts val="167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493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 marR="17145">
                        <a:lnSpc>
                          <a:spcPct val="100000"/>
                        </a:lnSpc>
                      </a:pPr>
                      <a:r>
                        <a:rPr dirty="0" sz="1500" spc="-1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(11100101)2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2667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56515">
                        <a:lnSpc>
                          <a:spcPct val="100000"/>
                        </a:lnSpc>
                      </a:pPr>
                      <a:r>
                        <a:rPr dirty="0" sz="150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500" spc="-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 spc="-1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(E5)16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2667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357340" y="3460691"/>
            <a:ext cx="7454900" cy="1013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33780">
              <a:lnSpc>
                <a:spcPct val="108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reverse</a:t>
            </a:r>
            <a:r>
              <a:rPr dirty="0" sz="150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direction: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replace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every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hex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digit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by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its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4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bits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(E5)16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→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1110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0101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→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ourier New"/>
                <a:cs typeface="Courier New"/>
              </a:rPr>
              <a:t>(11100101)2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this</a:t>
            </a:r>
            <a:r>
              <a:rPr dirty="0" sz="1500" spc="-3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is</a:t>
            </a:r>
            <a:r>
              <a:rPr dirty="0" sz="1500" spc="-1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why</a:t>
            </a:r>
            <a:r>
              <a:rPr dirty="0" sz="1500" spc="-1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1</a:t>
            </a:r>
            <a:r>
              <a:rPr dirty="0" sz="1500" spc="-1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byte</a:t>
            </a:r>
            <a:r>
              <a:rPr dirty="0" sz="1500" spc="-2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is</a:t>
            </a:r>
            <a:r>
              <a:rPr dirty="0" sz="1500" spc="-1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always</a:t>
            </a:r>
            <a:r>
              <a:rPr dirty="0" sz="1500" spc="-1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exactly</a:t>
            </a:r>
            <a:r>
              <a:rPr dirty="0" sz="1500" spc="-1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2</a:t>
            </a:r>
            <a:r>
              <a:rPr dirty="0" sz="1500" spc="-1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hex</a:t>
            </a:r>
            <a:r>
              <a:rPr dirty="0" sz="1500" spc="-2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digits</a:t>
            </a:r>
            <a:r>
              <a:rPr dirty="0" sz="1500" spc="-1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in</a:t>
            </a:r>
            <a:r>
              <a:rPr dirty="0" sz="1500" spc="-1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a</a:t>
            </a:r>
            <a:r>
              <a:rPr dirty="0" sz="1500" spc="-1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hex</a:t>
            </a:r>
            <a:r>
              <a:rPr dirty="0" sz="1500" spc="-1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spc="-10" b="1">
                <a:solidFill>
                  <a:srgbClr val="5FDEEE"/>
                </a:solidFill>
                <a:latin typeface="Courier New"/>
                <a:cs typeface="Courier New"/>
              </a:rPr>
              <a:t>editor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Octal</a:t>
            </a:r>
            <a:r>
              <a:rPr dirty="0" spc="35"/>
              <a:t> </a:t>
            </a:r>
            <a:r>
              <a:rPr dirty="0"/>
              <a:t>to</a:t>
            </a:r>
            <a:r>
              <a:rPr dirty="0" spc="75"/>
              <a:t> </a:t>
            </a:r>
            <a:r>
              <a:rPr dirty="0"/>
              <a:t>Hex:</a:t>
            </a:r>
            <a:r>
              <a:rPr dirty="0" spc="35"/>
              <a:t> </a:t>
            </a:r>
            <a:r>
              <a:rPr dirty="0"/>
              <a:t>Travel</a:t>
            </a:r>
            <a:r>
              <a:rPr dirty="0" spc="55"/>
              <a:t> </a:t>
            </a:r>
            <a:r>
              <a:rPr dirty="0"/>
              <a:t>via</a:t>
            </a:r>
            <a:r>
              <a:rPr dirty="0" spc="55"/>
              <a:t> </a:t>
            </a:r>
            <a:r>
              <a:rPr dirty="0" spc="-10"/>
              <a:t>Binary</a:t>
            </a:r>
          </a:p>
        </p:txBody>
      </p:sp>
      <p:pic>
        <p:nvPicPr>
          <p:cNvPr id="3" name="object 3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7340" y="1485587"/>
            <a:ext cx="6540500" cy="1013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33679">
              <a:lnSpc>
                <a:spcPct val="108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there</a:t>
            </a:r>
            <a:r>
              <a:rPr dirty="0" sz="150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is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no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direct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grouping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between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base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8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and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base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16,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so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binary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is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used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as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interchange: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500">
              <a:latin typeface="Courier New"/>
              <a:cs typeface="Courier New"/>
            </a:endParaRPr>
          </a:p>
          <a:p>
            <a:pPr marL="3556000">
              <a:lnSpc>
                <a:spcPct val="100000"/>
              </a:lnSpc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each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octal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digit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to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3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bits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86340" y="3232091"/>
            <a:ext cx="29972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regroup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into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4-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bit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nibbles</a:t>
            </a:r>
            <a:endParaRPr sz="15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38290" y="2289144"/>
          <a:ext cx="2654300" cy="1695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4750"/>
                <a:gridCol w="1403350"/>
              </a:tblGrid>
              <a:tr h="354330">
                <a:tc>
                  <a:txBody>
                    <a:bodyPr/>
                    <a:lstStyle/>
                    <a:p>
                      <a:pPr algn="r" marR="106045">
                        <a:lnSpc>
                          <a:spcPts val="1550"/>
                        </a:lnSpc>
                      </a:pP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(345)8</a:t>
                      </a:r>
                      <a:r>
                        <a:rPr dirty="0" sz="150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→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1550"/>
                        </a:lnSpc>
                      </a:pP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011</a:t>
                      </a:r>
                      <a:r>
                        <a:rPr dirty="0" sz="150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100</a:t>
                      </a:r>
                      <a:r>
                        <a:rPr dirty="0" sz="150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101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493395">
                <a:tc>
                  <a:txBody>
                    <a:bodyPr/>
                    <a:lstStyle/>
                    <a:p>
                      <a:pPr algn="r" marR="10604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10668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5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011100101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106680"/>
                </a:tc>
              </a:tr>
              <a:tr h="493395">
                <a:tc>
                  <a:txBody>
                    <a:bodyPr/>
                    <a:lstStyle/>
                    <a:p>
                      <a:pPr algn="r" marR="10604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10668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50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1110</a:t>
                      </a:r>
                      <a:r>
                        <a:rPr dirty="0" sz="1500" spc="-2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 0101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106680"/>
                </a:tc>
              </a:tr>
              <a:tr h="354330">
                <a:tc>
                  <a:txBody>
                    <a:bodyPr/>
                    <a:lstStyle/>
                    <a:p>
                      <a:pPr algn="r" marR="10604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→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10668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500" spc="-1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(E5)16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106680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357340" y="4219643"/>
            <a:ext cx="72263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hex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to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octal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works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same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way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in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reverse: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4-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bit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out,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3-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bit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in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720001"/>
            <a:ext cx="11429996" cy="4817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739" y="1082540"/>
            <a:ext cx="3067685" cy="42227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DD41"/>
                </a:solidFill>
              </a:rPr>
              <a:t>Task</a:t>
            </a:r>
            <a:r>
              <a:rPr dirty="0" spc="-10">
                <a:solidFill>
                  <a:srgbClr val="FFDD41"/>
                </a:solidFill>
              </a:rPr>
              <a:t> </a:t>
            </a:r>
            <a:r>
              <a:rPr dirty="0" spc="-100">
                <a:solidFill>
                  <a:srgbClr val="FFDD41"/>
                </a:solidFill>
              </a:rPr>
              <a:t>1:</a:t>
            </a:r>
            <a:r>
              <a:rPr dirty="0" spc="5">
                <a:solidFill>
                  <a:srgbClr val="FFDD41"/>
                </a:solidFill>
              </a:rPr>
              <a:t> </a:t>
            </a:r>
            <a:r>
              <a:rPr dirty="0" spc="-10">
                <a:solidFill>
                  <a:srgbClr val="FFDD41"/>
                </a:solidFill>
              </a:rPr>
              <a:t>Conversions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843" y="1729915"/>
            <a:ext cx="4517390" cy="223139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Convert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binary</a:t>
            </a:r>
            <a:r>
              <a:rPr dirty="0" sz="1500" spc="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8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decimal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endParaRPr sz="1500">
              <a:latin typeface="Cambria"/>
              <a:cs typeface="Cambria"/>
            </a:endParaRPr>
          </a:p>
          <a:p>
            <a:pPr marL="772795" indent="-300355">
              <a:lnSpc>
                <a:spcPct val="100000"/>
              </a:lnSpc>
              <a:spcBef>
                <a:spcPts val="335"/>
              </a:spcBef>
              <a:buClr>
                <a:srgbClr val="B89E87"/>
              </a:buClr>
              <a:buSzPct val="69230"/>
              <a:buFont typeface="Microsoft Sans Serif"/>
              <a:buChar char="▪"/>
              <a:tabLst>
                <a:tab pos="772795" algn="l"/>
              </a:tabLst>
            </a:pPr>
            <a:r>
              <a:rPr dirty="0" sz="1300" spc="-10">
                <a:solidFill>
                  <a:srgbClr val="FFFFFF"/>
                </a:solidFill>
                <a:latin typeface="Cambria"/>
                <a:cs typeface="Cambria"/>
              </a:rPr>
              <a:t>(100100111001)</a:t>
            </a:r>
            <a:r>
              <a:rPr dirty="0" sz="1300" spc="-10">
                <a:solidFill>
                  <a:srgbClr val="FFFFFF"/>
                </a:solidFill>
                <a:latin typeface="Cambria Math"/>
                <a:cs typeface="Cambria Math"/>
              </a:rPr>
              <a:t>₂</a:t>
            </a:r>
            <a:endParaRPr sz="13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Convert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hexadecimal</a:t>
            </a:r>
            <a:r>
              <a:rPr dirty="0" sz="1500" spc="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1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decimal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endParaRPr sz="1500">
              <a:latin typeface="Cambria"/>
              <a:cs typeface="Cambria"/>
            </a:endParaRPr>
          </a:p>
          <a:p>
            <a:pPr marL="772795" indent="-300355">
              <a:lnSpc>
                <a:spcPct val="100000"/>
              </a:lnSpc>
              <a:spcBef>
                <a:spcPts val="335"/>
              </a:spcBef>
              <a:buClr>
                <a:srgbClr val="B89E87"/>
              </a:buClr>
              <a:buSzPct val="69230"/>
              <a:buFont typeface="Microsoft Sans Serif"/>
              <a:buChar char="▪"/>
              <a:tabLst>
                <a:tab pos="772795" algn="l"/>
              </a:tabLst>
            </a:pPr>
            <a:r>
              <a:rPr dirty="0" sz="1300" spc="-10">
                <a:solidFill>
                  <a:srgbClr val="FFFFFF"/>
                </a:solidFill>
                <a:latin typeface="Cambria"/>
                <a:cs typeface="Cambria"/>
              </a:rPr>
              <a:t>(A1B8C5)</a:t>
            </a:r>
            <a:r>
              <a:rPr dirty="0" sz="1300" spc="-10">
                <a:solidFill>
                  <a:srgbClr val="FFFFFF"/>
                </a:solidFill>
                <a:latin typeface="Cambria Math"/>
                <a:cs typeface="Cambria Math"/>
              </a:rPr>
              <a:t>₁₆</a:t>
            </a:r>
            <a:endParaRPr sz="13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Convert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octal</a:t>
            </a:r>
            <a:r>
              <a:rPr dirty="0" sz="1500" spc="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decimal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endParaRPr sz="1500">
              <a:latin typeface="Cambria"/>
              <a:cs typeface="Cambria"/>
            </a:endParaRPr>
          </a:p>
          <a:p>
            <a:pPr marL="772795" indent="-300355">
              <a:lnSpc>
                <a:spcPct val="100000"/>
              </a:lnSpc>
              <a:spcBef>
                <a:spcPts val="335"/>
              </a:spcBef>
              <a:buClr>
                <a:srgbClr val="B89E87"/>
              </a:buClr>
              <a:buSzPct val="69230"/>
              <a:buFont typeface="Microsoft Sans Serif"/>
              <a:buChar char="▪"/>
              <a:tabLst>
                <a:tab pos="772795" algn="l"/>
              </a:tabLst>
            </a:pPr>
            <a:r>
              <a:rPr dirty="0" sz="1300" spc="-10">
                <a:solidFill>
                  <a:srgbClr val="FFFFFF"/>
                </a:solidFill>
                <a:latin typeface="Cambria"/>
                <a:cs typeface="Cambria"/>
              </a:rPr>
              <a:t>(74321)</a:t>
            </a:r>
            <a:r>
              <a:rPr dirty="0" sz="1300" spc="-10">
                <a:solidFill>
                  <a:srgbClr val="FFFFFF"/>
                </a:solidFill>
                <a:latin typeface="Cambria Math"/>
                <a:cs typeface="Cambria Math"/>
              </a:rPr>
              <a:t>₈</a:t>
            </a:r>
            <a:endParaRPr sz="13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Convert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0" b="1">
                <a:solidFill>
                  <a:srgbClr val="FFFFFF"/>
                </a:solidFill>
                <a:latin typeface="Cambria"/>
                <a:cs typeface="Cambria"/>
              </a:rPr>
              <a:t>(500)</a:t>
            </a:r>
            <a:r>
              <a:rPr dirty="0" sz="1500" spc="-100">
                <a:solidFill>
                  <a:srgbClr val="FFFFFF"/>
                </a:solidFill>
                <a:latin typeface="Cambria Math"/>
                <a:cs typeface="Cambria Math"/>
              </a:rPr>
              <a:t>₁₀</a:t>
            </a:r>
            <a:r>
              <a:rPr dirty="0" sz="1500" spc="7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1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binary,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octal</a:t>
            </a:r>
            <a:r>
              <a:rPr dirty="0" sz="15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hexadecimal.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743924</a:t>
            </a:r>
            <a:r>
              <a:rPr dirty="0" sz="1500" spc="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never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be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octal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number?</a:t>
            </a:r>
            <a:endParaRPr sz="1500">
              <a:latin typeface="Cambria"/>
              <a:cs typeface="Cambria"/>
            </a:endParaRPr>
          </a:p>
        </p:txBody>
      </p:sp>
      <p:pic>
        <p:nvPicPr>
          <p:cNvPr id="5" name="object 5" descr="smile-yellow-pent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4910" y="5759999"/>
            <a:ext cx="713128" cy="919997"/>
          </a:xfrm>
          <a:prstGeom prst="rect">
            <a:avLst/>
          </a:prstGeom>
        </p:spPr>
      </p:pic>
      <p:pic>
        <p:nvPicPr>
          <p:cNvPr id="6" name="object 6" descr="smile-white-square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53038" y="5759999"/>
            <a:ext cx="533652" cy="919997"/>
          </a:xfrm>
          <a:prstGeom prst="rect">
            <a:avLst/>
          </a:prstGeom>
        </p:spPr>
      </p:pic>
      <p:pic>
        <p:nvPicPr>
          <p:cNvPr id="7" name="object 7" descr="smile-green-hex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81699" y="5759999"/>
            <a:ext cx="665073" cy="91999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17:39:47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Give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class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8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10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minutes. </a:t>
            </a:r>
            <a:r>
              <a:rPr dirty="0" sz="1000">
                <a:latin typeface="Microsoft Sans Serif"/>
                <a:cs typeface="Microsoft Sans Serif"/>
              </a:rPr>
              <a:t>Encourage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hex-</a:t>
            </a:r>
            <a:r>
              <a:rPr dirty="0" sz="1000" spc="-10">
                <a:latin typeface="Microsoft Sans Serif"/>
                <a:cs typeface="Microsoft Sans Serif"/>
              </a:rPr>
              <a:t>grouping </a:t>
            </a:r>
            <a:r>
              <a:rPr dirty="0" sz="1000">
                <a:latin typeface="Microsoft Sans Serif"/>
                <a:cs typeface="Microsoft Sans Serif"/>
              </a:rPr>
              <a:t>shortcut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for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question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4: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500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= </a:t>
            </a:r>
            <a:r>
              <a:rPr dirty="0" sz="1000">
                <a:latin typeface="Microsoft Sans Serif"/>
                <a:cs typeface="Microsoft Sans Serif"/>
              </a:rPr>
              <a:t>0x1F4,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expand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nibbles.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Task</a:t>
            </a:r>
            <a:r>
              <a:rPr dirty="0" spc="-10"/>
              <a:t> </a:t>
            </a:r>
            <a:r>
              <a:rPr dirty="0" spc="-100"/>
              <a:t>1:</a:t>
            </a:r>
            <a:r>
              <a:rPr dirty="0" spc="5"/>
              <a:t> </a:t>
            </a:r>
            <a:r>
              <a:rPr dirty="0" spc="-10"/>
              <a:t>Answers</a:t>
            </a:r>
          </a:p>
        </p:txBody>
      </p:sp>
      <p:pic>
        <p:nvPicPr>
          <p:cNvPr id="3" name="object 3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1244" y="1485803"/>
            <a:ext cx="6917055" cy="265176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457834" indent="-445134">
              <a:lnSpc>
                <a:spcPct val="100000"/>
              </a:lnSpc>
              <a:spcBef>
                <a:spcPts val="244"/>
              </a:spcBef>
              <a:buAutoNum type="arabicParenR"/>
              <a:tabLst>
                <a:tab pos="457834" algn="l"/>
              </a:tabLst>
            </a:pP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(100100111001)2</a:t>
            </a:r>
            <a:r>
              <a:rPr dirty="0" sz="1450" spc="-4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-4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1001</a:t>
            </a:r>
            <a:r>
              <a:rPr dirty="0" sz="1450" spc="-5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0011</a:t>
            </a:r>
            <a:r>
              <a:rPr dirty="0" sz="1450" spc="-4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1001</a:t>
            </a:r>
            <a:r>
              <a:rPr dirty="0" sz="145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-4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Courier New"/>
                <a:cs typeface="Courier New"/>
              </a:rPr>
              <a:t>0x939</a:t>
            </a:r>
            <a:endParaRPr sz="1450">
              <a:latin typeface="Courier New"/>
              <a:cs typeface="Courier New"/>
            </a:endParaRPr>
          </a:p>
          <a:p>
            <a:pPr marL="457200">
              <a:lnSpc>
                <a:spcPct val="100000"/>
              </a:lnSpc>
              <a:spcBef>
                <a:spcPts val="140"/>
              </a:spcBef>
              <a:tabLst>
                <a:tab pos="4012565" algn="l"/>
              </a:tabLst>
            </a:pP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Courier New"/>
                <a:cs typeface="Courier New"/>
              </a:rPr>
              <a:t>2048+256+32+16+8+1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	=</a:t>
            </a:r>
            <a:r>
              <a:rPr dirty="0" sz="145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ourier New"/>
                <a:cs typeface="Courier New"/>
              </a:rPr>
              <a:t>(2361)10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450">
              <a:latin typeface="Courier New"/>
              <a:cs typeface="Courier New"/>
            </a:endParaRPr>
          </a:p>
          <a:p>
            <a:pPr algn="r" marL="445134" marR="893444" indent="-445134">
              <a:lnSpc>
                <a:spcPct val="100000"/>
              </a:lnSpc>
              <a:buAutoNum type="arabicParenR" startAt="2"/>
              <a:tabLst>
                <a:tab pos="445134" algn="l"/>
              </a:tabLst>
            </a:pP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(A1B8C5)16</a:t>
            </a:r>
            <a:r>
              <a:rPr dirty="0" sz="1450" spc="-5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-5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Courier New"/>
                <a:cs typeface="Courier New"/>
              </a:rPr>
              <a:t>10×16^5+1×16^4+11×16^3+8×16^2+12×16+5</a:t>
            </a:r>
            <a:endParaRPr sz="1450">
              <a:latin typeface="Courier New"/>
              <a:cs typeface="Courier New"/>
            </a:endParaRPr>
          </a:p>
          <a:p>
            <a:pPr algn="r" marR="894080">
              <a:lnSpc>
                <a:spcPct val="100000"/>
              </a:lnSpc>
              <a:spcBef>
                <a:spcPts val="145"/>
              </a:spcBef>
            </a:pP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Courier New"/>
                <a:cs typeface="Courier New"/>
              </a:rPr>
              <a:t>10485760+65536+45056+2048+192+5</a:t>
            </a:r>
            <a:r>
              <a:rPr dirty="0" sz="1450" spc="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ourier New"/>
                <a:cs typeface="Courier New"/>
              </a:rPr>
              <a:t>(10,598,597)10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450">
              <a:latin typeface="Courier New"/>
              <a:cs typeface="Courier New"/>
            </a:endParaRPr>
          </a:p>
          <a:p>
            <a:pPr marL="457834" indent="-445134">
              <a:lnSpc>
                <a:spcPct val="100000"/>
              </a:lnSpc>
              <a:buAutoNum type="arabicParenR" startAt="3"/>
              <a:tabLst>
                <a:tab pos="457834" algn="l"/>
              </a:tabLst>
            </a:pP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(74321)8</a:t>
            </a:r>
            <a:r>
              <a:rPr dirty="0" sz="1450" spc="-7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-6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7×4096+4×512+3×64+2×8+1</a:t>
            </a:r>
            <a:r>
              <a:rPr dirty="0" sz="1450" spc="-6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-7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ourier New"/>
                <a:cs typeface="Courier New"/>
              </a:rPr>
              <a:t>(30,929)10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70"/>
              </a:spcBef>
              <a:buClr>
                <a:srgbClr val="FFFFFF"/>
              </a:buClr>
              <a:buFont typeface="Courier New"/>
              <a:buAutoNum type="arabicParenR" startAt="3"/>
            </a:pPr>
            <a:endParaRPr sz="1450">
              <a:latin typeface="Courier New"/>
              <a:cs typeface="Courier New"/>
            </a:endParaRPr>
          </a:p>
          <a:p>
            <a:pPr marL="457834" indent="-445134">
              <a:lnSpc>
                <a:spcPct val="100000"/>
              </a:lnSpc>
              <a:spcBef>
                <a:spcPts val="5"/>
              </a:spcBef>
              <a:buAutoNum type="arabicParenR" startAt="3"/>
              <a:tabLst>
                <a:tab pos="457834" algn="l"/>
              </a:tabLst>
            </a:pP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(500)10</a:t>
            </a:r>
            <a:r>
              <a:rPr dirty="0" sz="1450" spc="-5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ourier New"/>
                <a:cs typeface="Courier New"/>
              </a:rPr>
              <a:t>(111110100)2</a:t>
            </a:r>
            <a:r>
              <a:rPr dirty="0" sz="1450" spc="-4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ourier New"/>
                <a:cs typeface="Courier New"/>
              </a:rPr>
              <a:t>(764)8</a:t>
            </a:r>
            <a:r>
              <a:rPr dirty="0" sz="145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ourier New"/>
                <a:cs typeface="Courier New"/>
              </a:rPr>
              <a:t>(1F4)16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70"/>
              </a:spcBef>
              <a:buClr>
                <a:srgbClr val="FFFFFF"/>
              </a:buClr>
              <a:buFont typeface="Courier New"/>
              <a:buAutoNum type="arabicParenR" startAt="3"/>
            </a:pPr>
            <a:endParaRPr sz="1450">
              <a:latin typeface="Courier New"/>
              <a:cs typeface="Courier New"/>
            </a:endParaRPr>
          </a:p>
          <a:p>
            <a:pPr marL="457834" indent="-445134">
              <a:lnSpc>
                <a:spcPct val="100000"/>
              </a:lnSpc>
              <a:buAutoNum type="arabicParenR" startAt="3"/>
              <a:tabLst>
                <a:tab pos="457834" algn="l"/>
              </a:tabLst>
            </a:pP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because</a:t>
            </a:r>
            <a:r>
              <a:rPr dirty="0" sz="14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b="1">
                <a:solidFill>
                  <a:srgbClr val="FFDD41"/>
                </a:solidFill>
                <a:latin typeface="Courier New"/>
                <a:cs typeface="Courier New"/>
              </a:rPr>
              <a:t>9</a:t>
            </a:r>
            <a:r>
              <a:rPr dirty="0" sz="1450" spc="-20" b="1">
                <a:solidFill>
                  <a:srgbClr val="FFDD41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is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not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valid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digit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in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base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8</a:t>
            </a:r>
            <a:r>
              <a:rPr dirty="0" sz="14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(digits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Courier New"/>
                <a:cs typeface="Courier New"/>
              </a:rPr>
              <a:t>0-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7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Courier New"/>
                <a:cs typeface="Courier New"/>
              </a:rPr>
              <a:t>only)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78739" y="993167"/>
            <a:ext cx="1252220" cy="16109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400" spc="720">
                <a:solidFill>
                  <a:srgbClr val="FFDD41"/>
                </a:solidFill>
                <a:latin typeface="Times New Roman"/>
                <a:cs typeface="Times New Roman"/>
              </a:rPr>
              <a:t>0/</a:t>
            </a:r>
            <a:endParaRPr sz="10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33740" y="1427924"/>
            <a:ext cx="6765290" cy="93853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365"/>
              </a:spcBef>
            </a:pPr>
            <a:r>
              <a:rPr dirty="0" sz="1300" spc="55" b="1">
                <a:solidFill>
                  <a:srgbClr val="5FDEEE"/>
                </a:solidFill>
                <a:latin typeface="Cambria"/>
                <a:cs typeface="Cambria"/>
              </a:rPr>
              <a:t>PART</a:t>
            </a:r>
            <a:r>
              <a:rPr dirty="0" sz="1300" spc="50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-140" b="1">
                <a:solidFill>
                  <a:srgbClr val="5FDEEE"/>
                </a:solidFill>
                <a:latin typeface="Cambria"/>
                <a:cs typeface="Cambria"/>
              </a:rPr>
              <a:t>3</a:t>
            </a:r>
            <a:r>
              <a:rPr dirty="0" sz="1300" spc="40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85" b="1">
                <a:solidFill>
                  <a:srgbClr val="5FDEEE"/>
                </a:solidFill>
                <a:latin typeface="Cambria"/>
                <a:cs typeface="Cambria"/>
              </a:rPr>
              <a:t>OF</a:t>
            </a:r>
            <a:r>
              <a:rPr dirty="0" sz="1300" spc="55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-135" b="1">
                <a:solidFill>
                  <a:srgbClr val="5FDEEE"/>
                </a:solidFill>
                <a:latin typeface="Cambria"/>
                <a:cs typeface="Cambria"/>
              </a:rPr>
              <a:t>5</a:t>
            </a:r>
            <a:r>
              <a:rPr dirty="0" sz="1300" spc="50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65" b="1">
                <a:solidFill>
                  <a:srgbClr val="5FDEEE"/>
                </a:solidFill>
                <a:latin typeface="Cambria"/>
                <a:cs typeface="Cambria"/>
              </a:rPr>
              <a:t>·</a:t>
            </a:r>
            <a:r>
              <a:rPr dirty="0" sz="1300" spc="45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90" b="1">
                <a:solidFill>
                  <a:srgbClr val="5FDEEE"/>
                </a:solidFill>
                <a:latin typeface="Cambria"/>
                <a:cs typeface="Cambria"/>
              </a:rPr>
              <a:t>OPERATIONS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3800" spc="-25" b="1">
                <a:solidFill>
                  <a:srgbClr val="FFFFFF"/>
                </a:solidFill>
                <a:latin typeface="Times New Roman"/>
                <a:cs typeface="Times New Roman"/>
              </a:rPr>
              <a:t>Operations</a:t>
            </a:r>
            <a:r>
              <a:rPr dirty="0" sz="3800" spc="-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800" b="1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dirty="0" sz="3800" spc="-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800" spc="315" b="1">
                <a:solidFill>
                  <a:srgbClr val="FFFFFF"/>
                </a:solidFill>
                <a:latin typeface="Times New Roman"/>
                <a:cs typeface="Times New Roman"/>
              </a:rPr>
              <a:t>Binary</a:t>
            </a:r>
            <a:r>
              <a:rPr dirty="0" sz="38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800" spc="-10" b="1">
                <a:solidFill>
                  <a:srgbClr val="FFFFFF"/>
                </a:solidFill>
                <a:latin typeface="Times New Roman"/>
                <a:cs typeface="Times New Roman"/>
              </a:rPr>
              <a:t>Numbers</a:t>
            </a:r>
            <a:endParaRPr sz="3800">
              <a:latin typeface="Times New Roman"/>
              <a:cs typeface="Times New Roman"/>
            </a:endParaRPr>
          </a:p>
        </p:txBody>
      </p:sp>
      <p:pic>
        <p:nvPicPr>
          <p:cNvPr id="4" name="object 4" descr="rule-wid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0001" y="3099638"/>
            <a:ext cx="8229993" cy="157993"/>
          </a:xfrm>
          <a:prstGeom prst="rect">
            <a:avLst/>
          </a:prstGeom>
        </p:spPr>
      </p:pic>
      <p:pic>
        <p:nvPicPr>
          <p:cNvPr id="5" name="object 5" descr="talk-cyan-circle-L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30004" y="3759999"/>
            <a:ext cx="2127094" cy="261999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07534" y="361016"/>
            <a:ext cx="3977004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Rules</a:t>
            </a:r>
            <a:r>
              <a:rPr dirty="0" sz="2700" spc="60"/>
              <a:t> </a:t>
            </a:r>
            <a:r>
              <a:rPr dirty="0" sz="2700" spc="55"/>
              <a:t>of</a:t>
            </a:r>
            <a:r>
              <a:rPr dirty="0" sz="2700" spc="40"/>
              <a:t> </a:t>
            </a:r>
            <a:r>
              <a:rPr dirty="0" sz="2700"/>
              <a:t>Binary</a:t>
            </a:r>
            <a:r>
              <a:rPr dirty="0" sz="2700" spc="50"/>
              <a:t> </a:t>
            </a:r>
            <a:r>
              <a:rPr dirty="0" sz="2700" spc="-10"/>
              <a:t>Addition</a:t>
            </a:r>
            <a:endParaRPr sz="27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91084" y="1355237"/>
          <a:ext cx="10885805" cy="2658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5280"/>
                <a:gridCol w="2334895"/>
                <a:gridCol w="1605279"/>
                <a:gridCol w="5253989"/>
              </a:tblGrid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50" spc="-2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Case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8509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50" spc="17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A</a:t>
                      </a:r>
                      <a:r>
                        <a:rPr dirty="0" sz="1450" spc="4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+</a:t>
                      </a:r>
                      <a:r>
                        <a:rPr dirty="0" sz="1450" spc="45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-5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B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8509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50" spc="25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Sum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8509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5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Carry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8509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763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6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+</a:t>
                      </a:r>
                      <a:r>
                        <a:rPr dirty="0" sz="1400" spc="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763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763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763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763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6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+</a:t>
                      </a:r>
                      <a:r>
                        <a:rPr dirty="0" sz="1400" spc="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763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763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763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699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6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+</a:t>
                      </a:r>
                      <a:r>
                        <a:rPr dirty="0" sz="1400" spc="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699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699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699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699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6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+</a:t>
                      </a:r>
                      <a:r>
                        <a:rPr dirty="0" sz="1400" spc="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699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699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r>
                        <a:rPr dirty="0" sz="1400" spc="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(carried to</a:t>
                      </a:r>
                      <a:r>
                        <a:rPr dirty="0" sz="1400" spc="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400" spc="3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next</a:t>
                      </a:r>
                      <a:r>
                        <a:rPr dirty="0" sz="1400" spc="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column)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699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699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6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+</a:t>
                      </a:r>
                      <a:r>
                        <a:rPr dirty="0" sz="1400" spc="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r>
                        <a:rPr dirty="0" sz="1400" spc="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6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+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699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699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</a:t>
                      </a:r>
                      <a:r>
                        <a:rPr dirty="0" sz="1400" spc="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(when</a:t>
                      </a:r>
                      <a:r>
                        <a:rPr dirty="0" sz="1400" spc="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</a:t>
                      </a:r>
                      <a:r>
                        <a:rPr dirty="0" sz="1400" spc="3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carry</a:t>
                      </a:r>
                      <a:r>
                        <a:rPr dirty="0" sz="1400" spc="3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arrives</a:t>
                      </a:r>
                      <a:r>
                        <a:rPr dirty="0" sz="1400" spc="4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too)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699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" name="object 4" descr="smile-white-squar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6773" y="5859999"/>
            <a:ext cx="493049" cy="849994"/>
          </a:xfrm>
          <a:prstGeom prst="rect">
            <a:avLst/>
          </a:prstGeom>
        </p:spPr>
      </p:pic>
      <p:pic>
        <p:nvPicPr>
          <p:cNvPr id="5" name="object 5" descr="talk-blue-circl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44831" y="5859999"/>
            <a:ext cx="690079" cy="84999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17:39:49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Case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4: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one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plus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(10)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in </a:t>
            </a:r>
            <a:r>
              <a:rPr dirty="0" sz="1000">
                <a:latin typeface="Microsoft Sans Serif"/>
                <a:cs typeface="Microsoft Sans Serif"/>
              </a:rPr>
              <a:t>binary,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write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0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carry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1,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exactly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like</a:t>
            </a:r>
            <a:r>
              <a:rPr dirty="0" sz="1000" spc="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9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plus</a:t>
            </a:r>
            <a:r>
              <a:rPr dirty="0" sz="1000" spc="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1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decimal.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Binary</a:t>
            </a:r>
            <a:r>
              <a:rPr dirty="0" spc="70"/>
              <a:t> </a:t>
            </a:r>
            <a:r>
              <a:rPr dirty="0"/>
              <a:t>Addition:</a:t>
            </a:r>
            <a:r>
              <a:rPr dirty="0" spc="45"/>
              <a:t> </a:t>
            </a:r>
            <a:r>
              <a:rPr dirty="0"/>
              <a:t>Worked</a:t>
            </a:r>
            <a:r>
              <a:rPr dirty="0" spc="65"/>
              <a:t> </a:t>
            </a:r>
            <a:r>
              <a:rPr dirty="0" spc="-10"/>
              <a:t>Examples</a:t>
            </a:r>
          </a:p>
        </p:txBody>
      </p:sp>
      <p:pic>
        <p:nvPicPr>
          <p:cNvPr id="3" name="object 3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63436" y="1503875"/>
            <a:ext cx="108267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example</a:t>
            </a:r>
            <a:r>
              <a:rPr dirty="0" sz="1550" spc="-4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spc="-50" b="1">
                <a:solidFill>
                  <a:srgbClr val="5FDEEE"/>
                </a:solidFill>
                <a:latin typeface="Courier New"/>
                <a:cs typeface="Courier New"/>
              </a:rPr>
              <a:t>1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38933" y="1503875"/>
            <a:ext cx="108394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b="1">
                <a:solidFill>
                  <a:srgbClr val="5FDEEE"/>
                </a:solidFill>
                <a:latin typeface="Courier New"/>
                <a:cs typeface="Courier New"/>
              </a:rPr>
              <a:t>example</a:t>
            </a:r>
            <a:r>
              <a:rPr dirty="0" sz="1550" spc="-4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50" spc="-50" b="1">
                <a:solidFill>
                  <a:srgbClr val="5FDEEE"/>
                </a:solidFill>
                <a:latin typeface="Courier New"/>
                <a:cs typeface="Courier New"/>
              </a:rPr>
              <a:t>2</a:t>
            </a:r>
            <a:endParaRPr sz="155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44386" y="2060061"/>
          <a:ext cx="6717665" cy="1242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1860"/>
                <a:gridCol w="234315"/>
                <a:gridCol w="234950"/>
                <a:gridCol w="586739"/>
                <a:gridCol w="351155"/>
                <a:gridCol w="938530"/>
                <a:gridCol w="1527810"/>
                <a:gridCol w="1291589"/>
                <a:gridCol w="558800"/>
              </a:tblGrid>
              <a:tr h="238760">
                <a:tc>
                  <a:txBody>
                    <a:bodyPr/>
                    <a:lstStyle/>
                    <a:p>
                      <a:pPr marL="31750">
                        <a:lnSpc>
                          <a:spcPts val="1600"/>
                        </a:lnSpc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carry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800">
                        <a:lnSpc>
                          <a:spcPts val="1600"/>
                        </a:lnSpc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carry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ts val="1600"/>
                        </a:lnSpc>
                      </a:pPr>
                      <a:r>
                        <a:rPr dirty="0" sz="15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50" spc="-15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50" spc="-15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50" spc="-15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 </a:t>
                      </a: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5270">
                <a:tc>
                  <a:txBody>
                    <a:bodyPr/>
                    <a:lstStyle/>
                    <a:p>
                      <a:pPr algn="r" marR="50165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30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ts val="173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73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26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ts val="1730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0 0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30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30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5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19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38125">
                <a:tc>
                  <a:txBody>
                    <a:bodyPr/>
                    <a:lstStyle/>
                    <a:p>
                      <a:pPr algn="r" marR="50165">
                        <a:lnSpc>
                          <a:spcPts val="1725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25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725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800">
                        <a:lnSpc>
                          <a:spcPts val="1725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0 0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725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725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62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71145">
                <a:tc gridSpan="4">
                  <a:txBody>
                    <a:bodyPr/>
                    <a:lstStyle/>
                    <a:p>
                      <a:pPr marL="501015">
                        <a:lnSpc>
                          <a:spcPts val="1850"/>
                        </a:lnSpc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───────────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46430">
                        <a:lnSpc>
                          <a:spcPts val="1850"/>
                        </a:lnSpc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─────────────────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38760">
                <a:tc gridSpan="4">
                  <a:txBody>
                    <a:bodyPr/>
                    <a:lstStyle/>
                    <a:p>
                      <a:pPr marL="501015">
                        <a:lnSpc>
                          <a:spcPts val="1730"/>
                        </a:lnSpc>
                      </a:pPr>
                      <a:r>
                        <a:rPr dirty="0" sz="15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50" spc="-1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550" spc="-1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550" spc="-1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1 1</a:t>
                      </a:r>
                      <a:r>
                        <a:rPr dirty="0" sz="1550" spc="-1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ts val="1730"/>
                        </a:lnSpc>
                      </a:pPr>
                      <a:r>
                        <a:rPr dirty="0" sz="1550" spc="-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730"/>
                        </a:lnSpc>
                      </a:pPr>
                      <a:r>
                        <a:rPr dirty="0" sz="1550" spc="-2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38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45795">
                        <a:lnSpc>
                          <a:spcPts val="1730"/>
                        </a:lnSpc>
                      </a:pPr>
                      <a:r>
                        <a:rPr dirty="0" sz="15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550" spc="-1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1 0</a:t>
                      </a:r>
                      <a:r>
                        <a:rPr dirty="0" sz="1550" spc="-1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50" spc="-1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550" spc="-1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550" spc="-1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550" spc="-1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50" spc="-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1550" spc="-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730"/>
                        </a:lnSpc>
                      </a:pPr>
                      <a:r>
                        <a:rPr dirty="0" sz="1550" spc="-2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81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363239" y="3546114"/>
            <a:ext cx="7779384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always</a:t>
            </a:r>
            <a:r>
              <a:rPr dirty="0" sz="155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verify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by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converting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operands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and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result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to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Courier New"/>
                <a:cs typeface="Courier New"/>
              </a:rPr>
              <a:t>decimal</a:t>
            </a:r>
            <a:endParaRPr sz="15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Binary</a:t>
            </a:r>
            <a:r>
              <a:rPr dirty="0" spc="30"/>
              <a:t> </a:t>
            </a:r>
            <a:r>
              <a:rPr dirty="0" spc="-20"/>
              <a:t>Subtraction:</a:t>
            </a:r>
            <a:r>
              <a:rPr dirty="0" spc="10"/>
              <a:t> </a:t>
            </a:r>
            <a:r>
              <a:rPr dirty="0"/>
              <a:t>Rules</a:t>
            </a:r>
            <a:r>
              <a:rPr dirty="0" spc="15"/>
              <a:t> </a:t>
            </a:r>
            <a:r>
              <a:rPr dirty="0"/>
              <a:t>and</a:t>
            </a:r>
            <a:r>
              <a:rPr dirty="0" spc="25"/>
              <a:t> </a:t>
            </a:r>
            <a:r>
              <a:rPr dirty="0" spc="-10"/>
              <a:t>Example</a:t>
            </a:r>
          </a:p>
        </p:txBody>
      </p:sp>
      <p:pic>
        <p:nvPicPr>
          <p:cNvPr id="3" name="object 3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44386" y="1549501"/>
          <a:ext cx="6962775" cy="1242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0440"/>
                <a:gridCol w="176530"/>
                <a:gridCol w="235584"/>
                <a:gridCol w="235584"/>
                <a:gridCol w="234949"/>
                <a:gridCol w="234950"/>
                <a:gridCol w="704850"/>
                <a:gridCol w="470535"/>
                <a:gridCol w="586104"/>
                <a:gridCol w="588010"/>
                <a:gridCol w="2439669"/>
              </a:tblGrid>
              <a:tr h="238760">
                <a:tc>
                  <a:txBody>
                    <a:bodyPr/>
                    <a:lstStyle/>
                    <a:p>
                      <a:pPr marL="31750" marR="3175">
                        <a:lnSpc>
                          <a:spcPts val="1600"/>
                        </a:lnSpc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rules: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0165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76530">
                        <a:lnSpc>
                          <a:spcPts val="1600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6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7685">
                        <a:lnSpc>
                          <a:spcPts val="1600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38760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0165">
                        <a:lnSpc>
                          <a:spcPts val="1730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30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0"/>
                        </a:lnSpc>
                      </a:pP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ts val="1730"/>
                        </a:lnSpc>
                      </a:pPr>
                      <a:r>
                        <a:rPr dirty="0" sz="1550" spc="-2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with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59055">
                        <a:lnSpc>
                          <a:spcPts val="1730"/>
                        </a:lnSpc>
                      </a:pPr>
                      <a:r>
                        <a:rPr dirty="0" sz="15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dirty="0" sz="1550" spc="-15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1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borrow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730"/>
                        </a:lnSpc>
                      </a:pPr>
                      <a:r>
                        <a:rPr dirty="0" sz="15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of</a:t>
                      </a:r>
                      <a:r>
                        <a:rPr dirty="0" sz="1550" spc="-2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1730"/>
                        </a:lnSpc>
                      </a:pPr>
                      <a:r>
                        <a:rPr dirty="0" sz="15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1550" spc="-25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the</a:t>
                      </a:r>
                      <a:r>
                        <a:rPr dirty="0" sz="1550" spc="-25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next</a:t>
                      </a:r>
                      <a:r>
                        <a:rPr dirty="0" sz="1550" spc="-25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1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column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526415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example: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r" marR="50165">
                        <a:lnSpc>
                          <a:spcPct val="100000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13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2794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38125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algn="r" marR="50165">
                        <a:lnSpc>
                          <a:spcPts val="1725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1725"/>
                        </a:lnSpc>
                      </a:pPr>
                      <a:r>
                        <a:rPr dirty="0" sz="15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800">
                        <a:lnSpc>
                          <a:spcPts val="1725"/>
                        </a:lnSpc>
                      </a:pPr>
                      <a:r>
                        <a:rPr dirty="0" sz="15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57785">
                        <a:lnSpc>
                          <a:spcPts val="1725"/>
                        </a:lnSpc>
                      </a:pPr>
                      <a:r>
                        <a:rPr dirty="0" sz="15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63829" y="2759534"/>
            <a:ext cx="7778750" cy="155702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421765">
              <a:lnSpc>
                <a:spcPct val="100000"/>
              </a:lnSpc>
              <a:spcBef>
                <a:spcPts val="254"/>
              </a:spcBef>
            </a:pPr>
            <a:r>
              <a:rPr dirty="0" sz="1550" spc="-10">
                <a:solidFill>
                  <a:srgbClr val="FFFFFF"/>
                </a:solidFill>
                <a:latin typeface="Courier New"/>
                <a:cs typeface="Courier New"/>
              </a:rPr>
              <a:t>─────────</a:t>
            </a:r>
            <a:endParaRPr sz="1550">
              <a:latin typeface="Courier New"/>
              <a:cs typeface="Courier New"/>
            </a:endParaRPr>
          </a:p>
          <a:p>
            <a:pPr marL="1656714">
              <a:lnSpc>
                <a:spcPct val="100000"/>
              </a:lnSpc>
              <a:spcBef>
                <a:spcPts val="155"/>
              </a:spcBef>
              <a:tabLst>
                <a:tab pos="3066415" algn="l"/>
              </a:tabLst>
            </a:pPr>
            <a:r>
              <a:rPr dirty="0" sz="1550" b="1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55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55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5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spc="-50" b="1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50" b="1">
                <a:solidFill>
                  <a:srgbClr val="FFFFFF"/>
                </a:solidFill>
                <a:latin typeface="Courier New"/>
                <a:cs typeface="Courier New"/>
              </a:rPr>
              <a:t>	=</a:t>
            </a:r>
            <a:r>
              <a:rPr dirty="0" sz="1550" spc="-10" b="1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550" spc="-50" b="1">
                <a:solidFill>
                  <a:srgbClr val="FFFFFF"/>
                </a:solidFill>
                <a:latin typeface="Courier New"/>
                <a:cs typeface="Courier New"/>
              </a:rPr>
              <a:t>3</a:t>
            </a:r>
            <a:endParaRPr sz="1550">
              <a:latin typeface="Courier New"/>
              <a:cs typeface="Courier New"/>
            </a:endParaRPr>
          </a:p>
          <a:p>
            <a:pPr marL="12700" marR="5080">
              <a:lnSpc>
                <a:spcPct val="215499"/>
              </a:lnSpc>
              <a:spcBef>
                <a:spcPts val="10"/>
              </a:spcBef>
            </a:pP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column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1: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55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→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borrow:</a:t>
            </a:r>
            <a:r>
              <a:rPr dirty="0" sz="15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10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dirty="0" sz="15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5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1,</a:t>
            </a:r>
            <a:r>
              <a:rPr dirty="0" sz="155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and</a:t>
            </a:r>
            <a:r>
              <a:rPr dirty="0" sz="15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column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2</a:t>
            </a:r>
            <a:r>
              <a:rPr dirty="0" sz="155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repays</a:t>
            </a:r>
            <a:r>
              <a:rPr dirty="0" sz="15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dirty="0" sz="1550" spc="-20">
                <a:solidFill>
                  <a:srgbClr val="FFFFFF"/>
                </a:solidFill>
                <a:latin typeface="Courier New"/>
                <a:cs typeface="Courier New"/>
              </a:rPr>
              <a:t> loan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hardware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rarely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subtracts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this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way: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>
                <a:solidFill>
                  <a:srgbClr val="FFFFFF"/>
                </a:solidFill>
                <a:latin typeface="Courier New"/>
                <a:cs typeface="Courier New"/>
              </a:rPr>
              <a:t>it</a:t>
            </a:r>
            <a:r>
              <a:rPr dirty="0" sz="15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FFDD41"/>
                </a:solidFill>
                <a:latin typeface="Courier New"/>
                <a:cs typeface="Courier New"/>
              </a:rPr>
              <a:t>adds</a:t>
            </a:r>
            <a:r>
              <a:rPr dirty="0" sz="1550" spc="-30" b="1">
                <a:solidFill>
                  <a:srgbClr val="FFDD41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FFDD41"/>
                </a:solidFill>
                <a:latin typeface="Courier New"/>
                <a:cs typeface="Courier New"/>
              </a:rPr>
              <a:t>the</a:t>
            </a:r>
            <a:r>
              <a:rPr dirty="0" sz="1550" spc="-30" b="1">
                <a:solidFill>
                  <a:srgbClr val="FFDD41"/>
                </a:solidFill>
                <a:latin typeface="Courier New"/>
                <a:cs typeface="Courier New"/>
              </a:rPr>
              <a:t> </a:t>
            </a:r>
            <a:r>
              <a:rPr dirty="0" sz="1550" b="1">
                <a:solidFill>
                  <a:srgbClr val="FFDD41"/>
                </a:solidFill>
                <a:latin typeface="Courier New"/>
                <a:cs typeface="Courier New"/>
              </a:rPr>
              <a:t>2's</a:t>
            </a:r>
            <a:r>
              <a:rPr dirty="0" sz="1550" spc="-25" b="1">
                <a:solidFill>
                  <a:srgbClr val="FFDD41"/>
                </a:solidFill>
                <a:latin typeface="Courier New"/>
                <a:cs typeface="Courier New"/>
              </a:rPr>
              <a:t> </a:t>
            </a:r>
            <a:r>
              <a:rPr dirty="0" sz="1550" spc="-10" b="1">
                <a:solidFill>
                  <a:srgbClr val="FFDD41"/>
                </a:solidFill>
                <a:latin typeface="Courier New"/>
                <a:cs typeface="Courier New"/>
              </a:rPr>
              <a:t>complement</a:t>
            </a:r>
            <a:endParaRPr sz="15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r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999" y="899999"/>
            <a:ext cx="9059999" cy="4719991"/>
          </a:xfrm>
          <a:prstGeom prst="rect">
            <a:avLst/>
          </a:prstGeom>
        </p:spPr>
      </p:pic>
      <p:pic>
        <p:nvPicPr>
          <p:cNvPr id="3" name="object 3" descr="talk-yellow-hex-L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60000" y="3560000"/>
            <a:ext cx="1966336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38739" y="1424063"/>
            <a:ext cx="2360930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75">
                <a:solidFill>
                  <a:srgbClr val="FFDD41"/>
                </a:solidFill>
              </a:rPr>
              <a:t>1's</a:t>
            </a:r>
            <a:r>
              <a:rPr dirty="0" sz="2500" spc="-45">
                <a:solidFill>
                  <a:srgbClr val="FFDD41"/>
                </a:solidFill>
              </a:rPr>
              <a:t> </a:t>
            </a:r>
            <a:r>
              <a:rPr dirty="0" sz="2500" spc="-10">
                <a:solidFill>
                  <a:srgbClr val="FFDD41"/>
                </a:solidFill>
              </a:rPr>
              <a:t>Complement</a:t>
            </a:r>
            <a:endParaRPr sz="2500"/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8843" y="2149303"/>
            <a:ext cx="7071359" cy="1625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 marR="5080" indent="-360045">
              <a:lnSpc>
                <a:spcPct val="100000"/>
              </a:lnSpc>
              <a:spcBef>
                <a:spcPts val="1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1's</a:t>
            </a:r>
            <a:r>
              <a:rPr dirty="0" sz="1500" spc="1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complement</a:t>
            </a:r>
            <a:r>
              <a:rPr dirty="0" sz="1500" spc="1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binary</a:t>
            </a:r>
            <a:r>
              <a:rPr dirty="0" sz="1500" spc="1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number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found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</a:t>
            </a:r>
            <a:r>
              <a:rPr dirty="0" sz="1500" spc="1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flipping</a:t>
            </a:r>
            <a:r>
              <a:rPr dirty="0" sz="1500" spc="18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500" spc="1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all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1s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become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0s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all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0s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become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1s.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Example:</a:t>
            </a:r>
            <a:r>
              <a:rPr dirty="0" sz="1500" spc="-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15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500" spc="3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→</a:t>
            </a:r>
            <a:r>
              <a:rPr dirty="0" sz="1500" spc="3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50" b="1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500" spc="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0" b="1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full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byte: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5">
                <a:solidFill>
                  <a:srgbClr val="FFFFFF"/>
                </a:solidFill>
                <a:latin typeface="Cambria"/>
                <a:cs typeface="Cambria"/>
              </a:rPr>
              <a:t>0000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0">
                <a:solidFill>
                  <a:srgbClr val="FFFFFF"/>
                </a:solidFill>
                <a:latin typeface="Cambria"/>
                <a:cs typeface="Cambria"/>
              </a:rPr>
              <a:t>1100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(12)</a:t>
            </a:r>
            <a:r>
              <a:rPr dirty="0" sz="1500" spc="4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→</a:t>
            </a:r>
            <a:r>
              <a:rPr dirty="0" sz="1500" spc="4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1111</a:t>
            </a:r>
            <a:r>
              <a:rPr dirty="0" sz="1500" spc="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0011</a:t>
            </a:r>
            <a:endParaRPr sz="1500">
              <a:latin typeface="Cambria"/>
              <a:cs typeface="Cambria"/>
            </a:endParaRPr>
          </a:p>
          <a:p>
            <a:pPr marL="372110" marR="5715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It</a:t>
            </a:r>
            <a:r>
              <a:rPr dirty="0" sz="1500" spc="3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3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3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stepping</a:t>
            </a:r>
            <a:r>
              <a:rPr dirty="0" sz="1500" spc="3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stone</a:t>
            </a:r>
            <a:r>
              <a:rPr dirty="0" sz="1500" spc="3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3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3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2's</a:t>
            </a:r>
            <a:r>
              <a:rPr dirty="0" sz="1500" spc="3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complement,</a:t>
            </a:r>
            <a:r>
              <a:rPr dirty="0" sz="1500" spc="3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which</a:t>
            </a:r>
            <a:r>
              <a:rPr dirty="0" sz="1500" spc="3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3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how</a:t>
            </a:r>
            <a:r>
              <a:rPr dirty="0" sz="1500" spc="3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500" spc="3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modern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computer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represents</a:t>
            </a:r>
            <a:r>
              <a:rPr dirty="0" sz="1500" spc="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negative</a:t>
            </a:r>
            <a:r>
              <a:rPr dirty="0" sz="1500" spc="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numbers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720001"/>
            <a:ext cx="11429996" cy="4817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739" y="1082540"/>
            <a:ext cx="2461260" cy="42227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0"/>
              <a:t>2's</a:t>
            </a:r>
            <a:r>
              <a:rPr dirty="0" spc="-50"/>
              <a:t> </a:t>
            </a:r>
            <a:r>
              <a:rPr dirty="0" spc="-10"/>
              <a:t>Complement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843" y="1703104"/>
            <a:ext cx="7478395" cy="195326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-45" b="1">
                <a:solidFill>
                  <a:srgbClr val="FFFFFF"/>
                </a:solidFill>
                <a:latin typeface="Cambria"/>
                <a:cs typeface="Cambria"/>
              </a:rPr>
              <a:t>2's</a:t>
            </a:r>
            <a:r>
              <a:rPr dirty="0" sz="1500" spc="-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complement</a:t>
            </a:r>
            <a:r>
              <a:rPr dirty="0" sz="1500" spc="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5" b="1">
                <a:solidFill>
                  <a:srgbClr val="FFFFFF"/>
                </a:solidFill>
                <a:latin typeface="Cambria"/>
                <a:cs typeface="Cambria"/>
              </a:rPr>
              <a:t>1's</a:t>
            </a:r>
            <a:r>
              <a:rPr dirty="0" sz="1500" spc="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complement</a:t>
            </a:r>
            <a:r>
              <a:rPr dirty="0" sz="1500" spc="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+</a:t>
            </a:r>
            <a:r>
              <a:rPr dirty="0" sz="1500" spc="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(add</a:t>
            </a:r>
            <a:r>
              <a:rPr dirty="0" sz="1500" spc="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5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at</a:t>
            </a:r>
            <a:r>
              <a:rPr dirty="0" sz="1500" spc="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LSB).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Example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Cambria"/>
                <a:cs typeface="Cambria"/>
              </a:rPr>
              <a:t>12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bits: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5">
                <a:solidFill>
                  <a:srgbClr val="FFFFFF"/>
                </a:solidFill>
                <a:latin typeface="Cambria"/>
                <a:cs typeface="Cambria"/>
              </a:rPr>
              <a:t>0000</a:t>
            </a:r>
            <a:r>
              <a:rPr dirty="0" sz="15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5">
                <a:solidFill>
                  <a:srgbClr val="FFFFFF"/>
                </a:solidFill>
                <a:latin typeface="Cambria"/>
                <a:cs typeface="Cambria"/>
              </a:rPr>
              <a:t>1100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→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flip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→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0">
                <a:solidFill>
                  <a:srgbClr val="FFFFFF"/>
                </a:solidFill>
                <a:latin typeface="Cambria"/>
                <a:cs typeface="Cambria"/>
              </a:rPr>
              <a:t>1111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5">
                <a:solidFill>
                  <a:srgbClr val="FFFFFF"/>
                </a:solidFill>
                <a:latin typeface="Cambria"/>
                <a:cs typeface="Cambria"/>
              </a:rPr>
              <a:t>0011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→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add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→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1111</a:t>
            </a:r>
            <a:r>
              <a:rPr dirty="0" sz="1500" spc="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0100</a:t>
            </a:r>
            <a:r>
              <a:rPr dirty="0" sz="1500" spc="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(=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12)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computers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use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it:</a:t>
            </a:r>
            <a:endParaRPr sz="1500">
              <a:latin typeface="Cambria"/>
              <a:cs typeface="Cambria"/>
            </a:endParaRPr>
          </a:p>
          <a:p>
            <a:pPr marL="772795" indent="-300355">
              <a:lnSpc>
                <a:spcPct val="100000"/>
              </a:lnSpc>
              <a:spcBef>
                <a:spcPts val="305"/>
              </a:spcBef>
              <a:buClr>
                <a:srgbClr val="B89E87"/>
              </a:buClr>
              <a:buSzPct val="69230"/>
              <a:buFont typeface="Microsoft Sans Serif"/>
              <a:buChar char="▪"/>
              <a:tabLst>
                <a:tab pos="772795" algn="l"/>
              </a:tabLst>
            </a:pP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subtraction</a:t>
            </a:r>
            <a:r>
              <a:rPr dirty="0" sz="13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becomes</a:t>
            </a:r>
            <a:r>
              <a:rPr dirty="0" sz="13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addition,</a:t>
            </a:r>
            <a:r>
              <a:rPr dirty="0" sz="13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so</a:t>
            </a:r>
            <a:r>
              <a:rPr dirty="0" sz="13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3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145">
                <a:solidFill>
                  <a:srgbClr val="FFFFFF"/>
                </a:solidFill>
                <a:latin typeface="Cambria"/>
                <a:cs typeface="Cambria"/>
              </a:rPr>
              <a:t>ALU</a:t>
            </a:r>
            <a:r>
              <a:rPr dirty="0" sz="13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needs</a:t>
            </a:r>
            <a:r>
              <a:rPr dirty="0" sz="13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only</a:t>
            </a:r>
            <a:r>
              <a:rPr dirty="0" sz="13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an</a:t>
            </a:r>
            <a:r>
              <a:rPr dirty="0" sz="13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adder</a:t>
            </a:r>
            <a:r>
              <a:rPr dirty="0" sz="13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mbria"/>
                <a:cs typeface="Cambria"/>
              </a:rPr>
              <a:t>circuit</a:t>
            </a:r>
            <a:endParaRPr sz="1300">
              <a:latin typeface="Cambria"/>
              <a:cs typeface="Cambria"/>
            </a:endParaRPr>
          </a:p>
          <a:p>
            <a:pPr marL="772795" indent="-300355">
              <a:lnSpc>
                <a:spcPct val="100000"/>
              </a:lnSpc>
              <a:spcBef>
                <a:spcPts val="300"/>
              </a:spcBef>
              <a:buClr>
                <a:srgbClr val="B89E87"/>
              </a:buClr>
              <a:buSzPct val="69230"/>
              <a:buFont typeface="Microsoft Sans Serif"/>
              <a:buChar char="▪"/>
              <a:tabLst>
                <a:tab pos="772795" algn="l"/>
              </a:tabLst>
            </a:pP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there</a:t>
            </a:r>
            <a:r>
              <a:rPr dirty="0" sz="13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3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3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single</a:t>
            </a:r>
            <a:r>
              <a:rPr dirty="0" sz="13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representation</a:t>
            </a:r>
            <a:r>
              <a:rPr dirty="0" sz="13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3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Cambria"/>
                <a:cs typeface="Cambria"/>
              </a:rPr>
              <a:t>zero</a:t>
            </a:r>
            <a:endParaRPr sz="1300">
              <a:latin typeface="Cambria"/>
              <a:cs typeface="Cambria"/>
            </a:endParaRPr>
          </a:p>
          <a:p>
            <a:pPr marL="772795" indent="-300355">
              <a:lnSpc>
                <a:spcPct val="100000"/>
              </a:lnSpc>
              <a:spcBef>
                <a:spcPts val="315"/>
              </a:spcBef>
              <a:buClr>
                <a:srgbClr val="B89E87"/>
              </a:buClr>
              <a:buSzPct val="69230"/>
              <a:buFont typeface="Microsoft Sans Serif"/>
              <a:buChar char="▪"/>
              <a:tabLst>
                <a:tab pos="772795" algn="l"/>
              </a:tabLst>
            </a:pP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3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Cambria"/>
                <a:cs typeface="Cambria"/>
              </a:rPr>
              <a:t>MSB</a:t>
            </a:r>
            <a:r>
              <a:rPr dirty="0" sz="13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doubles</a:t>
            </a:r>
            <a:r>
              <a:rPr dirty="0" sz="13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as</a:t>
            </a:r>
            <a:r>
              <a:rPr dirty="0" sz="13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3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ambria"/>
                <a:cs typeface="Cambria"/>
              </a:rPr>
              <a:t>sign</a:t>
            </a:r>
            <a:r>
              <a:rPr dirty="0" sz="1300" spc="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3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13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55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3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positive,</a:t>
            </a:r>
            <a:r>
              <a:rPr dirty="0" sz="13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3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55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3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mbria"/>
                <a:cs typeface="Cambria"/>
              </a:rPr>
              <a:t>negative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same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5">
                <a:solidFill>
                  <a:srgbClr val="FFFFFF"/>
                </a:solidFill>
                <a:latin typeface="Cambria"/>
                <a:cs typeface="Cambria"/>
              </a:rPr>
              <a:t>1111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0">
                <a:solidFill>
                  <a:srgbClr val="FFFFFF"/>
                </a:solidFill>
                <a:latin typeface="Cambria"/>
                <a:cs typeface="Cambria"/>
              </a:rPr>
              <a:t>0100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0" b="1">
                <a:solidFill>
                  <a:srgbClr val="FFFFFF"/>
                </a:solidFill>
                <a:latin typeface="Cambria"/>
                <a:cs typeface="Cambria"/>
              </a:rPr>
              <a:t>244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unsigned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but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12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signed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context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decides.</a:t>
            </a:r>
            <a:endParaRPr sz="1500">
              <a:latin typeface="Cambria"/>
              <a:cs typeface="Cambria"/>
            </a:endParaRPr>
          </a:p>
        </p:txBody>
      </p:sp>
      <p:pic>
        <p:nvPicPr>
          <p:cNvPr id="5" name="object 5" descr="smile-blue-circl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5250" y="5759999"/>
            <a:ext cx="747941" cy="919997"/>
          </a:xfrm>
          <a:prstGeom prst="rect">
            <a:avLst/>
          </a:prstGeom>
        </p:spPr>
      </p:pic>
      <p:pic>
        <p:nvPicPr>
          <p:cNvPr id="6" name="object 6" descr="talk-coral-trap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8200" y="5759999"/>
            <a:ext cx="790105" cy="919997"/>
          </a:xfrm>
          <a:prstGeom prst="rect">
            <a:avLst/>
          </a:prstGeom>
        </p:spPr>
      </p:pic>
      <p:pic>
        <p:nvPicPr>
          <p:cNvPr id="7" name="object 7" descr="smile-yellow-pent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03316" y="5759999"/>
            <a:ext cx="713128" cy="91999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Subtraction</a:t>
            </a:r>
            <a:r>
              <a:rPr dirty="0" spc="-30"/>
              <a:t> </a:t>
            </a:r>
            <a:r>
              <a:rPr dirty="0" spc="65"/>
              <a:t>Using</a:t>
            </a:r>
            <a:r>
              <a:rPr dirty="0"/>
              <a:t> </a:t>
            </a:r>
            <a:r>
              <a:rPr dirty="0" spc="-80"/>
              <a:t>2's</a:t>
            </a:r>
            <a:r>
              <a:rPr dirty="0" spc="-10"/>
              <a:t> Complement</a:t>
            </a:r>
          </a:p>
        </p:txBody>
      </p:sp>
      <p:pic>
        <p:nvPicPr>
          <p:cNvPr id="3" name="object 3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7340" y="1503875"/>
            <a:ext cx="8255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compute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86040" y="1503875"/>
            <a:ext cx="8255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26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12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14740" y="1503875"/>
            <a:ext cx="11684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on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8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bits: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6440" y="2491427"/>
            <a:ext cx="231203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flip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all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bits,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add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endParaRPr sz="1500">
              <a:latin typeface="Courier New"/>
              <a:cs typeface="Courier New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338290" y="2042256"/>
          <a:ext cx="3693160" cy="1449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800"/>
                <a:gridCol w="1028700"/>
                <a:gridCol w="228600"/>
                <a:gridCol w="409575"/>
                <a:gridCol w="171450"/>
                <a:gridCol w="228600"/>
                <a:gridCol w="228600"/>
                <a:gridCol w="228600"/>
                <a:gridCol w="228600"/>
                <a:gridCol w="228600"/>
                <a:gridCol w="203200"/>
              </a:tblGrid>
              <a:tr h="231140">
                <a:tc>
                  <a:txBody>
                    <a:bodyPr/>
                    <a:lstStyle/>
                    <a:p>
                      <a:pPr marL="31750">
                        <a:lnSpc>
                          <a:spcPts val="1550"/>
                        </a:lnSpc>
                      </a:pPr>
                      <a:r>
                        <a:rPr dirty="0" sz="150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26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7150" marR="3175">
                        <a:lnSpc>
                          <a:spcPts val="155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8895">
                        <a:lnSpc>
                          <a:spcPts val="155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4765">
                        <a:lnSpc>
                          <a:spcPts val="155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46379">
                <a:tc>
                  <a:txBody>
                    <a:bodyPr/>
                    <a:lstStyle/>
                    <a:p>
                      <a:pPr marL="31750">
                        <a:lnSpc>
                          <a:spcPts val="1670"/>
                        </a:lnSpc>
                      </a:pPr>
                      <a:r>
                        <a:rPr dirty="0" sz="150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7150" marR="3175">
                        <a:lnSpc>
                          <a:spcPts val="167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8895">
                        <a:lnSpc>
                          <a:spcPts val="167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4765">
                        <a:lnSpc>
                          <a:spcPts val="167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31140">
                <a:tc>
                  <a:txBody>
                    <a:bodyPr/>
                    <a:lstStyle/>
                    <a:p>
                      <a:pPr marL="31750">
                        <a:lnSpc>
                          <a:spcPts val="1670"/>
                        </a:lnSpc>
                      </a:pPr>
                      <a:r>
                        <a:rPr dirty="0" sz="150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2's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1670"/>
                        </a:lnSpc>
                      </a:pPr>
                      <a:r>
                        <a:rPr dirty="0" sz="15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comp(12)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7150" marR="3175">
                        <a:lnSpc>
                          <a:spcPts val="1670"/>
                        </a:lnSpc>
                      </a:pPr>
                      <a:r>
                        <a:rPr dirty="0" sz="150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8895">
                        <a:lnSpc>
                          <a:spcPts val="1670"/>
                        </a:lnSpc>
                      </a:pPr>
                      <a:r>
                        <a:rPr dirty="0" sz="150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0"/>
                        </a:lnSpc>
                      </a:pPr>
                      <a:r>
                        <a:rPr dirty="0" sz="150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0"/>
                        </a:lnSpc>
                      </a:pPr>
                      <a:r>
                        <a:rPr dirty="0" sz="150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0"/>
                        </a:lnSpc>
                      </a:pPr>
                      <a:r>
                        <a:rPr dirty="0" sz="150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0"/>
                        </a:lnSpc>
                      </a:pPr>
                      <a:r>
                        <a:rPr dirty="0" sz="150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0"/>
                        </a:lnSpc>
                      </a:pPr>
                      <a:r>
                        <a:rPr dirty="0" sz="150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4765">
                        <a:lnSpc>
                          <a:spcPts val="1670"/>
                        </a:lnSpc>
                      </a:pPr>
                      <a:r>
                        <a:rPr dirty="0" sz="1500" spc="-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50927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74650">
                        <a:lnSpc>
                          <a:spcPct val="100000"/>
                        </a:lnSpc>
                      </a:pP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5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5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5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2667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2667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56515">
                        <a:lnSpc>
                          <a:spcPct val="100000"/>
                        </a:lnSpc>
                      </a:pP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26670"/>
                </a:tc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913765">
                        <a:lnSpc>
                          <a:spcPct val="100000"/>
                        </a:lnSpc>
                      </a:pPr>
                      <a:r>
                        <a:rPr dirty="0" sz="150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(26)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2667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31140">
                <a:tc gridSpan="2">
                  <a:txBody>
                    <a:bodyPr/>
                    <a:lstStyle/>
                    <a:p>
                      <a:pPr marL="146050">
                        <a:lnSpc>
                          <a:spcPts val="1670"/>
                        </a:lnSpc>
                      </a:pP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15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5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670"/>
                        </a:lnSpc>
                      </a:pP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5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7">
                  <a:txBody>
                    <a:bodyPr/>
                    <a:lstStyle/>
                    <a:p>
                      <a:pPr marL="913765">
                        <a:lnSpc>
                          <a:spcPts val="1670"/>
                        </a:lnSpc>
                      </a:pPr>
                      <a:r>
                        <a:rPr dirty="0" sz="15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(-</a:t>
                      </a:r>
                      <a:r>
                        <a:rPr dirty="0" sz="150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12)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357340" y="3460691"/>
            <a:ext cx="5054600" cy="101346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244"/>
              </a:spcBef>
            </a:pP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─────────────────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00" b="1">
                <a:solidFill>
                  <a:srgbClr val="8AE244"/>
                </a:solidFill>
                <a:latin typeface="Courier New"/>
                <a:cs typeface="Courier New"/>
              </a:rPr>
              <a:t>1</a:t>
            </a:r>
            <a:r>
              <a:rPr dirty="0" sz="1500" spc="-5" b="1">
                <a:solidFill>
                  <a:srgbClr val="8AE244"/>
                </a:solidFill>
                <a:latin typeface="Courier New"/>
                <a:cs typeface="Courier New"/>
              </a:rPr>
              <a:t> 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→  discard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carry-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out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result: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ourier New"/>
                <a:cs typeface="Courier New"/>
              </a:rPr>
              <a:t>14</a:t>
            </a:r>
            <a:r>
              <a:rPr dirty="0" sz="1500" spc="-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OK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Two's</a:t>
            </a:r>
            <a:r>
              <a:rPr dirty="0" spc="175"/>
              <a:t> </a:t>
            </a:r>
            <a:r>
              <a:rPr dirty="0"/>
              <a:t>Complement,</a:t>
            </a:r>
            <a:r>
              <a:rPr dirty="0" spc="165"/>
              <a:t> </a:t>
            </a:r>
            <a:r>
              <a:rPr dirty="0" spc="-10"/>
              <a:t>Watched</a:t>
            </a:r>
          </a:p>
        </p:txBody>
      </p:sp>
      <p:pic>
        <p:nvPicPr>
          <p:cNvPr id="3" name="object 3" descr="a_twos_comp.gif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816" y="1240002"/>
            <a:ext cx="10364049" cy="444397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09108" y="5768716"/>
            <a:ext cx="3172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Invert,</a:t>
            </a:r>
            <a:r>
              <a:rPr dirty="0" sz="1200" spc="9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add</a:t>
            </a:r>
            <a:r>
              <a:rPr dirty="0" sz="1200" spc="14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one,</a:t>
            </a:r>
            <a:r>
              <a:rPr dirty="0" sz="1200" spc="11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add,</a:t>
            </a:r>
            <a:r>
              <a:rPr dirty="0" sz="1200" spc="14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and</a:t>
            </a:r>
            <a:r>
              <a:rPr dirty="0" sz="1200" spc="14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discard</a:t>
            </a:r>
            <a:r>
              <a:rPr dirty="0" sz="1200" spc="15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the</a:t>
            </a:r>
            <a:r>
              <a:rPr dirty="0" sz="1200" spc="11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ninth</a:t>
            </a:r>
            <a:r>
              <a:rPr dirty="0" sz="1200" spc="14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 spc="-20">
                <a:solidFill>
                  <a:srgbClr val="B89E87"/>
                </a:solidFill>
                <a:latin typeface="Cambria"/>
                <a:cs typeface="Cambria"/>
              </a:rPr>
              <a:t>bit.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17:39:55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line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land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CPU </a:t>
            </a:r>
            <a:r>
              <a:rPr dirty="0" sz="1000">
                <a:latin typeface="Microsoft Sans Serif"/>
                <a:cs typeface="Microsoft Sans Serif"/>
              </a:rPr>
              <a:t>has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subtractor.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has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one </a:t>
            </a:r>
            <a:r>
              <a:rPr dirty="0" sz="1000">
                <a:latin typeface="Microsoft Sans Serif"/>
                <a:cs typeface="Microsoft Sans Serif"/>
              </a:rPr>
              <a:t>adder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bit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inverter,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and </a:t>
            </a:r>
            <a:r>
              <a:rPr dirty="0" sz="1000">
                <a:latin typeface="Microsoft Sans Serif"/>
                <a:cs typeface="Microsoft Sans Serif"/>
              </a:rPr>
              <a:t>every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subtraction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every </a:t>
            </a:r>
            <a:r>
              <a:rPr dirty="0" sz="1000">
                <a:latin typeface="Microsoft Sans Serif"/>
                <a:cs typeface="Microsoft Sans Serif"/>
              </a:rPr>
              <a:t>program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you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have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ever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run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 </a:t>
            </a:r>
            <a:r>
              <a:rPr dirty="0" sz="1000">
                <a:latin typeface="Microsoft Sans Serif"/>
                <a:cs typeface="Microsoft Sans Serif"/>
              </a:rPr>
              <a:t>really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addition.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also </a:t>
            </a:r>
            <a:r>
              <a:rPr dirty="0" sz="1000">
                <a:latin typeface="Microsoft Sans Serif"/>
                <a:cs typeface="Microsoft Sans Serif"/>
              </a:rPr>
              <a:t>why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signed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overflow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wraps </a:t>
            </a:r>
            <a:r>
              <a:rPr dirty="0" sz="1000">
                <a:latin typeface="Microsoft Sans Serif"/>
                <a:cs typeface="Microsoft Sans Serif"/>
              </a:rPr>
              <a:t>silently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instead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of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raising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an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error,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which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where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whole </a:t>
            </a:r>
            <a:r>
              <a:rPr dirty="0" sz="1000">
                <a:latin typeface="Microsoft Sans Serif"/>
                <a:cs typeface="Microsoft Sans Serif"/>
              </a:rPr>
              <a:t>family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of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bugs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exploits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comes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from.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r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999" y="899999"/>
            <a:ext cx="9059999" cy="4719991"/>
          </a:xfrm>
          <a:prstGeom prst="rect">
            <a:avLst/>
          </a:prstGeom>
        </p:spPr>
      </p:pic>
      <p:pic>
        <p:nvPicPr>
          <p:cNvPr id="3" name="object 3" descr="talk-blue-circle-L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60000" y="3560000"/>
            <a:ext cx="2208284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38739" y="1424063"/>
            <a:ext cx="4248785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>
                <a:solidFill>
                  <a:srgbClr val="FFDD41"/>
                </a:solidFill>
              </a:rPr>
              <a:t>Signed</a:t>
            </a:r>
            <a:r>
              <a:rPr dirty="0" sz="2500" spc="200">
                <a:solidFill>
                  <a:srgbClr val="FFDD41"/>
                </a:solidFill>
              </a:rPr>
              <a:t> </a:t>
            </a:r>
            <a:r>
              <a:rPr dirty="0" sz="2500">
                <a:solidFill>
                  <a:srgbClr val="FFDD41"/>
                </a:solidFill>
              </a:rPr>
              <a:t>Numbers</a:t>
            </a:r>
            <a:r>
              <a:rPr dirty="0" sz="2500" spc="229">
                <a:solidFill>
                  <a:srgbClr val="FFDD41"/>
                </a:solidFill>
              </a:rPr>
              <a:t> </a:t>
            </a:r>
            <a:r>
              <a:rPr dirty="0" sz="2500">
                <a:solidFill>
                  <a:srgbClr val="FFDD41"/>
                </a:solidFill>
              </a:rPr>
              <a:t>and</a:t>
            </a:r>
            <a:r>
              <a:rPr dirty="0" sz="2500" spc="190">
                <a:solidFill>
                  <a:srgbClr val="FFDD41"/>
                </a:solidFill>
              </a:rPr>
              <a:t> </a:t>
            </a:r>
            <a:r>
              <a:rPr dirty="0" sz="2500" spc="-10">
                <a:solidFill>
                  <a:srgbClr val="FFDD41"/>
                </a:solidFill>
              </a:rPr>
              <a:t>Ranges</a:t>
            </a:r>
            <a:endParaRPr sz="2500"/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8843" y="2149303"/>
            <a:ext cx="7073900" cy="261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72110" marR="5080" indent="-360045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 spc="360">
                <a:solidFill>
                  <a:srgbClr val="FFDD41"/>
                </a:solidFill>
                <a:latin typeface="Microsoft Sans Serif"/>
                <a:cs typeface="Microsoft Sans Serif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With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n</a:t>
            </a:r>
            <a:r>
              <a:rPr dirty="0" sz="1500" spc="8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bits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unsigned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range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(2^n)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1,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signed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range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-(2^(n-</a:t>
            </a:r>
            <a:r>
              <a:rPr dirty="0" sz="1500" spc="-130" b="1">
                <a:solidFill>
                  <a:srgbClr val="FFFFFF"/>
                </a:solidFill>
                <a:latin typeface="Cambria"/>
                <a:cs typeface="Cambria"/>
              </a:rPr>
              <a:t>1))</a:t>
            </a:r>
            <a:r>
              <a:rPr dirty="0" sz="1500" spc="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5" b="1">
                <a:solidFill>
                  <a:srgbClr val="FFFFFF"/>
                </a:solidFill>
                <a:latin typeface="Cambria"/>
                <a:cs typeface="Cambria"/>
              </a:rPr>
              <a:t>+(2^(n-</a:t>
            </a:r>
            <a:r>
              <a:rPr dirty="0" sz="1500" spc="-130" b="1">
                <a:solidFill>
                  <a:srgbClr val="FFFFFF"/>
                </a:solidFill>
                <a:latin typeface="Cambria"/>
                <a:cs typeface="Cambria"/>
              </a:rPr>
              <a:t>1))</a:t>
            </a:r>
            <a:r>
              <a:rPr dirty="0" sz="1500" spc="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algn="just" marL="12700">
              <a:lnSpc>
                <a:spcPct val="100000"/>
              </a:lnSpc>
              <a:spcBef>
                <a:spcPts val="600"/>
              </a:spcBef>
            </a:pP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 spc="360">
                <a:solidFill>
                  <a:srgbClr val="FFDD41"/>
                </a:solidFill>
                <a:latin typeface="Microsoft Sans Serif"/>
                <a:cs typeface="Microsoft Sans Serif"/>
              </a:rPr>
              <a:t>  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One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byte: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unsigned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1500" spc="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85" b="1">
                <a:solidFill>
                  <a:srgbClr val="FFFFFF"/>
                </a:solidFill>
                <a:latin typeface="Cambria"/>
                <a:cs typeface="Cambria"/>
              </a:rPr>
              <a:t>255</a:t>
            </a:r>
            <a:r>
              <a:rPr dirty="0" sz="1500" spc="-85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signed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128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+127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algn="just" marL="372110" marR="6985" indent="-360045">
              <a:lnSpc>
                <a:spcPct val="100000"/>
              </a:lnSpc>
              <a:spcBef>
                <a:spcPts val="600"/>
              </a:spcBef>
            </a:pP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 spc="285">
                <a:solidFill>
                  <a:srgbClr val="FFDD41"/>
                </a:solidFill>
                <a:latin typeface="Microsoft Sans Serif"/>
                <a:cs typeface="Microsoft Sans Serif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32</a:t>
            </a:r>
            <a:r>
              <a:rPr dirty="0" sz="1500" spc="3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bits:</a:t>
            </a:r>
            <a:r>
              <a:rPr dirty="0" sz="1500" spc="3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unsigned</a:t>
            </a:r>
            <a:r>
              <a:rPr dirty="0" sz="1500" spc="3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1500" spc="3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3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4,294,967,295;</a:t>
            </a:r>
            <a:r>
              <a:rPr dirty="0" sz="1500" spc="3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this</a:t>
            </a:r>
            <a:r>
              <a:rPr dirty="0" sz="1500" spc="3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3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dirty="0" sz="1500" spc="3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60">
                <a:solidFill>
                  <a:srgbClr val="FFFFFF"/>
                </a:solidFill>
                <a:latin typeface="Cambria"/>
                <a:cs typeface="Cambria"/>
              </a:rPr>
              <a:t>32-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500" spc="3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counters</a:t>
            </a:r>
            <a:r>
              <a:rPr dirty="0" sz="1500" spc="3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3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65">
                <a:solidFill>
                  <a:srgbClr val="FFFFFF"/>
                </a:solidFill>
                <a:latin typeface="Cambria"/>
                <a:cs typeface="Cambria"/>
              </a:rPr>
              <a:t>32-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bit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timestamps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overflow.</a:t>
            </a:r>
            <a:endParaRPr sz="1500">
              <a:latin typeface="Cambria"/>
              <a:cs typeface="Cambria"/>
            </a:endParaRPr>
          </a:p>
          <a:p>
            <a:pPr algn="just" marL="372110" marR="5080" indent="-360045">
              <a:lnSpc>
                <a:spcPct val="100000"/>
              </a:lnSpc>
              <a:spcBef>
                <a:spcPts val="600"/>
              </a:spcBef>
            </a:pP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 spc="330">
                <a:solidFill>
                  <a:srgbClr val="FFDD41"/>
                </a:solidFill>
                <a:latin typeface="Microsoft Sans Serif"/>
                <a:cs typeface="Microsoft Sans Serif"/>
              </a:rPr>
              <a:t>  </a:t>
            </a:r>
            <a:r>
              <a:rPr dirty="0" sz="1500" spc="-10" b="1">
                <a:solidFill>
                  <a:srgbClr val="FFDD41"/>
                </a:solidFill>
                <a:latin typeface="Cambria"/>
                <a:cs typeface="Cambria"/>
              </a:rPr>
              <a:t>Forensic</a:t>
            </a:r>
            <a:r>
              <a:rPr dirty="0" sz="1500" spc="80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angle:</a:t>
            </a:r>
            <a:r>
              <a:rPr dirty="0" sz="1500" spc="80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same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stored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read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as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signed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unsigned;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tool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dirty="0" sz="1500" spc="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guesses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wrongly</a:t>
            </a:r>
            <a:r>
              <a:rPr dirty="0" sz="1500" spc="1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shows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impossible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values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(negative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file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sizes,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dates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before 1970).</a:t>
            </a:r>
            <a:endParaRPr sz="1500">
              <a:latin typeface="Cambria"/>
              <a:cs typeface="Cambria"/>
            </a:endParaRPr>
          </a:p>
          <a:p>
            <a:pPr algn="just" marL="372110" marR="6350" indent="-360045">
              <a:lnSpc>
                <a:spcPct val="100000"/>
              </a:lnSpc>
              <a:spcBef>
                <a:spcPts val="600"/>
              </a:spcBef>
            </a:pP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 spc="260">
                <a:solidFill>
                  <a:srgbClr val="FFDD41"/>
                </a:solidFill>
                <a:latin typeface="Microsoft Sans Serif"/>
                <a:cs typeface="Microsoft Sans Serif"/>
              </a:rPr>
              <a:t>  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Forensic</a:t>
            </a:r>
            <a:r>
              <a:rPr dirty="0" sz="1500" spc="155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angle:</a:t>
            </a:r>
            <a:r>
              <a:rPr dirty="0" sz="1500" spc="150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65">
                <a:solidFill>
                  <a:srgbClr val="FFFFFF"/>
                </a:solidFill>
                <a:latin typeface="Cambria"/>
                <a:cs typeface="Cambria"/>
              </a:rPr>
              <a:t>32-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500" spc="1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Unix</a:t>
            </a:r>
            <a:r>
              <a:rPr dirty="0" sz="1500" spc="1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time</a:t>
            </a:r>
            <a:r>
              <a:rPr dirty="0" sz="1500" spc="1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counter</a:t>
            </a:r>
            <a:r>
              <a:rPr dirty="0" sz="1500" spc="1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overflows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dirty="0" sz="1500" spc="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19</a:t>
            </a:r>
            <a:r>
              <a:rPr dirty="0" sz="1500" spc="1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January</a:t>
            </a:r>
            <a:r>
              <a:rPr dirty="0" sz="1500" spc="1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65" b="1">
                <a:solidFill>
                  <a:srgbClr val="FFFFFF"/>
                </a:solidFill>
                <a:latin typeface="Cambria"/>
                <a:cs typeface="Cambria"/>
              </a:rPr>
              <a:t>2038</a:t>
            </a:r>
            <a:r>
              <a:rPr dirty="0" sz="1500" spc="-65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1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Cambria"/>
                <a:cs typeface="Cambria"/>
              </a:rPr>
              <a:t>a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known</a:t>
            </a:r>
            <a:r>
              <a:rPr dirty="0" sz="1500" spc="1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interpretation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trap.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mag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720001"/>
            <a:ext cx="11429996" cy="4817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739" y="1082540"/>
            <a:ext cx="5751195" cy="42227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DD41"/>
                </a:solidFill>
              </a:rPr>
              <a:t>When</a:t>
            </a:r>
            <a:r>
              <a:rPr dirty="0" spc="105">
                <a:solidFill>
                  <a:srgbClr val="FFDD41"/>
                </a:solidFill>
              </a:rPr>
              <a:t> </a:t>
            </a:r>
            <a:r>
              <a:rPr dirty="0">
                <a:solidFill>
                  <a:srgbClr val="FFDD41"/>
                </a:solidFill>
              </a:rPr>
              <a:t>the</a:t>
            </a:r>
            <a:r>
              <a:rPr dirty="0" spc="105">
                <a:solidFill>
                  <a:srgbClr val="FFDD41"/>
                </a:solidFill>
              </a:rPr>
              <a:t> </a:t>
            </a:r>
            <a:r>
              <a:rPr dirty="0">
                <a:solidFill>
                  <a:srgbClr val="FFDD41"/>
                </a:solidFill>
              </a:rPr>
              <a:t>Number</a:t>
            </a:r>
            <a:r>
              <a:rPr dirty="0" spc="95">
                <a:solidFill>
                  <a:srgbClr val="FFDD41"/>
                </a:solidFill>
              </a:rPr>
              <a:t> </a:t>
            </a:r>
            <a:r>
              <a:rPr dirty="0">
                <a:solidFill>
                  <a:srgbClr val="FFDD41"/>
                </a:solidFill>
              </a:rPr>
              <a:t>Runs</a:t>
            </a:r>
            <a:r>
              <a:rPr dirty="0" spc="95">
                <a:solidFill>
                  <a:srgbClr val="FFDD41"/>
                </a:solidFill>
              </a:rPr>
              <a:t> Out </a:t>
            </a:r>
            <a:r>
              <a:rPr dirty="0" spc="55">
                <a:solidFill>
                  <a:srgbClr val="FFDD41"/>
                </a:solidFill>
              </a:rPr>
              <a:t>of</a:t>
            </a:r>
            <a:r>
              <a:rPr dirty="0" spc="130">
                <a:solidFill>
                  <a:srgbClr val="FFDD41"/>
                </a:solidFill>
              </a:rPr>
              <a:t> </a:t>
            </a:r>
            <a:r>
              <a:rPr dirty="0" spc="-20">
                <a:solidFill>
                  <a:srgbClr val="FFDD41"/>
                </a:solidFill>
              </a:rPr>
              <a:t>Room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843" y="1779304"/>
            <a:ext cx="10223500" cy="2921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 marR="8255" indent="-360045">
              <a:lnSpc>
                <a:spcPct val="100000"/>
              </a:lnSpc>
              <a:spcBef>
                <a:spcPts val="1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fixed-width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integer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has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more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room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at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top,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so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it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wraps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Add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largest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signed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Cambria"/>
                <a:cs typeface="Cambria"/>
              </a:rPr>
              <a:t>8-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value,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127,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you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get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dirty="0" sz="1500" spc="-85" b="1">
                <a:solidFill>
                  <a:srgbClr val="FFFFFF"/>
                </a:solidFill>
                <a:latin typeface="Cambria"/>
                <a:cs typeface="Cambria"/>
              </a:rPr>
              <a:t>128</a:t>
            </a:r>
            <a:r>
              <a:rPr dirty="0" sz="1500" spc="-85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No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error,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warning.</a:t>
            </a:r>
            <a:endParaRPr sz="1500">
              <a:latin typeface="Cambria"/>
              <a:cs typeface="Cambria"/>
            </a:endParaRPr>
          </a:p>
          <a:p>
            <a:pPr marL="372110" marR="6985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The</a:t>
            </a:r>
            <a:r>
              <a:rPr dirty="0" sz="1500" spc="120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 spc="-130" b="1">
                <a:solidFill>
                  <a:srgbClr val="FFDD41"/>
                </a:solidFill>
                <a:latin typeface="Cambria"/>
                <a:cs typeface="Cambria"/>
              </a:rPr>
              <a:t>2038</a:t>
            </a:r>
            <a:r>
              <a:rPr dirty="0" sz="1500" spc="125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DD41"/>
                </a:solidFill>
                <a:latin typeface="Cambria"/>
                <a:cs typeface="Cambria"/>
              </a:rPr>
              <a:t>problem:</a:t>
            </a:r>
            <a:r>
              <a:rPr dirty="0" sz="1500" spc="110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60">
                <a:solidFill>
                  <a:srgbClr val="FFFFFF"/>
                </a:solidFill>
                <a:latin typeface="Cambria"/>
                <a:cs typeface="Cambria"/>
              </a:rPr>
              <a:t>32-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signed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Unix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timestamp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counts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seconds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from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January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5">
                <a:solidFill>
                  <a:srgbClr val="FFFFFF"/>
                </a:solidFill>
                <a:latin typeface="Cambria"/>
                <a:cs typeface="Cambria"/>
              </a:rPr>
              <a:t>1970.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It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runs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out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at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10" b="1">
                <a:solidFill>
                  <a:srgbClr val="FFFFFF"/>
                </a:solidFill>
                <a:latin typeface="Cambria"/>
                <a:cs typeface="Cambria"/>
              </a:rPr>
              <a:t>03:14:07</a:t>
            </a:r>
            <a:r>
              <a:rPr dirty="0" sz="1500" spc="1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05" b="1">
                <a:solidFill>
                  <a:srgbClr val="FFFFFF"/>
                </a:solidFill>
                <a:latin typeface="Cambria"/>
                <a:cs typeface="Cambria"/>
              </a:rPr>
              <a:t>UTC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dirty="0" sz="1500" spc="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19</a:t>
            </a:r>
            <a:r>
              <a:rPr dirty="0" sz="1500" spc="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January</a:t>
            </a:r>
            <a:r>
              <a:rPr dirty="0" sz="1500" spc="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2038</a:t>
            </a:r>
            <a:r>
              <a:rPr dirty="0" sz="1500" spc="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wraps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December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1901.</a:t>
            </a:r>
            <a:endParaRPr sz="1500">
              <a:latin typeface="Cambria"/>
              <a:cs typeface="Cambria"/>
            </a:endParaRPr>
          </a:p>
          <a:p>
            <a:pPr marL="372110" marR="6985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This</a:t>
            </a:r>
            <a:r>
              <a:rPr dirty="0" sz="1500" spc="2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2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not</a:t>
            </a:r>
            <a:r>
              <a:rPr dirty="0" sz="15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hypothetical</a:t>
            </a:r>
            <a:r>
              <a:rPr dirty="0" sz="1500" spc="2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dirty="0" sz="1500" spc="2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us:</a:t>
            </a:r>
            <a:r>
              <a:rPr dirty="0" sz="1500" spc="2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embedded</a:t>
            </a:r>
            <a:r>
              <a:rPr dirty="0" sz="1500" spc="2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devices,</a:t>
            </a:r>
            <a:r>
              <a:rPr dirty="0" sz="1500" spc="2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routers,</a:t>
            </a:r>
            <a:r>
              <a:rPr dirty="0" sz="1500" spc="2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cameras,</a:t>
            </a:r>
            <a:r>
              <a:rPr dirty="0" sz="1500" spc="2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older</a:t>
            </a:r>
            <a:r>
              <a:rPr dirty="0" sz="1500" spc="2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filesystems</a:t>
            </a:r>
            <a:r>
              <a:rPr dirty="0" sz="1500" spc="2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2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long-lived</a:t>
            </a:r>
            <a:r>
              <a:rPr dirty="0" sz="1500" spc="2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logs</a:t>
            </a:r>
            <a:r>
              <a:rPr dirty="0" sz="1500" spc="2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still</a:t>
            </a:r>
            <a:r>
              <a:rPr dirty="0" sz="1500" spc="2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use </a:t>
            </a:r>
            <a:r>
              <a:rPr dirty="0" sz="1500" spc="-60">
                <a:solidFill>
                  <a:srgbClr val="FFFFFF"/>
                </a:solidFill>
                <a:latin typeface="Cambria"/>
                <a:cs typeface="Cambria"/>
              </a:rPr>
              <a:t>32-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time.</a:t>
            </a:r>
            <a:endParaRPr sz="1500">
              <a:latin typeface="Cambria"/>
              <a:cs typeface="Cambria"/>
            </a:endParaRPr>
          </a:p>
          <a:p>
            <a:pPr marL="372110" marR="8890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The</a:t>
            </a:r>
            <a:r>
              <a:rPr dirty="0" sz="1500" spc="145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forensic</a:t>
            </a:r>
            <a:r>
              <a:rPr dirty="0" sz="1500" spc="135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tell:</a:t>
            </a:r>
            <a:r>
              <a:rPr dirty="0" sz="1500" spc="120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timestamp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1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5" b="1">
                <a:solidFill>
                  <a:srgbClr val="FFFFFF"/>
                </a:solidFill>
                <a:latin typeface="Cambria"/>
                <a:cs typeface="Cambria"/>
              </a:rPr>
              <a:t>1901</a:t>
            </a:r>
            <a:r>
              <a:rPr dirty="0" sz="1500" spc="-75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5" b="1">
                <a:solidFill>
                  <a:srgbClr val="FFFFFF"/>
                </a:solidFill>
                <a:latin typeface="Cambria"/>
                <a:cs typeface="Cambria"/>
              </a:rPr>
              <a:t>1970</a:t>
            </a:r>
            <a:r>
              <a:rPr dirty="0" sz="1500" spc="-75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wildly</a:t>
            </a:r>
            <a:r>
              <a:rPr dirty="0" sz="15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future</a:t>
            </a:r>
            <a:r>
              <a:rPr dirty="0" sz="15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date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1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usually</a:t>
            </a:r>
            <a:r>
              <a:rPr dirty="0" sz="15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not</a:t>
            </a:r>
            <a:r>
              <a:rPr dirty="0" sz="15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suspect</a:t>
            </a:r>
            <a:r>
              <a:rPr dirty="0" sz="1500" spc="1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covering</a:t>
            </a:r>
            <a:r>
              <a:rPr dirty="0" sz="15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tracks.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It</a:t>
            </a:r>
            <a:r>
              <a:rPr dirty="0" sz="15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is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integer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overflowed,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zero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value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rendered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through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epoch.</a:t>
            </a:r>
            <a:endParaRPr sz="1500">
              <a:latin typeface="Cambria"/>
              <a:cs typeface="Cambria"/>
            </a:endParaRPr>
          </a:p>
          <a:p>
            <a:pPr marL="372110" marR="5080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FAT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stores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year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dirty="0" sz="1500" spc="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bits</a:t>
            </a:r>
            <a:r>
              <a:rPr dirty="0" sz="1500" spc="8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offset</a:t>
            </a:r>
            <a:r>
              <a:rPr dirty="0" sz="1500" spc="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from</a:t>
            </a:r>
            <a:r>
              <a:rPr dirty="0" sz="1500" spc="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90" b="1">
                <a:solidFill>
                  <a:srgbClr val="FFFFFF"/>
                </a:solidFill>
                <a:latin typeface="Cambria"/>
                <a:cs typeface="Cambria"/>
              </a:rPr>
              <a:t>1980</a:t>
            </a:r>
            <a:r>
              <a:rPr dirty="0" sz="1500" spc="-9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so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its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range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ends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90" b="1">
                <a:solidFill>
                  <a:srgbClr val="FFFFFF"/>
                </a:solidFill>
                <a:latin typeface="Cambria"/>
                <a:cs typeface="Cambria"/>
              </a:rPr>
              <a:t>2107</a:t>
            </a:r>
            <a:r>
              <a:rPr dirty="0" sz="1500" spc="-9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NTFS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registry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use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60">
                <a:solidFill>
                  <a:srgbClr val="FFFFFF"/>
                </a:solidFill>
                <a:latin typeface="Cambria"/>
                <a:cs typeface="Cambria"/>
              </a:rPr>
              <a:t>64-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FILETIME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safe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very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long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time.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The</a:t>
            </a:r>
            <a:r>
              <a:rPr dirty="0" sz="1500" spc="105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DD41"/>
                </a:solidFill>
                <a:latin typeface="Cambria"/>
                <a:cs typeface="Cambria"/>
              </a:rPr>
              <a:t>rule:</a:t>
            </a:r>
            <a:r>
              <a:rPr dirty="0" sz="1500" spc="100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before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you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accuse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anyone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timestomping,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check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whether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number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simply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ran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out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room.</a:t>
            </a:r>
            <a:endParaRPr sz="1500">
              <a:latin typeface="Cambria"/>
              <a:cs typeface="Cambria"/>
            </a:endParaRPr>
          </a:p>
        </p:txBody>
      </p:sp>
      <p:pic>
        <p:nvPicPr>
          <p:cNvPr id="5" name="object 5" descr="imag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36312" y="5759999"/>
            <a:ext cx="447458" cy="919997"/>
          </a:xfrm>
          <a:prstGeom prst="rect">
            <a:avLst/>
          </a:prstGeom>
        </p:spPr>
      </p:pic>
      <p:pic>
        <p:nvPicPr>
          <p:cNvPr id="6" name="object 6" descr="image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78770" y="5759999"/>
            <a:ext cx="533660" cy="919997"/>
          </a:xfrm>
          <a:prstGeom prst="rect">
            <a:avLst/>
          </a:prstGeom>
        </p:spPr>
      </p:pic>
      <p:pic>
        <p:nvPicPr>
          <p:cNvPr id="7" name="object 7" descr="image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07431" y="5759999"/>
            <a:ext cx="747949" cy="91999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17:39:57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This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slide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converts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abstract </a:t>
            </a:r>
            <a:r>
              <a:rPr dirty="0" sz="1000">
                <a:latin typeface="Microsoft Sans Serif"/>
                <a:cs typeface="Microsoft Sans Serif"/>
              </a:rPr>
              <a:t>arithmetic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point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into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practical </a:t>
            </a:r>
            <a:r>
              <a:rPr dirty="0" sz="1000">
                <a:latin typeface="Microsoft Sans Serif"/>
                <a:cs typeface="Microsoft Sans Serif"/>
              </a:rPr>
              <a:t>one.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Students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who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have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seen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 </a:t>
            </a:r>
            <a:r>
              <a:rPr dirty="0" sz="1000">
                <a:latin typeface="Microsoft Sans Serif"/>
                <a:cs typeface="Microsoft Sans Serif"/>
              </a:rPr>
              <a:t>1970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timestamp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usually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assume </a:t>
            </a:r>
            <a:r>
              <a:rPr dirty="0" sz="1000">
                <a:latin typeface="Microsoft Sans Serif"/>
                <a:cs typeface="Microsoft Sans Serif"/>
              </a:rPr>
              <a:t>corruption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or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tampering.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Teach </a:t>
            </a:r>
            <a:r>
              <a:rPr dirty="0" sz="1000">
                <a:latin typeface="Microsoft Sans Serif"/>
                <a:cs typeface="Microsoft Sans Serif"/>
              </a:rPr>
              <a:t>them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ask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first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whether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field </a:t>
            </a:r>
            <a:r>
              <a:rPr dirty="0" sz="1000">
                <a:latin typeface="Microsoft Sans Serif"/>
                <a:cs typeface="Microsoft Sans Serif"/>
              </a:rPr>
              <a:t>was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zero,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or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whether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width </a:t>
            </a:r>
            <a:r>
              <a:rPr dirty="0" sz="1000">
                <a:latin typeface="Microsoft Sans Serif"/>
                <a:cs typeface="Microsoft Sans Serif"/>
              </a:rPr>
              <a:t>overflowed.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most </a:t>
            </a:r>
            <a:r>
              <a:rPr dirty="0" sz="1000">
                <a:latin typeface="Microsoft Sans Serif"/>
                <a:cs typeface="Microsoft Sans Serif"/>
              </a:rPr>
              <a:t>common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false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positive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timeline work.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Binary</a:t>
            </a:r>
            <a:r>
              <a:rPr dirty="0" spc="-80"/>
              <a:t> </a:t>
            </a:r>
            <a:r>
              <a:rPr dirty="0" spc="-10"/>
              <a:t>Multiplication</a:t>
            </a:r>
          </a:p>
        </p:txBody>
      </p:sp>
      <p:pic>
        <p:nvPicPr>
          <p:cNvPr id="3" name="object 3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7340" y="1503875"/>
            <a:ext cx="139763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rules: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0×0=0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71840" y="1503875"/>
            <a:ext cx="59753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0×1=0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86240" y="1503875"/>
            <a:ext cx="59753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1×0=0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0640" y="1503875"/>
            <a:ext cx="59753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1×1=1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5040" y="1503875"/>
            <a:ext cx="27686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(no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carries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in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rule)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29040" y="1979363"/>
            <a:ext cx="368935" cy="51943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Courier New"/>
                <a:cs typeface="Courier New"/>
              </a:rPr>
              <a:t>5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Courier New"/>
                <a:cs typeface="Courier New"/>
              </a:rPr>
              <a:t>6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29040" y="2738315"/>
            <a:ext cx="34544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partial</a:t>
            </a:r>
            <a:r>
              <a:rPr dirty="0" sz="1500" spc="-5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products,</a:t>
            </a:r>
            <a:r>
              <a:rPr dirty="0" sz="1500" spc="-4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shifted</a:t>
            </a:r>
            <a:r>
              <a:rPr dirty="0" sz="150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left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5940" y="1979363"/>
            <a:ext cx="1054735" cy="2000885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44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endParaRPr sz="150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14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×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50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145"/>
              </a:spcBef>
            </a:pP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───────</a:t>
            </a:r>
            <a:endParaRPr sz="150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145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5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145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─────────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500" b="1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00" spc="-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00" spc="-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00" spc="-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00" spc="-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50" b="1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00440" y="3725867"/>
            <a:ext cx="8255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30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35">
                <a:solidFill>
                  <a:srgbClr val="FFFFFF"/>
                </a:solidFill>
                <a:latin typeface="Courier New"/>
                <a:cs typeface="Courier New"/>
              </a:rPr>
              <a:t>OK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7340" y="4219643"/>
            <a:ext cx="68834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multiply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by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or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only,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then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one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binary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addition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at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end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Binary</a:t>
            </a:r>
            <a:r>
              <a:rPr dirty="0" spc="-80"/>
              <a:t> </a:t>
            </a:r>
            <a:r>
              <a:rPr dirty="0" spc="45"/>
              <a:t>Division</a:t>
            </a:r>
          </a:p>
        </p:txBody>
      </p:sp>
      <p:pic>
        <p:nvPicPr>
          <p:cNvPr id="3" name="object 3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42100" y="1503875"/>
            <a:ext cx="22599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compute</a:t>
            </a:r>
            <a:r>
              <a:rPr dirty="0" sz="1400" spc="-30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101010</a:t>
            </a:r>
            <a:r>
              <a:rPr dirty="0" sz="14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÷</a:t>
            </a:r>
            <a:r>
              <a:rPr dirty="0" sz="1400" spc="-25">
                <a:solidFill>
                  <a:srgbClr val="FFFFFF"/>
                </a:solidFill>
                <a:latin typeface="Courier New"/>
                <a:cs typeface="Courier New"/>
              </a:rPr>
              <a:t> 110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94650" y="1503875"/>
            <a:ext cx="98425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(42</a:t>
            </a:r>
            <a:r>
              <a:rPr dirty="0" sz="14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÷</a:t>
            </a: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ourier New"/>
                <a:cs typeface="Courier New"/>
              </a:rPr>
              <a:t>6):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01927" y="1503875"/>
            <a:ext cx="204851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quotient:</a:t>
            </a:r>
            <a:r>
              <a:rPr dirty="0" sz="14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4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4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4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Courier New"/>
                <a:cs typeface="Courier New"/>
              </a:rPr>
              <a:t>7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42100" y="1949467"/>
            <a:ext cx="1834514" cy="71628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650875">
              <a:lnSpc>
                <a:spcPct val="100000"/>
              </a:lnSpc>
              <a:spcBef>
                <a:spcPts val="229"/>
              </a:spcBef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4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4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endParaRPr sz="1400">
              <a:latin typeface="Courier New"/>
              <a:cs typeface="Courier New"/>
            </a:endParaRPr>
          </a:p>
          <a:p>
            <a:pPr marL="438784">
              <a:lnSpc>
                <a:spcPct val="100000"/>
              </a:lnSpc>
              <a:spcBef>
                <a:spcPts val="135"/>
              </a:spcBef>
            </a:pP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─────────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110</a:t>
            </a: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)</a:t>
            </a:r>
            <a:r>
              <a:rPr dirty="0" sz="14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4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4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4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4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4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87576" y="2656280"/>
            <a:ext cx="193928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110</a:t>
            </a:r>
            <a:r>
              <a:rPr dirty="0" sz="140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fits</a:t>
            </a:r>
            <a:r>
              <a:rPr dirty="0" sz="14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into</a:t>
            </a:r>
            <a:r>
              <a:rPr dirty="0" sz="14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Courier New"/>
                <a:cs typeface="Courier New"/>
              </a:rPr>
              <a:t>1010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68791" y="2638627"/>
            <a:ext cx="1195070" cy="71945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437515" algn="l"/>
              </a:tabLst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-	1</a:t>
            </a:r>
            <a:r>
              <a:rPr dirty="0" sz="14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4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40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145"/>
              </a:spcBef>
            </a:pP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─────────</a:t>
            </a:r>
            <a:endParaRPr sz="140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4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4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4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87576" y="3118097"/>
            <a:ext cx="24720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bring</a:t>
            </a:r>
            <a:r>
              <a:rPr dirty="0" sz="1400" spc="-4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down</a:t>
            </a:r>
            <a:r>
              <a:rPr dirty="0" sz="140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dirty="0" sz="140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next</a:t>
            </a:r>
            <a:r>
              <a:rPr dirty="0" sz="1400" spc="-25">
                <a:solidFill>
                  <a:srgbClr val="FFFFFF"/>
                </a:solidFill>
                <a:latin typeface="Courier New"/>
                <a:cs typeface="Courier New"/>
              </a:rPr>
              <a:t> bit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80621" y="3332067"/>
            <a:ext cx="982980" cy="71628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29"/>
              </a:spcBef>
              <a:tabLst>
                <a:tab pos="424815" algn="l"/>
              </a:tabLst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-	1</a:t>
            </a:r>
            <a:r>
              <a:rPr dirty="0" sz="14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4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40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135"/>
              </a:spcBef>
            </a:pP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───────</a:t>
            </a:r>
            <a:endParaRPr sz="140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130"/>
              </a:spcBef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4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4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87612" y="3808684"/>
            <a:ext cx="24720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bring</a:t>
            </a:r>
            <a:r>
              <a:rPr dirty="0" sz="1400" spc="-4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down</a:t>
            </a:r>
            <a:r>
              <a:rPr dirty="0" sz="140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dirty="0" sz="1400" spc="-4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last</a:t>
            </a:r>
            <a:r>
              <a:rPr dirty="0" sz="1400" spc="-25">
                <a:solidFill>
                  <a:srgbClr val="FFFFFF"/>
                </a:solidFill>
                <a:latin typeface="Courier New"/>
                <a:cs typeface="Courier New"/>
              </a:rPr>
              <a:t> bit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94055" y="4024080"/>
            <a:ext cx="876300" cy="71628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dirty="0" sz="1400" spc="-15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4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4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──────</a:t>
            </a:r>
            <a:endParaRPr sz="1400">
              <a:latin typeface="Courier New"/>
              <a:cs typeface="Courier New"/>
            </a:endParaRPr>
          </a:p>
          <a:p>
            <a:pPr algn="ctr" marL="316865">
              <a:lnSpc>
                <a:spcPct val="100000"/>
              </a:lnSpc>
              <a:spcBef>
                <a:spcPts val="130"/>
              </a:spcBef>
            </a:pPr>
            <a:r>
              <a:rPr dirty="0" sz="1400" spc="-50" b="1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82927" y="4500698"/>
            <a:ext cx="42792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remainder</a:t>
            </a:r>
            <a:r>
              <a:rPr dirty="0" sz="14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0,</a:t>
            </a:r>
            <a:r>
              <a:rPr dirty="0" sz="14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so</a:t>
            </a:r>
            <a:r>
              <a:rPr dirty="0" sz="14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42</a:t>
            </a:r>
            <a:r>
              <a:rPr dirty="0" sz="14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÷</a:t>
            </a: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6</a:t>
            </a:r>
            <a:r>
              <a:rPr dirty="0" sz="14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urier New"/>
                <a:cs typeface="Courier New"/>
              </a:rPr>
              <a:t>111</a:t>
            </a:r>
            <a:r>
              <a:rPr dirty="0" sz="14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b="1">
                <a:solidFill>
                  <a:srgbClr val="FFFFFF"/>
                </a:solidFill>
                <a:latin typeface="Courier New"/>
                <a:cs typeface="Courier New"/>
              </a:rPr>
              <a:t>(7)</a:t>
            </a:r>
            <a:r>
              <a:rPr dirty="0" sz="14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ourier New"/>
                <a:cs typeface="Courier New"/>
              </a:rPr>
              <a:t>exactly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0001" y="899999"/>
            <a:ext cx="9059989" cy="4719991"/>
          </a:xfrm>
          <a:prstGeom prst="rect">
            <a:avLst/>
          </a:prstGeom>
        </p:spPr>
      </p:pic>
      <p:pic>
        <p:nvPicPr>
          <p:cNvPr id="3" name="object 3" descr="talk-coral-tri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000" y="3560000"/>
            <a:ext cx="2195029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158739" y="1424063"/>
            <a:ext cx="3743325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>
                <a:solidFill>
                  <a:srgbClr val="FFDD41"/>
                </a:solidFill>
              </a:rPr>
              <a:t>Task</a:t>
            </a:r>
            <a:r>
              <a:rPr dirty="0" sz="2500" spc="-30">
                <a:solidFill>
                  <a:srgbClr val="FFDD41"/>
                </a:solidFill>
              </a:rPr>
              <a:t> </a:t>
            </a:r>
            <a:r>
              <a:rPr dirty="0" sz="2500" spc="-100">
                <a:solidFill>
                  <a:srgbClr val="FFDD41"/>
                </a:solidFill>
              </a:rPr>
              <a:t>2:</a:t>
            </a:r>
            <a:r>
              <a:rPr dirty="0" sz="2500" spc="-35">
                <a:solidFill>
                  <a:srgbClr val="FFDD41"/>
                </a:solidFill>
              </a:rPr>
              <a:t> </a:t>
            </a:r>
            <a:r>
              <a:rPr dirty="0" sz="2500">
                <a:solidFill>
                  <a:srgbClr val="FFDD41"/>
                </a:solidFill>
              </a:rPr>
              <a:t>Binary</a:t>
            </a:r>
            <a:r>
              <a:rPr dirty="0" sz="2500" spc="-35">
                <a:solidFill>
                  <a:srgbClr val="FFDD41"/>
                </a:solidFill>
              </a:rPr>
              <a:t> </a:t>
            </a:r>
            <a:r>
              <a:rPr dirty="0" sz="2500" spc="-10">
                <a:solidFill>
                  <a:srgbClr val="FFDD41"/>
                </a:solidFill>
              </a:rPr>
              <a:t>Arithmetic</a:t>
            </a:r>
            <a:endParaRPr sz="2500"/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28843" y="2074627"/>
            <a:ext cx="6371590" cy="154813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Add: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0">
                <a:solidFill>
                  <a:srgbClr val="FFFFFF"/>
                </a:solidFill>
                <a:latin typeface="Cambria"/>
                <a:cs typeface="Cambria"/>
              </a:rPr>
              <a:t>(1011)</a:t>
            </a:r>
            <a:r>
              <a:rPr dirty="0" sz="1500" spc="-70">
                <a:solidFill>
                  <a:srgbClr val="FFFFFF"/>
                </a:solidFill>
                <a:latin typeface="Cambria Math"/>
                <a:cs typeface="Cambria Math"/>
              </a:rPr>
              <a:t>₂</a:t>
            </a:r>
            <a:r>
              <a:rPr dirty="0" sz="1500" spc="2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+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(1101)</a:t>
            </a:r>
            <a:r>
              <a:rPr dirty="0" sz="1500" spc="-10">
                <a:solidFill>
                  <a:srgbClr val="FFFFFF"/>
                </a:solidFill>
                <a:latin typeface="Cambria Math"/>
                <a:cs typeface="Cambria Math"/>
              </a:rPr>
              <a:t>₂</a:t>
            </a:r>
            <a:endParaRPr sz="15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Subtract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using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2's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complement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method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5">
                <a:solidFill>
                  <a:srgbClr val="FFFFFF"/>
                </a:solidFill>
                <a:latin typeface="Cambria"/>
                <a:cs typeface="Cambria"/>
              </a:rPr>
              <a:t>(8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bits):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5">
                <a:solidFill>
                  <a:srgbClr val="FFFFFF"/>
                </a:solidFill>
                <a:latin typeface="Cambria"/>
                <a:cs typeface="Cambria"/>
              </a:rPr>
              <a:t>(21)</a:t>
            </a:r>
            <a:r>
              <a:rPr dirty="0" sz="1500" spc="-45">
                <a:solidFill>
                  <a:srgbClr val="FFFFFF"/>
                </a:solidFill>
                <a:latin typeface="Cambria Math"/>
                <a:cs typeface="Cambria Math"/>
              </a:rPr>
              <a:t>₁₀</a:t>
            </a:r>
            <a:r>
              <a:rPr dirty="0" sz="1500" spc="5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(13)</a:t>
            </a:r>
            <a:r>
              <a:rPr dirty="0" sz="1500" spc="-10">
                <a:solidFill>
                  <a:srgbClr val="FFFFFF"/>
                </a:solidFill>
                <a:latin typeface="Cambria Math"/>
                <a:cs typeface="Cambria Math"/>
              </a:rPr>
              <a:t>₁₀</a:t>
            </a:r>
            <a:endParaRPr sz="15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Multiply:</a:t>
            </a:r>
            <a:r>
              <a:rPr dirty="0" sz="1500" spc="1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0">
                <a:solidFill>
                  <a:srgbClr val="FFFFFF"/>
                </a:solidFill>
                <a:latin typeface="Cambria"/>
                <a:cs typeface="Cambria"/>
              </a:rPr>
              <a:t>(110)</a:t>
            </a:r>
            <a:r>
              <a:rPr dirty="0" sz="1500" spc="-70">
                <a:solidFill>
                  <a:srgbClr val="FFFFFF"/>
                </a:solidFill>
                <a:latin typeface="Cambria Math"/>
                <a:cs typeface="Cambria Math"/>
              </a:rPr>
              <a:t>₂</a:t>
            </a:r>
            <a:r>
              <a:rPr dirty="0" sz="1500" spc="15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×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(101)</a:t>
            </a:r>
            <a:r>
              <a:rPr dirty="0" sz="1500" spc="-10">
                <a:solidFill>
                  <a:srgbClr val="FFFFFF"/>
                </a:solidFill>
                <a:latin typeface="Cambria Math"/>
                <a:cs typeface="Cambria Math"/>
              </a:rPr>
              <a:t>₂</a:t>
            </a:r>
            <a:endParaRPr sz="15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Write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1's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complement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2's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complement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5">
                <a:solidFill>
                  <a:srgbClr val="FFFFFF"/>
                </a:solidFill>
                <a:latin typeface="Cambria"/>
                <a:cs typeface="Cambria"/>
              </a:rPr>
              <a:t>0101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0110.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F4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appears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signed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field.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decimal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value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does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it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hold?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17:40:00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About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8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minutes.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Question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5 </a:t>
            </a:r>
            <a:r>
              <a:rPr dirty="0" sz="1000">
                <a:latin typeface="Microsoft Sans Serif"/>
                <a:cs typeface="Microsoft Sans Serif"/>
              </a:rPr>
              <a:t>connects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back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F4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=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r>
              <a:rPr dirty="0" sz="1000" spc="-25">
                <a:latin typeface="Microsoft Sans Serif"/>
                <a:cs typeface="Microsoft Sans Serif"/>
              </a:rPr>
              <a:t>12 </a:t>
            </a:r>
            <a:r>
              <a:rPr dirty="0" sz="1000">
                <a:latin typeface="Microsoft Sans Serif"/>
                <a:cs typeface="Microsoft Sans Serif"/>
              </a:rPr>
              <a:t>example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from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2s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complement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slide.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Task</a:t>
            </a:r>
            <a:r>
              <a:rPr dirty="0" spc="-10"/>
              <a:t> </a:t>
            </a:r>
            <a:r>
              <a:rPr dirty="0" spc="-100"/>
              <a:t>2:</a:t>
            </a:r>
            <a:r>
              <a:rPr dirty="0" spc="5"/>
              <a:t> </a:t>
            </a:r>
            <a:r>
              <a:rPr dirty="0" spc="-10"/>
              <a:t>Answers</a:t>
            </a:r>
          </a:p>
        </p:txBody>
      </p:sp>
      <p:pic>
        <p:nvPicPr>
          <p:cNvPr id="3" name="object 3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1244" y="1503875"/>
            <a:ext cx="7137400" cy="2395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7834" indent="-445134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457834" algn="l"/>
                <a:tab pos="3903345" algn="l"/>
              </a:tabLst>
            </a:pP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1011</a:t>
            </a:r>
            <a:r>
              <a:rPr dirty="0" sz="14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+</a:t>
            </a:r>
            <a:r>
              <a:rPr dirty="0" sz="14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1101</a:t>
            </a:r>
            <a:r>
              <a:rPr dirty="0" sz="14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ourier New"/>
                <a:cs typeface="Courier New"/>
              </a:rPr>
              <a:t>11000</a:t>
            </a:r>
            <a:r>
              <a:rPr dirty="0" sz="1450" b="1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(11</a:t>
            </a:r>
            <a:r>
              <a:rPr dirty="0" sz="145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+</a:t>
            </a:r>
            <a:r>
              <a:rPr dirty="0" sz="14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13</a:t>
            </a:r>
            <a:r>
              <a:rPr dirty="0" sz="145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24</a:t>
            </a:r>
            <a:r>
              <a:rPr dirty="0" sz="145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OK)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75"/>
              </a:spcBef>
              <a:buClr>
                <a:srgbClr val="FFFFFF"/>
              </a:buClr>
              <a:buFont typeface="Courier New"/>
              <a:buAutoNum type="arabicParenR"/>
            </a:pPr>
            <a:endParaRPr sz="1450">
              <a:latin typeface="Courier New"/>
              <a:cs typeface="Courier New"/>
            </a:endParaRPr>
          </a:p>
          <a:p>
            <a:pPr marL="457834" indent="-445134">
              <a:lnSpc>
                <a:spcPct val="100000"/>
              </a:lnSpc>
              <a:buAutoNum type="arabicParenR"/>
              <a:tabLst>
                <a:tab pos="457834" algn="l"/>
              </a:tabLst>
            </a:pP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21</a:t>
            </a:r>
            <a:r>
              <a:rPr dirty="0" sz="14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00010101,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13</a:t>
            </a:r>
            <a:r>
              <a:rPr dirty="0" sz="14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00001101,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2's</a:t>
            </a:r>
            <a:r>
              <a:rPr dirty="0" sz="14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comp(13)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Courier New"/>
                <a:cs typeface="Courier New"/>
              </a:rPr>
              <a:t>11110011</a:t>
            </a:r>
            <a:endParaRPr sz="1450">
              <a:latin typeface="Courier New"/>
              <a:cs typeface="Courier New"/>
            </a:endParaRPr>
          </a:p>
          <a:p>
            <a:pPr marL="457200">
              <a:lnSpc>
                <a:spcPct val="100000"/>
              </a:lnSpc>
              <a:spcBef>
                <a:spcPts val="145"/>
              </a:spcBef>
            </a:pP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00010101</a:t>
            </a:r>
            <a:r>
              <a:rPr dirty="0" sz="1450" spc="-4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+</a:t>
            </a:r>
            <a:r>
              <a:rPr dirty="0" sz="14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11110011</a:t>
            </a:r>
            <a:r>
              <a:rPr dirty="0" sz="14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b="1">
                <a:solidFill>
                  <a:srgbClr val="8AE244"/>
                </a:solidFill>
                <a:latin typeface="Courier New"/>
                <a:cs typeface="Courier New"/>
              </a:rPr>
              <a:t>1</a:t>
            </a:r>
            <a:r>
              <a:rPr dirty="0" sz="1450" spc="-25" b="1">
                <a:solidFill>
                  <a:srgbClr val="8AE244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00001000</a:t>
            </a:r>
            <a:r>
              <a:rPr dirty="0" sz="145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→</a:t>
            </a:r>
            <a:r>
              <a:rPr dirty="0" sz="14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drop</a:t>
            </a:r>
            <a:r>
              <a:rPr dirty="0" sz="14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carry</a:t>
            </a:r>
            <a:r>
              <a:rPr dirty="0" sz="14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→</a:t>
            </a:r>
            <a:r>
              <a:rPr dirty="0" sz="14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ourier New"/>
                <a:cs typeface="Courier New"/>
              </a:rPr>
              <a:t>00001000</a:t>
            </a:r>
            <a:r>
              <a:rPr dirty="0" sz="1450" spc="-3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-3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spc="-50" b="1">
                <a:solidFill>
                  <a:srgbClr val="FFFFFF"/>
                </a:solidFill>
                <a:latin typeface="Courier New"/>
                <a:cs typeface="Courier New"/>
              </a:rPr>
              <a:t>8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450">
              <a:latin typeface="Courier New"/>
              <a:cs typeface="Courier New"/>
            </a:endParaRPr>
          </a:p>
          <a:p>
            <a:pPr marL="457834" indent="-445134">
              <a:lnSpc>
                <a:spcPct val="100000"/>
              </a:lnSpc>
              <a:spcBef>
                <a:spcPts val="5"/>
              </a:spcBef>
              <a:buAutoNum type="arabicParenR" startAt="3"/>
              <a:tabLst>
                <a:tab pos="457834" algn="l"/>
                <a:tab pos="3903345" algn="l"/>
              </a:tabLst>
            </a:pP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110</a:t>
            </a:r>
            <a:r>
              <a:rPr dirty="0" sz="145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×</a:t>
            </a:r>
            <a:r>
              <a:rPr dirty="0" sz="145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101</a:t>
            </a:r>
            <a:r>
              <a:rPr dirty="0" sz="145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ourier New"/>
                <a:cs typeface="Courier New"/>
              </a:rPr>
              <a:t>11110</a:t>
            </a:r>
            <a:r>
              <a:rPr dirty="0" sz="1450" b="1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(6</a:t>
            </a:r>
            <a:r>
              <a:rPr dirty="0" sz="145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×</a:t>
            </a:r>
            <a:r>
              <a:rPr dirty="0" sz="145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5</a:t>
            </a:r>
            <a:r>
              <a:rPr dirty="0" sz="145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30</a:t>
            </a:r>
            <a:r>
              <a:rPr dirty="0" sz="145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OK)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70"/>
              </a:spcBef>
              <a:buClr>
                <a:srgbClr val="FFFFFF"/>
              </a:buClr>
              <a:buFont typeface="Courier New"/>
              <a:buAutoNum type="arabicParenR" startAt="3"/>
            </a:pPr>
            <a:endParaRPr sz="1450">
              <a:latin typeface="Courier New"/>
              <a:cs typeface="Courier New"/>
            </a:endParaRPr>
          </a:p>
          <a:p>
            <a:pPr marL="457834" indent="-445134">
              <a:lnSpc>
                <a:spcPct val="100000"/>
              </a:lnSpc>
              <a:buAutoNum type="arabicParenR" startAt="3"/>
              <a:tabLst>
                <a:tab pos="457834" algn="l"/>
              </a:tabLst>
            </a:pP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0101</a:t>
            </a:r>
            <a:r>
              <a:rPr dirty="0" sz="14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0110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→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1's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comp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ourier New"/>
                <a:cs typeface="Courier New"/>
              </a:rPr>
              <a:t>1010</a:t>
            </a:r>
            <a:r>
              <a:rPr dirty="0" sz="145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ourier New"/>
                <a:cs typeface="Courier New"/>
              </a:rPr>
              <a:t>1001</a:t>
            </a:r>
            <a:r>
              <a:rPr dirty="0" sz="1450" spc="-1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→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2's</a:t>
            </a:r>
            <a:r>
              <a:rPr dirty="0" sz="145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comp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ourier New"/>
                <a:cs typeface="Courier New"/>
              </a:rPr>
              <a:t>1010</a:t>
            </a:r>
            <a:r>
              <a:rPr dirty="0" sz="145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spc="-20" b="1">
                <a:solidFill>
                  <a:srgbClr val="FFFFFF"/>
                </a:solidFill>
                <a:latin typeface="Courier New"/>
                <a:cs typeface="Courier New"/>
              </a:rPr>
              <a:t>1010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Clr>
                <a:srgbClr val="FFFFFF"/>
              </a:buClr>
              <a:buFont typeface="Courier New"/>
              <a:buAutoNum type="arabicParenR" startAt="3"/>
            </a:pPr>
            <a:endParaRPr sz="1450">
              <a:latin typeface="Courier New"/>
              <a:cs typeface="Courier New"/>
            </a:endParaRPr>
          </a:p>
          <a:p>
            <a:pPr marL="457834" indent="-445134">
              <a:lnSpc>
                <a:spcPct val="100000"/>
              </a:lnSpc>
              <a:buAutoNum type="arabicParenR" startAt="3"/>
              <a:tabLst>
                <a:tab pos="457834" algn="l"/>
              </a:tabLst>
            </a:pP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F4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1111</a:t>
            </a:r>
            <a:r>
              <a:rPr dirty="0" sz="14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0100,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MSB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is</a:t>
            </a:r>
            <a:r>
              <a:rPr dirty="0" sz="145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1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so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negative:</a:t>
            </a:r>
            <a:r>
              <a:rPr dirty="0" sz="14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value</a:t>
            </a:r>
            <a:r>
              <a:rPr dirty="0" sz="145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45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dirty="0" sz="1450" spc="-25" b="1">
                <a:solidFill>
                  <a:srgbClr val="FFFFFF"/>
                </a:solidFill>
                <a:latin typeface="Courier New"/>
                <a:cs typeface="Courier New"/>
              </a:rPr>
              <a:t>12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78739" y="993167"/>
            <a:ext cx="1452245" cy="16109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400" spc="350">
                <a:solidFill>
                  <a:srgbClr val="FFDD41"/>
                </a:solidFill>
                <a:latin typeface="Times New Roman"/>
                <a:cs typeface="Times New Roman"/>
              </a:rPr>
              <a:t>04</a:t>
            </a:r>
            <a:endParaRPr sz="10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33740" y="1427924"/>
            <a:ext cx="7023100" cy="93853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365"/>
              </a:spcBef>
            </a:pPr>
            <a:r>
              <a:rPr dirty="0" sz="1300" spc="55" b="1">
                <a:solidFill>
                  <a:srgbClr val="5FDEEE"/>
                </a:solidFill>
                <a:latin typeface="Cambria"/>
                <a:cs typeface="Cambria"/>
              </a:rPr>
              <a:t>PART</a:t>
            </a:r>
            <a:r>
              <a:rPr dirty="0" sz="1300" spc="75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-140" b="1">
                <a:solidFill>
                  <a:srgbClr val="5FDEEE"/>
                </a:solidFill>
                <a:latin typeface="Cambria"/>
                <a:cs typeface="Cambria"/>
              </a:rPr>
              <a:t>4</a:t>
            </a:r>
            <a:r>
              <a:rPr dirty="0" sz="1300" spc="70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85" b="1">
                <a:solidFill>
                  <a:srgbClr val="5FDEEE"/>
                </a:solidFill>
                <a:latin typeface="Cambria"/>
                <a:cs typeface="Cambria"/>
              </a:rPr>
              <a:t>OF</a:t>
            </a:r>
            <a:r>
              <a:rPr dirty="0" sz="1300" spc="75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-135" b="1">
                <a:solidFill>
                  <a:srgbClr val="5FDEEE"/>
                </a:solidFill>
                <a:latin typeface="Cambria"/>
                <a:cs typeface="Cambria"/>
              </a:rPr>
              <a:t>5</a:t>
            </a:r>
            <a:r>
              <a:rPr dirty="0" sz="1300" spc="80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65" b="1">
                <a:solidFill>
                  <a:srgbClr val="5FDEEE"/>
                </a:solidFill>
                <a:latin typeface="Cambria"/>
                <a:cs typeface="Cambria"/>
              </a:rPr>
              <a:t>· </a:t>
            </a:r>
            <a:r>
              <a:rPr dirty="0" sz="1300" b="1">
                <a:solidFill>
                  <a:srgbClr val="5FDEEE"/>
                </a:solidFill>
                <a:latin typeface="Cambria"/>
                <a:cs typeface="Cambria"/>
              </a:rPr>
              <a:t>BYTE</a:t>
            </a:r>
            <a:r>
              <a:rPr dirty="0" sz="1300" spc="85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110" b="1">
                <a:solidFill>
                  <a:srgbClr val="5FDEEE"/>
                </a:solidFill>
                <a:latin typeface="Cambria"/>
                <a:cs typeface="Cambria"/>
              </a:rPr>
              <a:t>ORDERING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3800" spc="300" b="1">
                <a:solidFill>
                  <a:srgbClr val="FFFFFF"/>
                </a:solidFill>
                <a:latin typeface="Times New Roman"/>
                <a:cs typeface="Times New Roman"/>
              </a:rPr>
              <a:t>Little-</a:t>
            </a:r>
            <a:r>
              <a:rPr dirty="0" sz="3800" spc="215" b="1">
                <a:solidFill>
                  <a:srgbClr val="FFFFFF"/>
                </a:solidFill>
                <a:latin typeface="Times New Roman"/>
                <a:cs typeface="Times New Roman"/>
              </a:rPr>
              <a:t>Endian</a:t>
            </a:r>
            <a:r>
              <a:rPr dirty="0" sz="38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800" spc="215" b="1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38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800" spc="240" b="1">
                <a:solidFill>
                  <a:srgbClr val="FFFFFF"/>
                </a:solidFill>
                <a:latin typeface="Times New Roman"/>
                <a:cs typeface="Times New Roman"/>
              </a:rPr>
              <a:t>Big-</a:t>
            </a:r>
            <a:r>
              <a:rPr dirty="0" sz="3800" spc="204" b="1">
                <a:solidFill>
                  <a:srgbClr val="FFFFFF"/>
                </a:solidFill>
                <a:latin typeface="Times New Roman"/>
                <a:cs typeface="Times New Roman"/>
              </a:rPr>
              <a:t>Endian</a:t>
            </a:r>
            <a:endParaRPr sz="3800">
              <a:latin typeface="Times New Roman"/>
              <a:cs typeface="Times New Roman"/>
            </a:endParaRPr>
          </a:p>
        </p:txBody>
      </p:sp>
      <p:pic>
        <p:nvPicPr>
          <p:cNvPr id="4" name="object 4" descr="rule-wid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0001" y="3099638"/>
            <a:ext cx="8229993" cy="157993"/>
          </a:xfrm>
          <a:prstGeom prst="rect">
            <a:avLst/>
          </a:prstGeom>
        </p:spPr>
      </p:pic>
      <p:pic>
        <p:nvPicPr>
          <p:cNvPr id="5" name="object 5" descr="talk-purple-rect-L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30004" y="3759999"/>
            <a:ext cx="1274279" cy="261999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720001"/>
            <a:ext cx="11429996" cy="4817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739" y="1082540"/>
            <a:ext cx="3144520" cy="42227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DD41"/>
                </a:solidFill>
              </a:rPr>
              <a:t>What</a:t>
            </a:r>
            <a:r>
              <a:rPr dirty="0" spc="25">
                <a:solidFill>
                  <a:srgbClr val="FFDD41"/>
                </a:solidFill>
              </a:rPr>
              <a:t> </a:t>
            </a:r>
            <a:r>
              <a:rPr dirty="0">
                <a:solidFill>
                  <a:srgbClr val="FFDD41"/>
                </a:solidFill>
              </a:rPr>
              <a:t>is</a:t>
            </a:r>
            <a:r>
              <a:rPr dirty="0" spc="50">
                <a:solidFill>
                  <a:srgbClr val="FFDD41"/>
                </a:solidFill>
              </a:rPr>
              <a:t> </a:t>
            </a:r>
            <a:r>
              <a:rPr dirty="0" spc="-10">
                <a:solidFill>
                  <a:srgbClr val="FFDD41"/>
                </a:solidFill>
              </a:rPr>
              <a:t>Endianness?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843" y="1703104"/>
            <a:ext cx="9296400" cy="18542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single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has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ordering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problem,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but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values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such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as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0" b="1">
                <a:solidFill>
                  <a:srgbClr val="FFFFFF"/>
                </a:solidFill>
                <a:latin typeface="Cambria"/>
                <a:cs typeface="Cambria"/>
              </a:rPr>
              <a:t>16-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90" b="1">
                <a:solidFill>
                  <a:srgbClr val="FFFFFF"/>
                </a:solidFill>
                <a:latin typeface="Cambria"/>
                <a:cs typeface="Cambria"/>
              </a:rPr>
              <a:t>32-</a:t>
            </a:r>
            <a:r>
              <a:rPr dirty="0" sz="1500" spc="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0" b="1">
                <a:solidFill>
                  <a:srgbClr val="FFFFFF"/>
                </a:solidFill>
                <a:latin typeface="Cambria"/>
                <a:cs typeface="Cambria"/>
              </a:rPr>
              <a:t>64-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integers</a:t>
            </a:r>
            <a:r>
              <a:rPr dirty="0" sz="1500" spc="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span</a:t>
            </a:r>
            <a:r>
              <a:rPr dirty="0" sz="1500" spc="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Cambria"/>
                <a:cs typeface="Cambria"/>
              </a:rPr>
              <a:t>several</a:t>
            </a:r>
            <a:r>
              <a:rPr dirty="0" sz="1500" spc="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Endianness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order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which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those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stored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memory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disk.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Big-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endian: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most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significant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comes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first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(at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lowest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address).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Little-endian:</a:t>
            </a:r>
            <a:r>
              <a:rPr dirty="0" sz="1500" spc="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least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significant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comes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first.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names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come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from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Gulliver's</a:t>
            </a:r>
            <a:r>
              <a:rPr dirty="0" sz="1500" spc="1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Travels,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where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two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nations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fight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over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which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end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boiled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egg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crack.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Both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conventions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valid;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problems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appear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only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when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reader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assumes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wrong</a:t>
            </a:r>
            <a:r>
              <a:rPr dirty="0" sz="1500" spc="1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one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</p:txBody>
      </p:sp>
      <p:pic>
        <p:nvPicPr>
          <p:cNvPr id="5" name="object 5" descr="smile-white-squar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17338" y="5759999"/>
            <a:ext cx="533658" cy="919997"/>
          </a:xfrm>
          <a:prstGeom prst="rect">
            <a:avLst/>
          </a:prstGeom>
        </p:spPr>
      </p:pic>
      <p:pic>
        <p:nvPicPr>
          <p:cNvPr id="6" name="object 6" descr="talk-green-pent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46000" y="5759999"/>
            <a:ext cx="712085" cy="919997"/>
          </a:xfrm>
          <a:prstGeom prst="rect">
            <a:avLst/>
          </a:prstGeom>
        </p:spPr>
      </p:pic>
      <p:pic>
        <p:nvPicPr>
          <p:cNvPr id="7" name="object 7" descr="smile-cyan-diamond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53086" y="5759999"/>
            <a:ext cx="721270" cy="91999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13658" y="361016"/>
            <a:ext cx="6563995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FFDD41"/>
                </a:solidFill>
              </a:rPr>
              <a:t>Two</a:t>
            </a:r>
            <a:r>
              <a:rPr dirty="0" sz="2700" spc="204">
                <a:solidFill>
                  <a:srgbClr val="FFDD41"/>
                </a:solidFill>
              </a:rPr>
              <a:t> </a:t>
            </a:r>
            <a:r>
              <a:rPr dirty="0" sz="2700">
                <a:solidFill>
                  <a:srgbClr val="FFDD41"/>
                </a:solidFill>
              </a:rPr>
              <a:t>Conventions,</a:t>
            </a:r>
            <a:r>
              <a:rPr dirty="0" sz="2700" spc="215">
                <a:solidFill>
                  <a:srgbClr val="FFDD41"/>
                </a:solidFill>
              </a:rPr>
              <a:t> </a:t>
            </a:r>
            <a:r>
              <a:rPr dirty="0" sz="2700" spc="90">
                <a:solidFill>
                  <a:srgbClr val="FFDD41"/>
                </a:solidFill>
              </a:rPr>
              <a:t>One</a:t>
            </a:r>
            <a:r>
              <a:rPr dirty="0" sz="2700" spc="215">
                <a:solidFill>
                  <a:srgbClr val="FFDD41"/>
                </a:solidFill>
              </a:rPr>
              <a:t> </a:t>
            </a:r>
            <a:r>
              <a:rPr dirty="0" sz="2700">
                <a:solidFill>
                  <a:srgbClr val="FFDD41"/>
                </a:solidFill>
              </a:rPr>
              <a:t>Value:</a:t>
            </a:r>
            <a:r>
              <a:rPr dirty="0" sz="2700" spc="190">
                <a:solidFill>
                  <a:srgbClr val="FFDD41"/>
                </a:solidFill>
              </a:rPr>
              <a:t> </a:t>
            </a:r>
            <a:r>
              <a:rPr dirty="0" sz="2700" spc="-210">
                <a:solidFill>
                  <a:srgbClr val="FFDD41"/>
                </a:solidFill>
              </a:rPr>
              <a:t>0x12345678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548887" y="1348891"/>
            <a:ext cx="5382260" cy="4172585"/>
            <a:chOff x="548887" y="1348891"/>
            <a:chExt cx="5382260" cy="4172585"/>
          </a:xfrm>
        </p:grpSpPr>
        <p:sp>
          <p:nvSpPr>
            <p:cNvPr id="4" name="object 4"/>
            <p:cNvSpPr/>
            <p:nvPr/>
          </p:nvSpPr>
          <p:spPr>
            <a:xfrm>
              <a:off x="560000" y="1360003"/>
              <a:ext cx="5360035" cy="4150360"/>
            </a:xfrm>
            <a:custGeom>
              <a:avLst/>
              <a:gdLst/>
              <a:ahLst/>
              <a:cxnLst/>
              <a:rect l="l" t="t" r="r" b="b"/>
              <a:pathLst>
                <a:path w="5360035" h="4150360">
                  <a:moveTo>
                    <a:pt x="4944999" y="0"/>
                  </a:moveTo>
                  <a:lnTo>
                    <a:pt x="414997" y="0"/>
                  </a:lnTo>
                  <a:lnTo>
                    <a:pt x="366600" y="2791"/>
                  </a:lnTo>
                  <a:lnTo>
                    <a:pt x="319842" y="10960"/>
                  </a:lnTo>
                  <a:lnTo>
                    <a:pt x="275036" y="24193"/>
                  </a:lnTo>
                  <a:lnTo>
                    <a:pt x="232492" y="42180"/>
                  </a:lnTo>
                  <a:lnTo>
                    <a:pt x="192522" y="64610"/>
                  </a:lnTo>
                  <a:lnTo>
                    <a:pt x="155437" y="91170"/>
                  </a:lnTo>
                  <a:lnTo>
                    <a:pt x="121550" y="121550"/>
                  </a:lnTo>
                  <a:lnTo>
                    <a:pt x="91170" y="155437"/>
                  </a:lnTo>
                  <a:lnTo>
                    <a:pt x="64610" y="192522"/>
                  </a:lnTo>
                  <a:lnTo>
                    <a:pt x="42180" y="232492"/>
                  </a:lnTo>
                  <a:lnTo>
                    <a:pt x="24193" y="275036"/>
                  </a:lnTo>
                  <a:lnTo>
                    <a:pt x="10960" y="319842"/>
                  </a:lnTo>
                  <a:lnTo>
                    <a:pt x="2791" y="366600"/>
                  </a:lnTo>
                  <a:lnTo>
                    <a:pt x="0" y="414997"/>
                  </a:lnTo>
                  <a:lnTo>
                    <a:pt x="0" y="3734993"/>
                  </a:lnTo>
                  <a:lnTo>
                    <a:pt x="2791" y="3783391"/>
                  </a:lnTo>
                  <a:lnTo>
                    <a:pt x="10960" y="3830148"/>
                  </a:lnTo>
                  <a:lnTo>
                    <a:pt x="24193" y="3874955"/>
                  </a:lnTo>
                  <a:lnTo>
                    <a:pt x="42180" y="3917499"/>
                  </a:lnTo>
                  <a:lnTo>
                    <a:pt x="64610" y="3957469"/>
                  </a:lnTo>
                  <a:lnTo>
                    <a:pt x="91170" y="3994553"/>
                  </a:lnTo>
                  <a:lnTo>
                    <a:pt x="121550" y="4028441"/>
                  </a:lnTo>
                  <a:lnTo>
                    <a:pt x="155437" y="4058821"/>
                  </a:lnTo>
                  <a:lnTo>
                    <a:pt x="192522" y="4085381"/>
                  </a:lnTo>
                  <a:lnTo>
                    <a:pt x="232492" y="4107810"/>
                  </a:lnTo>
                  <a:lnTo>
                    <a:pt x="275036" y="4125797"/>
                  </a:lnTo>
                  <a:lnTo>
                    <a:pt x="319842" y="4139031"/>
                  </a:lnTo>
                  <a:lnTo>
                    <a:pt x="366600" y="4147199"/>
                  </a:lnTo>
                  <a:lnTo>
                    <a:pt x="414997" y="4149991"/>
                  </a:lnTo>
                  <a:lnTo>
                    <a:pt x="4944999" y="4149991"/>
                  </a:lnTo>
                  <a:lnTo>
                    <a:pt x="4993396" y="4147199"/>
                  </a:lnTo>
                  <a:lnTo>
                    <a:pt x="5040154" y="4139031"/>
                  </a:lnTo>
                  <a:lnTo>
                    <a:pt x="5084960" y="4125797"/>
                  </a:lnTo>
                  <a:lnTo>
                    <a:pt x="5127504" y="4107810"/>
                  </a:lnTo>
                  <a:lnTo>
                    <a:pt x="5167474" y="4085381"/>
                  </a:lnTo>
                  <a:lnTo>
                    <a:pt x="5204558" y="4058821"/>
                  </a:lnTo>
                  <a:lnTo>
                    <a:pt x="5238446" y="4028441"/>
                  </a:lnTo>
                  <a:lnTo>
                    <a:pt x="5268826" y="3994553"/>
                  </a:lnTo>
                  <a:lnTo>
                    <a:pt x="5295386" y="3957469"/>
                  </a:lnTo>
                  <a:lnTo>
                    <a:pt x="5317816" y="3917499"/>
                  </a:lnTo>
                  <a:lnTo>
                    <a:pt x="5335803" y="3874955"/>
                  </a:lnTo>
                  <a:lnTo>
                    <a:pt x="5349036" y="3830148"/>
                  </a:lnTo>
                  <a:lnTo>
                    <a:pt x="5357204" y="3783391"/>
                  </a:lnTo>
                  <a:lnTo>
                    <a:pt x="5359996" y="3734993"/>
                  </a:lnTo>
                  <a:lnTo>
                    <a:pt x="5359996" y="414997"/>
                  </a:lnTo>
                  <a:lnTo>
                    <a:pt x="5357204" y="366600"/>
                  </a:lnTo>
                  <a:lnTo>
                    <a:pt x="5349036" y="319842"/>
                  </a:lnTo>
                  <a:lnTo>
                    <a:pt x="5335803" y="275036"/>
                  </a:lnTo>
                  <a:lnTo>
                    <a:pt x="5317816" y="232492"/>
                  </a:lnTo>
                  <a:lnTo>
                    <a:pt x="5295386" y="192522"/>
                  </a:lnTo>
                  <a:lnTo>
                    <a:pt x="5268826" y="155437"/>
                  </a:lnTo>
                  <a:lnTo>
                    <a:pt x="5238446" y="121550"/>
                  </a:lnTo>
                  <a:lnTo>
                    <a:pt x="5204558" y="91170"/>
                  </a:lnTo>
                  <a:lnTo>
                    <a:pt x="5167474" y="64610"/>
                  </a:lnTo>
                  <a:lnTo>
                    <a:pt x="5127504" y="42180"/>
                  </a:lnTo>
                  <a:lnTo>
                    <a:pt x="5084960" y="24193"/>
                  </a:lnTo>
                  <a:lnTo>
                    <a:pt x="5040154" y="10960"/>
                  </a:lnTo>
                  <a:lnTo>
                    <a:pt x="4993396" y="2791"/>
                  </a:lnTo>
                  <a:lnTo>
                    <a:pt x="4944999" y="0"/>
                  </a:lnTo>
                  <a:close/>
                </a:path>
              </a:pathLst>
            </a:custGeom>
            <a:solidFill>
              <a:srgbClr val="15281F">
                <a:alpha val="6196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60000" y="1360003"/>
              <a:ext cx="5360035" cy="4150360"/>
            </a:xfrm>
            <a:custGeom>
              <a:avLst/>
              <a:gdLst/>
              <a:ahLst/>
              <a:cxnLst/>
              <a:rect l="l" t="t" r="r" b="b"/>
              <a:pathLst>
                <a:path w="5360035" h="4150360">
                  <a:moveTo>
                    <a:pt x="0" y="414997"/>
                  </a:moveTo>
                  <a:lnTo>
                    <a:pt x="2791" y="366600"/>
                  </a:lnTo>
                  <a:lnTo>
                    <a:pt x="10960" y="319842"/>
                  </a:lnTo>
                  <a:lnTo>
                    <a:pt x="24193" y="275036"/>
                  </a:lnTo>
                  <a:lnTo>
                    <a:pt x="42180" y="232492"/>
                  </a:lnTo>
                  <a:lnTo>
                    <a:pt x="64610" y="192522"/>
                  </a:lnTo>
                  <a:lnTo>
                    <a:pt x="91170" y="155437"/>
                  </a:lnTo>
                  <a:lnTo>
                    <a:pt x="121550" y="121550"/>
                  </a:lnTo>
                  <a:lnTo>
                    <a:pt x="155437" y="91170"/>
                  </a:lnTo>
                  <a:lnTo>
                    <a:pt x="192522" y="64610"/>
                  </a:lnTo>
                  <a:lnTo>
                    <a:pt x="232492" y="42180"/>
                  </a:lnTo>
                  <a:lnTo>
                    <a:pt x="275036" y="24193"/>
                  </a:lnTo>
                  <a:lnTo>
                    <a:pt x="319842" y="10960"/>
                  </a:lnTo>
                  <a:lnTo>
                    <a:pt x="366600" y="2791"/>
                  </a:lnTo>
                  <a:lnTo>
                    <a:pt x="414997" y="0"/>
                  </a:lnTo>
                  <a:lnTo>
                    <a:pt x="4944999" y="0"/>
                  </a:lnTo>
                  <a:lnTo>
                    <a:pt x="4993396" y="2791"/>
                  </a:lnTo>
                  <a:lnTo>
                    <a:pt x="5040154" y="10960"/>
                  </a:lnTo>
                  <a:lnTo>
                    <a:pt x="5084960" y="24193"/>
                  </a:lnTo>
                  <a:lnTo>
                    <a:pt x="5127504" y="42180"/>
                  </a:lnTo>
                  <a:lnTo>
                    <a:pt x="5167474" y="64610"/>
                  </a:lnTo>
                  <a:lnTo>
                    <a:pt x="5204558" y="91170"/>
                  </a:lnTo>
                  <a:lnTo>
                    <a:pt x="5238446" y="121550"/>
                  </a:lnTo>
                  <a:lnTo>
                    <a:pt x="5268826" y="155437"/>
                  </a:lnTo>
                  <a:lnTo>
                    <a:pt x="5295386" y="192522"/>
                  </a:lnTo>
                  <a:lnTo>
                    <a:pt x="5317816" y="232492"/>
                  </a:lnTo>
                  <a:lnTo>
                    <a:pt x="5335803" y="275036"/>
                  </a:lnTo>
                  <a:lnTo>
                    <a:pt x="5349036" y="319842"/>
                  </a:lnTo>
                  <a:lnTo>
                    <a:pt x="5357204" y="366600"/>
                  </a:lnTo>
                  <a:lnTo>
                    <a:pt x="5359996" y="414997"/>
                  </a:lnTo>
                  <a:lnTo>
                    <a:pt x="5359996" y="3734993"/>
                  </a:lnTo>
                  <a:lnTo>
                    <a:pt x="5357204" y="3783391"/>
                  </a:lnTo>
                  <a:lnTo>
                    <a:pt x="5349036" y="3830148"/>
                  </a:lnTo>
                  <a:lnTo>
                    <a:pt x="5335803" y="3874955"/>
                  </a:lnTo>
                  <a:lnTo>
                    <a:pt x="5317816" y="3917499"/>
                  </a:lnTo>
                  <a:lnTo>
                    <a:pt x="5295386" y="3957469"/>
                  </a:lnTo>
                  <a:lnTo>
                    <a:pt x="5268826" y="3994553"/>
                  </a:lnTo>
                  <a:lnTo>
                    <a:pt x="5238446" y="4028441"/>
                  </a:lnTo>
                  <a:lnTo>
                    <a:pt x="5204558" y="4058821"/>
                  </a:lnTo>
                  <a:lnTo>
                    <a:pt x="5167474" y="4085381"/>
                  </a:lnTo>
                  <a:lnTo>
                    <a:pt x="5127504" y="4107810"/>
                  </a:lnTo>
                  <a:lnTo>
                    <a:pt x="5084960" y="4125797"/>
                  </a:lnTo>
                  <a:lnTo>
                    <a:pt x="5040154" y="4139031"/>
                  </a:lnTo>
                  <a:lnTo>
                    <a:pt x="4993396" y="4147199"/>
                  </a:lnTo>
                  <a:lnTo>
                    <a:pt x="4944999" y="4149991"/>
                  </a:lnTo>
                  <a:lnTo>
                    <a:pt x="414997" y="4149991"/>
                  </a:lnTo>
                  <a:lnTo>
                    <a:pt x="366600" y="4147199"/>
                  </a:lnTo>
                  <a:lnTo>
                    <a:pt x="319842" y="4139031"/>
                  </a:lnTo>
                  <a:lnTo>
                    <a:pt x="275036" y="4125797"/>
                  </a:lnTo>
                  <a:lnTo>
                    <a:pt x="232492" y="4107810"/>
                  </a:lnTo>
                  <a:lnTo>
                    <a:pt x="192522" y="4085381"/>
                  </a:lnTo>
                  <a:lnTo>
                    <a:pt x="155437" y="4058821"/>
                  </a:lnTo>
                  <a:lnTo>
                    <a:pt x="121550" y="4028441"/>
                  </a:lnTo>
                  <a:lnTo>
                    <a:pt x="91170" y="3994553"/>
                  </a:lnTo>
                  <a:lnTo>
                    <a:pt x="64610" y="3957469"/>
                  </a:lnTo>
                  <a:lnTo>
                    <a:pt x="42180" y="3917499"/>
                  </a:lnTo>
                  <a:lnTo>
                    <a:pt x="24193" y="3874955"/>
                  </a:lnTo>
                  <a:lnTo>
                    <a:pt x="10960" y="3830148"/>
                  </a:lnTo>
                  <a:lnTo>
                    <a:pt x="2791" y="3783391"/>
                  </a:lnTo>
                  <a:lnTo>
                    <a:pt x="0" y="3734993"/>
                  </a:lnTo>
                  <a:lnTo>
                    <a:pt x="0" y="414997"/>
                  </a:lnTo>
                  <a:close/>
                </a:path>
              </a:pathLst>
            </a:custGeom>
            <a:ln w="22224">
              <a:solidFill>
                <a:srgbClr val="8AE2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898739" y="1461430"/>
            <a:ext cx="4683125" cy="225171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800" spc="100" b="1">
                <a:solidFill>
                  <a:srgbClr val="8AE244"/>
                </a:solidFill>
                <a:latin typeface="Cambria"/>
                <a:cs typeface="Cambria"/>
              </a:rPr>
              <a:t>BIG-</a:t>
            </a:r>
            <a:r>
              <a:rPr dirty="0" sz="1800" spc="170" b="1">
                <a:solidFill>
                  <a:srgbClr val="8AE244"/>
                </a:solidFill>
                <a:latin typeface="Cambria"/>
                <a:cs typeface="Cambria"/>
              </a:rPr>
              <a:t>ENDIAN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  <a:tabLst>
                <a:tab pos="312420" algn="l"/>
              </a:tabLst>
            </a:pPr>
            <a:r>
              <a:rPr dirty="0" sz="1300" spc="-50">
                <a:solidFill>
                  <a:srgbClr val="8AE244"/>
                </a:solidFill>
                <a:latin typeface="Microsoft Sans Serif"/>
                <a:cs typeface="Microsoft Sans Serif"/>
              </a:rPr>
              <a:t>→</a:t>
            </a:r>
            <a:r>
              <a:rPr dirty="0" sz="1300">
                <a:solidFill>
                  <a:srgbClr val="8AE244"/>
                </a:solidFill>
                <a:latin typeface="Microsoft Sans Serif"/>
                <a:cs typeface="Microsoft Sans Serif"/>
              </a:rPr>
              <a:t>	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45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stored</a:t>
            </a:r>
            <a:r>
              <a:rPr dirty="0" sz="145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as</a:t>
            </a:r>
            <a:r>
              <a:rPr dirty="0" sz="145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140" b="1">
                <a:solidFill>
                  <a:srgbClr val="FFFFFF"/>
                </a:solidFill>
                <a:latin typeface="Cambria"/>
                <a:cs typeface="Cambria"/>
              </a:rPr>
              <a:t>12</a:t>
            </a:r>
            <a:r>
              <a:rPr dirty="0" sz="145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140" b="1">
                <a:solidFill>
                  <a:srgbClr val="FFFFFF"/>
                </a:solidFill>
                <a:latin typeface="Cambria"/>
                <a:cs typeface="Cambria"/>
              </a:rPr>
              <a:t>34</a:t>
            </a:r>
            <a:r>
              <a:rPr dirty="0" sz="1450" spc="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140" b="1">
                <a:solidFill>
                  <a:srgbClr val="FFFFFF"/>
                </a:solidFill>
                <a:latin typeface="Cambria"/>
                <a:cs typeface="Cambria"/>
              </a:rPr>
              <a:t>56</a:t>
            </a:r>
            <a:r>
              <a:rPr dirty="0" sz="1450" spc="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25" b="1">
                <a:solidFill>
                  <a:srgbClr val="FFFFFF"/>
                </a:solidFill>
                <a:latin typeface="Cambria"/>
                <a:cs typeface="Cambria"/>
              </a:rPr>
              <a:t>78</a:t>
            </a:r>
            <a:endParaRPr sz="1450">
              <a:latin typeface="Cambria"/>
              <a:cs typeface="Cambria"/>
            </a:endParaRPr>
          </a:p>
          <a:p>
            <a:pPr marL="313055" marR="6985" indent="-300990">
              <a:lnSpc>
                <a:spcPct val="100000"/>
              </a:lnSpc>
              <a:spcBef>
                <a:spcPts val="600"/>
              </a:spcBef>
              <a:tabLst>
                <a:tab pos="312420" algn="l"/>
              </a:tabLst>
            </a:pPr>
            <a:r>
              <a:rPr dirty="0" sz="1300" spc="-50">
                <a:solidFill>
                  <a:srgbClr val="8AE244"/>
                </a:solidFill>
                <a:latin typeface="Microsoft Sans Serif"/>
                <a:cs typeface="Microsoft Sans Serif"/>
              </a:rPr>
              <a:t>→</a:t>
            </a:r>
            <a:r>
              <a:rPr dirty="0" sz="1300">
                <a:solidFill>
                  <a:srgbClr val="8AE244"/>
                </a:solidFill>
                <a:latin typeface="Microsoft Sans Serif"/>
                <a:cs typeface="Microsoft Sans Serif"/>
              </a:rPr>
              <a:t>	</a:t>
            </a:r>
            <a:r>
              <a:rPr dirty="0" sz="1450" spc="65">
                <a:solidFill>
                  <a:srgbClr val="FFFFFF"/>
                </a:solidFill>
                <a:latin typeface="Cambria"/>
                <a:cs typeface="Cambria"/>
              </a:rPr>
              <a:t>MSB</a:t>
            </a:r>
            <a:r>
              <a:rPr dirty="0" sz="1450" spc="3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at</a:t>
            </a:r>
            <a:r>
              <a:rPr dirty="0" sz="1450" spc="3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450" spc="3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lowest</a:t>
            </a:r>
            <a:r>
              <a:rPr dirty="0" sz="1450" spc="3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address,</a:t>
            </a:r>
            <a:r>
              <a:rPr dirty="0" sz="1450" spc="3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like</a:t>
            </a:r>
            <a:r>
              <a:rPr dirty="0" sz="1450" spc="3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human</a:t>
            </a:r>
            <a:r>
              <a:rPr dirty="0" sz="1450" spc="3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left-</a:t>
            </a:r>
            <a:r>
              <a:rPr dirty="0" sz="1450" spc="-10">
                <a:solidFill>
                  <a:srgbClr val="FFFFFF"/>
                </a:solidFill>
                <a:latin typeface="Cambria"/>
                <a:cs typeface="Cambria"/>
              </a:rPr>
              <a:t>to-right reading</a:t>
            </a:r>
            <a:endParaRPr sz="1450">
              <a:latin typeface="Cambria"/>
              <a:cs typeface="Cambria"/>
            </a:endParaRPr>
          </a:p>
          <a:p>
            <a:pPr marL="312420" marR="5715" indent="-300355">
              <a:lnSpc>
                <a:spcPct val="100000"/>
              </a:lnSpc>
              <a:spcBef>
                <a:spcPts val="600"/>
              </a:spcBef>
              <a:tabLst>
                <a:tab pos="312420" algn="l"/>
              </a:tabLst>
            </a:pPr>
            <a:r>
              <a:rPr dirty="0" sz="1300" spc="-50">
                <a:solidFill>
                  <a:srgbClr val="8AE244"/>
                </a:solidFill>
                <a:latin typeface="Microsoft Sans Serif"/>
                <a:cs typeface="Microsoft Sans Serif"/>
              </a:rPr>
              <a:t>→</a:t>
            </a:r>
            <a:r>
              <a:rPr dirty="0" sz="1300">
                <a:solidFill>
                  <a:srgbClr val="8AE244"/>
                </a:solidFill>
                <a:latin typeface="Microsoft Sans Serif"/>
                <a:cs typeface="Microsoft Sans Serif"/>
              </a:rPr>
              <a:t>	</a:t>
            </a:r>
            <a:r>
              <a:rPr dirty="0" sz="1450" spc="55">
                <a:solidFill>
                  <a:srgbClr val="FFFFFF"/>
                </a:solidFill>
                <a:latin typeface="Cambria"/>
                <a:cs typeface="Cambria"/>
              </a:rPr>
              <a:t>Used</a:t>
            </a:r>
            <a:r>
              <a:rPr dirty="0" sz="1450" spc="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by:</a:t>
            </a:r>
            <a:r>
              <a:rPr dirty="0" sz="1450" spc="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ambria"/>
                <a:cs typeface="Cambria"/>
              </a:rPr>
              <a:t>network</a:t>
            </a:r>
            <a:r>
              <a:rPr dirty="0" sz="1450" spc="1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mbria"/>
                <a:cs typeface="Cambria"/>
              </a:rPr>
              <a:t>protocols</a:t>
            </a:r>
            <a:r>
              <a:rPr dirty="0" sz="1450" spc="1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("network</a:t>
            </a:r>
            <a:r>
              <a:rPr dirty="0" sz="145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byte</a:t>
            </a:r>
            <a:r>
              <a:rPr dirty="0" sz="1450" spc="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Cambria"/>
                <a:cs typeface="Cambria"/>
              </a:rPr>
              <a:t>order"),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Motorola</a:t>
            </a:r>
            <a:r>
              <a:rPr dirty="0" sz="145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68k,</a:t>
            </a:r>
            <a:r>
              <a:rPr dirty="0" sz="145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105">
                <a:solidFill>
                  <a:srgbClr val="FFFFFF"/>
                </a:solidFill>
                <a:latin typeface="Cambria"/>
                <a:cs typeface="Cambria"/>
              </a:rPr>
              <a:t>SPARC,</a:t>
            </a:r>
            <a:r>
              <a:rPr dirty="0" sz="145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Cambria"/>
                <a:cs typeface="Cambria"/>
              </a:rPr>
              <a:t>PowerPC</a:t>
            </a:r>
            <a:endParaRPr sz="1450">
              <a:latin typeface="Cambria"/>
              <a:cs typeface="Cambria"/>
            </a:endParaRPr>
          </a:p>
          <a:p>
            <a:pPr marL="312420" marR="5080" indent="-300355">
              <a:lnSpc>
                <a:spcPct val="100699"/>
              </a:lnSpc>
              <a:spcBef>
                <a:spcPts val="590"/>
              </a:spcBef>
              <a:tabLst>
                <a:tab pos="312420" algn="l"/>
              </a:tabLst>
            </a:pPr>
            <a:r>
              <a:rPr dirty="0" sz="1300" spc="-50">
                <a:solidFill>
                  <a:srgbClr val="8AE244"/>
                </a:solidFill>
                <a:latin typeface="Microsoft Sans Serif"/>
                <a:cs typeface="Microsoft Sans Serif"/>
              </a:rPr>
              <a:t>→</a:t>
            </a:r>
            <a:r>
              <a:rPr dirty="0" sz="1300">
                <a:solidFill>
                  <a:srgbClr val="8AE244"/>
                </a:solidFill>
                <a:latin typeface="Microsoft Sans Serif"/>
                <a:cs typeface="Microsoft Sans Serif"/>
              </a:rPr>
              <a:t>	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File</a:t>
            </a:r>
            <a:r>
              <a:rPr dirty="0" sz="1450" spc="4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formats:</a:t>
            </a:r>
            <a:r>
              <a:rPr dirty="0" sz="1450" spc="4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90" b="1">
                <a:solidFill>
                  <a:srgbClr val="FFFFFF"/>
                </a:solidFill>
                <a:latin typeface="Cambria"/>
                <a:cs typeface="Cambria"/>
              </a:rPr>
              <a:t>JPEG</a:t>
            </a:r>
            <a:r>
              <a:rPr dirty="0" sz="1450" spc="4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ambria"/>
                <a:cs typeface="Cambria"/>
              </a:rPr>
              <a:t>segment</a:t>
            </a:r>
            <a:r>
              <a:rPr dirty="0" sz="1450" spc="4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ambria"/>
                <a:cs typeface="Cambria"/>
              </a:rPr>
              <a:t>lengths,</a:t>
            </a:r>
            <a:r>
              <a:rPr dirty="0" sz="1450" spc="4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155" b="1">
                <a:solidFill>
                  <a:srgbClr val="FFFFFF"/>
                </a:solidFill>
                <a:latin typeface="Cambria"/>
                <a:cs typeface="Cambria"/>
              </a:rPr>
              <a:t>PNG</a:t>
            </a:r>
            <a:r>
              <a:rPr dirty="0" sz="1450" spc="4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mbria"/>
                <a:cs typeface="Cambria"/>
              </a:rPr>
              <a:t>chunk lengths</a:t>
            </a:r>
            <a:endParaRPr sz="145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58886" y="1348891"/>
            <a:ext cx="5382260" cy="4172585"/>
            <a:chOff x="6258886" y="1348891"/>
            <a:chExt cx="5382260" cy="4172585"/>
          </a:xfrm>
        </p:grpSpPr>
        <p:sp>
          <p:nvSpPr>
            <p:cNvPr id="8" name="object 8"/>
            <p:cNvSpPr/>
            <p:nvPr/>
          </p:nvSpPr>
          <p:spPr>
            <a:xfrm>
              <a:off x="6270000" y="1360003"/>
              <a:ext cx="5360035" cy="4150360"/>
            </a:xfrm>
            <a:custGeom>
              <a:avLst/>
              <a:gdLst/>
              <a:ahLst/>
              <a:cxnLst/>
              <a:rect l="l" t="t" r="r" b="b"/>
              <a:pathLst>
                <a:path w="5360034" h="4150360">
                  <a:moveTo>
                    <a:pt x="4944999" y="0"/>
                  </a:moveTo>
                  <a:lnTo>
                    <a:pt x="414997" y="0"/>
                  </a:lnTo>
                  <a:lnTo>
                    <a:pt x="366600" y="2791"/>
                  </a:lnTo>
                  <a:lnTo>
                    <a:pt x="319842" y="10960"/>
                  </a:lnTo>
                  <a:lnTo>
                    <a:pt x="275036" y="24193"/>
                  </a:lnTo>
                  <a:lnTo>
                    <a:pt x="232492" y="42180"/>
                  </a:lnTo>
                  <a:lnTo>
                    <a:pt x="192522" y="64610"/>
                  </a:lnTo>
                  <a:lnTo>
                    <a:pt x="155437" y="91170"/>
                  </a:lnTo>
                  <a:lnTo>
                    <a:pt x="121550" y="121550"/>
                  </a:lnTo>
                  <a:lnTo>
                    <a:pt x="91170" y="155437"/>
                  </a:lnTo>
                  <a:lnTo>
                    <a:pt x="64610" y="192522"/>
                  </a:lnTo>
                  <a:lnTo>
                    <a:pt x="42180" y="232492"/>
                  </a:lnTo>
                  <a:lnTo>
                    <a:pt x="24193" y="275036"/>
                  </a:lnTo>
                  <a:lnTo>
                    <a:pt x="10960" y="319842"/>
                  </a:lnTo>
                  <a:lnTo>
                    <a:pt x="2791" y="366600"/>
                  </a:lnTo>
                  <a:lnTo>
                    <a:pt x="0" y="414997"/>
                  </a:lnTo>
                  <a:lnTo>
                    <a:pt x="0" y="3734993"/>
                  </a:lnTo>
                  <a:lnTo>
                    <a:pt x="2791" y="3783391"/>
                  </a:lnTo>
                  <a:lnTo>
                    <a:pt x="10960" y="3830148"/>
                  </a:lnTo>
                  <a:lnTo>
                    <a:pt x="24193" y="3874955"/>
                  </a:lnTo>
                  <a:lnTo>
                    <a:pt x="42180" y="3917499"/>
                  </a:lnTo>
                  <a:lnTo>
                    <a:pt x="64610" y="3957469"/>
                  </a:lnTo>
                  <a:lnTo>
                    <a:pt x="91170" y="3994553"/>
                  </a:lnTo>
                  <a:lnTo>
                    <a:pt x="121550" y="4028441"/>
                  </a:lnTo>
                  <a:lnTo>
                    <a:pt x="155437" y="4058821"/>
                  </a:lnTo>
                  <a:lnTo>
                    <a:pt x="192522" y="4085381"/>
                  </a:lnTo>
                  <a:lnTo>
                    <a:pt x="232492" y="4107810"/>
                  </a:lnTo>
                  <a:lnTo>
                    <a:pt x="275036" y="4125797"/>
                  </a:lnTo>
                  <a:lnTo>
                    <a:pt x="319842" y="4139031"/>
                  </a:lnTo>
                  <a:lnTo>
                    <a:pt x="366600" y="4147199"/>
                  </a:lnTo>
                  <a:lnTo>
                    <a:pt x="414997" y="4149991"/>
                  </a:lnTo>
                  <a:lnTo>
                    <a:pt x="4944999" y="4149991"/>
                  </a:lnTo>
                  <a:lnTo>
                    <a:pt x="4993396" y="4147199"/>
                  </a:lnTo>
                  <a:lnTo>
                    <a:pt x="5040154" y="4139031"/>
                  </a:lnTo>
                  <a:lnTo>
                    <a:pt x="5084960" y="4125797"/>
                  </a:lnTo>
                  <a:lnTo>
                    <a:pt x="5127504" y="4107810"/>
                  </a:lnTo>
                  <a:lnTo>
                    <a:pt x="5167474" y="4085381"/>
                  </a:lnTo>
                  <a:lnTo>
                    <a:pt x="5204558" y="4058821"/>
                  </a:lnTo>
                  <a:lnTo>
                    <a:pt x="5238446" y="4028441"/>
                  </a:lnTo>
                  <a:lnTo>
                    <a:pt x="5268826" y="3994553"/>
                  </a:lnTo>
                  <a:lnTo>
                    <a:pt x="5295386" y="3957469"/>
                  </a:lnTo>
                  <a:lnTo>
                    <a:pt x="5317816" y="3917499"/>
                  </a:lnTo>
                  <a:lnTo>
                    <a:pt x="5335803" y="3874955"/>
                  </a:lnTo>
                  <a:lnTo>
                    <a:pt x="5349036" y="3830148"/>
                  </a:lnTo>
                  <a:lnTo>
                    <a:pt x="5357204" y="3783391"/>
                  </a:lnTo>
                  <a:lnTo>
                    <a:pt x="5359996" y="3734993"/>
                  </a:lnTo>
                  <a:lnTo>
                    <a:pt x="5359996" y="414997"/>
                  </a:lnTo>
                  <a:lnTo>
                    <a:pt x="5357204" y="366600"/>
                  </a:lnTo>
                  <a:lnTo>
                    <a:pt x="5349036" y="319842"/>
                  </a:lnTo>
                  <a:lnTo>
                    <a:pt x="5335803" y="275036"/>
                  </a:lnTo>
                  <a:lnTo>
                    <a:pt x="5317816" y="232492"/>
                  </a:lnTo>
                  <a:lnTo>
                    <a:pt x="5295386" y="192522"/>
                  </a:lnTo>
                  <a:lnTo>
                    <a:pt x="5268826" y="155437"/>
                  </a:lnTo>
                  <a:lnTo>
                    <a:pt x="5238446" y="121550"/>
                  </a:lnTo>
                  <a:lnTo>
                    <a:pt x="5204558" y="91170"/>
                  </a:lnTo>
                  <a:lnTo>
                    <a:pt x="5167474" y="64610"/>
                  </a:lnTo>
                  <a:lnTo>
                    <a:pt x="5127504" y="42180"/>
                  </a:lnTo>
                  <a:lnTo>
                    <a:pt x="5084960" y="24193"/>
                  </a:lnTo>
                  <a:lnTo>
                    <a:pt x="5040154" y="10960"/>
                  </a:lnTo>
                  <a:lnTo>
                    <a:pt x="4993396" y="2791"/>
                  </a:lnTo>
                  <a:lnTo>
                    <a:pt x="4944999" y="0"/>
                  </a:lnTo>
                  <a:close/>
                </a:path>
              </a:pathLst>
            </a:custGeom>
            <a:solidFill>
              <a:srgbClr val="15281F">
                <a:alpha val="6196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269999" y="1360003"/>
              <a:ext cx="5360035" cy="4150360"/>
            </a:xfrm>
            <a:custGeom>
              <a:avLst/>
              <a:gdLst/>
              <a:ahLst/>
              <a:cxnLst/>
              <a:rect l="l" t="t" r="r" b="b"/>
              <a:pathLst>
                <a:path w="5360034" h="4150360">
                  <a:moveTo>
                    <a:pt x="0" y="414997"/>
                  </a:moveTo>
                  <a:lnTo>
                    <a:pt x="2791" y="366600"/>
                  </a:lnTo>
                  <a:lnTo>
                    <a:pt x="10960" y="319842"/>
                  </a:lnTo>
                  <a:lnTo>
                    <a:pt x="24193" y="275036"/>
                  </a:lnTo>
                  <a:lnTo>
                    <a:pt x="42180" y="232492"/>
                  </a:lnTo>
                  <a:lnTo>
                    <a:pt x="64610" y="192522"/>
                  </a:lnTo>
                  <a:lnTo>
                    <a:pt x="91170" y="155437"/>
                  </a:lnTo>
                  <a:lnTo>
                    <a:pt x="121550" y="121550"/>
                  </a:lnTo>
                  <a:lnTo>
                    <a:pt x="155437" y="91170"/>
                  </a:lnTo>
                  <a:lnTo>
                    <a:pt x="192522" y="64610"/>
                  </a:lnTo>
                  <a:lnTo>
                    <a:pt x="232492" y="42180"/>
                  </a:lnTo>
                  <a:lnTo>
                    <a:pt x="275036" y="24193"/>
                  </a:lnTo>
                  <a:lnTo>
                    <a:pt x="319842" y="10960"/>
                  </a:lnTo>
                  <a:lnTo>
                    <a:pt x="366600" y="2791"/>
                  </a:lnTo>
                  <a:lnTo>
                    <a:pt x="414997" y="0"/>
                  </a:lnTo>
                  <a:lnTo>
                    <a:pt x="4944999" y="0"/>
                  </a:lnTo>
                  <a:lnTo>
                    <a:pt x="4993396" y="2791"/>
                  </a:lnTo>
                  <a:lnTo>
                    <a:pt x="5040154" y="10960"/>
                  </a:lnTo>
                  <a:lnTo>
                    <a:pt x="5084960" y="24193"/>
                  </a:lnTo>
                  <a:lnTo>
                    <a:pt x="5127504" y="42180"/>
                  </a:lnTo>
                  <a:lnTo>
                    <a:pt x="5167474" y="64610"/>
                  </a:lnTo>
                  <a:lnTo>
                    <a:pt x="5204558" y="91170"/>
                  </a:lnTo>
                  <a:lnTo>
                    <a:pt x="5238446" y="121550"/>
                  </a:lnTo>
                  <a:lnTo>
                    <a:pt x="5268826" y="155437"/>
                  </a:lnTo>
                  <a:lnTo>
                    <a:pt x="5295386" y="192522"/>
                  </a:lnTo>
                  <a:lnTo>
                    <a:pt x="5317816" y="232492"/>
                  </a:lnTo>
                  <a:lnTo>
                    <a:pt x="5335803" y="275036"/>
                  </a:lnTo>
                  <a:lnTo>
                    <a:pt x="5349036" y="319842"/>
                  </a:lnTo>
                  <a:lnTo>
                    <a:pt x="5357204" y="366600"/>
                  </a:lnTo>
                  <a:lnTo>
                    <a:pt x="5359996" y="414997"/>
                  </a:lnTo>
                  <a:lnTo>
                    <a:pt x="5359996" y="3734993"/>
                  </a:lnTo>
                  <a:lnTo>
                    <a:pt x="5357204" y="3783391"/>
                  </a:lnTo>
                  <a:lnTo>
                    <a:pt x="5349036" y="3830148"/>
                  </a:lnTo>
                  <a:lnTo>
                    <a:pt x="5335803" y="3874955"/>
                  </a:lnTo>
                  <a:lnTo>
                    <a:pt x="5317816" y="3917499"/>
                  </a:lnTo>
                  <a:lnTo>
                    <a:pt x="5295386" y="3957469"/>
                  </a:lnTo>
                  <a:lnTo>
                    <a:pt x="5268826" y="3994553"/>
                  </a:lnTo>
                  <a:lnTo>
                    <a:pt x="5238446" y="4028441"/>
                  </a:lnTo>
                  <a:lnTo>
                    <a:pt x="5204558" y="4058821"/>
                  </a:lnTo>
                  <a:lnTo>
                    <a:pt x="5167474" y="4085381"/>
                  </a:lnTo>
                  <a:lnTo>
                    <a:pt x="5127504" y="4107810"/>
                  </a:lnTo>
                  <a:lnTo>
                    <a:pt x="5084960" y="4125797"/>
                  </a:lnTo>
                  <a:lnTo>
                    <a:pt x="5040154" y="4139031"/>
                  </a:lnTo>
                  <a:lnTo>
                    <a:pt x="4993396" y="4147199"/>
                  </a:lnTo>
                  <a:lnTo>
                    <a:pt x="4944999" y="4149991"/>
                  </a:lnTo>
                  <a:lnTo>
                    <a:pt x="414997" y="4149991"/>
                  </a:lnTo>
                  <a:lnTo>
                    <a:pt x="366600" y="4147199"/>
                  </a:lnTo>
                  <a:lnTo>
                    <a:pt x="319842" y="4139031"/>
                  </a:lnTo>
                  <a:lnTo>
                    <a:pt x="275036" y="4125797"/>
                  </a:lnTo>
                  <a:lnTo>
                    <a:pt x="232492" y="4107810"/>
                  </a:lnTo>
                  <a:lnTo>
                    <a:pt x="192522" y="4085381"/>
                  </a:lnTo>
                  <a:lnTo>
                    <a:pt x="155437" y="4058821"/>
                  </a:lnTo>
                  <a:lnTo>
                    <a:pt x="121550" y="4028441"/>
                  </a:lnTo>
                  <a:lnTo>
                    <a:pt x="91170" y="3994553"/>
                  </a:lnTo>
                  <a:lnTo>
                    <a:pt x="64610" y="3957469"/>
                  </a:lnTo>
                  <a:lnTo>
                    <a:pt x="42180" y="3917499"/>
                  </a:lnTo>
                  <a:lnTo>
                    <a:pt x="24193" y="3874955"/>
                  </a:lnTo>
                  <a:lnTo>
                    <a:pt x="10960" y="3830148"/>
                  </a:lnTo>
                  <a:lnTo>
                    <a:pt x="2791" y="3783391"/>
                  </a:lnTo>
                  <a:lnTo>
                    <a:pt x="0" y="3734993"/>
                  </a:lnTo>
                  <a:lnTo>
                    <a:pt x="0" y="414997"/>
                  </a:lnTo>
                  <a:close/>
                </a:path>
              </a:pathLst>
            </a:custGeom>
            <a:ln w="22224">
              <a:solidFill>
                <a:srgbClr val="FF574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608740" y="1461430"/>
            <a:ext cx="4683125" cy="203073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800" spc="55" b="1">
                <a:solidFill>
                  <a:srgbClr val="FF574A"/>
                </a:solidFill>
                <a:latin typeface="Cambria"/>
                <a:cs typeface="Cambria"/>
              </a:rPr>
              <a:t>LITTLE-</a:t>
            </a:r>
            <a:r>
              <a:rPr dirty="0" sz="1800" spc="170" b="1">
                <a:solidFill>
                  <a:srgbClr val="FF574A"/>
                </a:solidFill>
                <a:latin typeface="Cambria"/>
                <a:cs typeface="Cambria"/>
              </a:rPr>
              <a:t>ENDIAN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  <a:tabLst>
                <a:tab pos="312420" algn="l"/>
              </a:tabLst>
            </a:pPr>
            <a:r>
              <a:rPr dirty="0" sz="1300" spc="-50">
                <a:solidFill>
                  <a:srgbClr val="FF574A"/>
                </a:solidFill>
                <a:latin typeface="Microsoft Sans Serif"/>
                <a:cs typeface="Microsoft Sans Serif"/>
              </a:rPr>
              <a:t>→</a:t>
            </a:r>
            <a:r>
              <a:rPr dirty="0" sz="1300">
                <a:solidFill>
                  <a:srgbClr val="FF574A"/>
                </a:solidFill>
                <a:latin typeface="Microsoft Sans Serif"/>
                <a:cs typeface="Microsoft Sans Serif"/>
              </a:rPr>
              <a:t>	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45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stored</a:t>
            </a:r>
            <a:r>
              <a:rPr dirty="0" sz="145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as</a:t>
            </a:r>
            <a:r>
              <a:rPr dirty="0" sz="145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140" b="1">
                <a:solidFill>
                  <a:srgbClr val="FFFFFF"/>
                </a:solidFill>
                <a:latin typeface="Cambria"/>
                <a:cs typeface="Cambria"/>
              </a:rPr>
              <a:t>78</a:t>
            </a:r>
            <a:r>
              <a:rPr dirty="0" sz="145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140" b="1">
                <a:solidFill>
                  <a:srgbClr val="FFFFFF"/>
                </a:solidFill>
                <a:latin typeface="Cambria"/>
                <a:cs typeface="Cambria"/>
              </a:rPr>
              <a:t>56</a:t>
            </a:r>
            <a:r>
              <a:rPr dirty="0" sz="1450" spc="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140" b="1">
                <a:solidFill>
                  <a:srgbClr val="FFFFFF"/>
                </a:solidFill>
                <a:latin typeface="Cambria"/>
                <a:cs typeface="Cambria"/>
              </a:rPr>
              <a:t>34</a:t>
            </a:r>
            <a:r>
              <a:rPr dirty="0" sz="1450" spc="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25" b="1">
                <a:solidFill>
                  <a:srgbClr val="FFFFFF"/>
                </a:solidFill>
                <a:latin typeface="Cambria"/>
                <a:cs typeface="Cambria"/>
              </a:rPr>
              <a:t>12</a:t>
            </a:r>
            <a:endParaRPr sz="14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12420" algn="l"/>
              </a:tabLst>
            </a:pPr>
            <a:r>
              <a:rPr dirty="0" sz="1300" spc="-50">
                <a:solidFill>
                  <a:srgbClr val="FF574A"/>
                </a:solidFill>
                <a:latin typeface="Microsoft Sans Serif"/>
                <a:cs typeface="Microsoft Sans Serif"/>
              </a:rPr>
              <a:t>→</a:t>
            </a:r>
            <a:r>
              <a:rPr dirty="0" sz="1300">
                <a:solidFill>
                  <a:srgbClr val="FF574A"/>
                </a:solidFill>
                <a:latin typeface="Microsoft Sans Serif"/>
                <a:cs typeface="Microsoft Sans Serif"/>
              </a:rPr>
              <a:t>	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LSB</a:t>
            </a:r>
            <a:r>
              <a:rPr dirty="0" sz="145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at</a:t>
            </a:r>
            <a:r>
              <a:rPr dirty="0" sz="145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45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lowest</a:t>
            </a:r>
            <a:r>
              <a:rPr dirty="0" sz="145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Cambria"/>
                <a:cs typeface="Cambria"/>
              </a:rPr>
              <a:t>address</a:t>
            </a:r>
            <a:endParaRPr sz="1450">
              <a:latin typeface="Cambria"/>
              <a:cs typeface="Cambria"/>
            </a:endParaRPr>
          </a:p>
          <a:p>
            <a:pPr marL="312420" marR="6985" indent="-300355">
              <a:lnSpc>
                <a:spcPct val="100000"/>
              </a:lnSpc>
              <a:spcBef>
                <a:spcPts val="600"/>
              </a:spcBef>
              <a:tabLst>
                <a:tab pos="312420" algn="l"/>
              </a:tabLst>
            </a:pPr>
            <a:r>
              <a:rPr dirty="0" sz="1300" spc="-50">
                <a:solidFill>
                  <a:srgbClr val="FF574A"/>
                </a:solidFill>
                <a:latin typeface="Microsoft Sans Serif"/>
                <a:cs typeface="Microsoft Sans Serif"/>
              </a:rPr>
              <a:t>→</a:t>
            </a:r>
            <a:r>
              <a:rPr dirty="0" sz="1300">
                <a:solidFill>
                  <a:srgbClr val="FF574A"/>
                </a:solidFill>
                <a:latin typeface="Microsoft Sans Serif"/>
                <a:cs typeface="Microsoft Sans Serif"/>
              </a:rPr>
              <a:t>	</a:t>
            </a:r>
            <a:r>
              <a:rPr dirty="0" sz="1450" spc="55">
                <a:solidFill>
                  <a:srgbClr val="FFFFFF"/>
                </a:solidFill>
                <a:latin typeface="Cambria"/>
                <a:cs typeface="Cambria"/>
              </a:rPr>
              <a:t>Used</a:t>
            </a:r>
            <a:r>
              <a:rPr dirty="0" sz="1450" spc="1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by:</a:t>
            </a:r>
            <a:r>
              <a:rPr dirty="0" sz="145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ambria"/>
                <a:cs typeface="Cambria"/>
              </a:rPr>
              <a:t>Intel</a:t>
            </a:r>
            <a:r>
              <a:rPr dirty="0" sz="1450" spc="2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b="1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450" spc="20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190" b="1">
                <a:solidFill>
                  <a:srgbClr val="FFFFFF"/>
                </a:solidFill>
                <a:latin typeface="Cambria"/>
                <a:cs typeface="Cambria"/>
              </a:rPr>
              <a:t>AMD</a:t>
            </a:r>
            <a:r>
              <a:rPr dirty="0" sz="1450" spc="20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50" b="1">
                <a:solidFill>
                  <a:srgbClr val="FFFFFF"/>
                </a:solidFill>
                <a:latin typeface="Cambria"/>
                <a:cs typeface="Cambria"/>
              </a:rPr>
              <a:t>x86</a:t>
            </a:r>
            <a:r>
              <a:rPr dirty="0" sz="1450" spc="2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310" b="1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dirty="0" sz="1450" spc="2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25" b="1">
                <a:solidFill>
                  <a:srgbClr val="FFFFFF"/>
                </a:solidFill>
                <a:latin typeface="Cambria"/>
                <a:cs typeface="Cambria"/>
              </a:rPr>
              <a:t>x64</a:t>
            </a:r>
            <a:r>
              <a:rPr dirty="0" sz="1450" spc="-25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45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nearly</a:t>
            </a:r>
            <a:r>
              <a:rPr dirty="0" sz="145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all</a:t>
            </a:r>
            <a:r>
              <a:rPr dirty="0" sz="145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100">
                <a:solidFill>
                  <a:srgbClr val="FFFFFF"/>
                </a:solidFill>
                <a:latin typeface="Cambria"/>
                <a:cs typeface="Cambria"/>
              </a:rPr>
              <a:t>ARM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systems</a:t>
            </a:r>
            <a:r>
              <a:rPr dirty="0" sz="145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as</a:t>
            </a:r>
            <a:r>
              <a:rPr dirty="0" sz="145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Cambria"/>
                <a:cs typeface="Cambria"/>
              </a:rPr>
              <a:t>configured</a:t>
            </a:r>
            <a:endParaRPr sz="1450">
              <a:latin typeface="Cambria"/>
              <a:cs typeface="Cambria"/>
            </a:endParaRPr>
          </a:p>
          <a:p>
            <a:pPr marL="313055" marR="5080" indent="-300990">
              <a:lnSpc>
                <a:spcPct val="100699"/>
              </a:lnSpc>
              <a:spcBef>
                <a:spcPts val="590"/>
              </a:spcBef>
              <a:tabLst>
                <a:tab pos="312420" algn="l"/>
              </a:tabLst>
            </a:pPr>
            <a:r>
              <a:rPr dirty="0" sz="1300" spc="-50">
                <a:solidFill>
                  <a:srgbClr val="FF574A"/>
                </a:solidFill>
                <a:latin typeface="Microsoft Sans Serif"/>
                <a:cs typeface="Microsoft Sans Serif"/>
              </a:rPr>
              <a:t>→</a:t>
            </a:r>
            <a:r>
              <a:rPr dirty="0" sz="1300">
                <a:solidFill>
                  <a:srgbClr val="FF574A"/>
                </a:solidFill>
                <a:latin typeface="Microsoft Sans Serif"/>
                <a:cs typeface="Microsoft Sans Serif"/>
              </a:rPr>
              <a:t>	</a:t>
            </a:r>
            <a:r>
              <a:rPr dirty="0" sz="1450" spc="60">
                <a:solidFill>
                  <a:srgbClr val="FFFFFF"/>
                </a:solidFill>
                <a:latin typeface="Cambria"/>
                <a:cs typeface="Cambria"/>
              </a:rPr>
              <a:t>On-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disk</a:t>
            </a:r>
            <a:r>
              <a:rPr dirty="0" sz="1450" spc="3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>
                <a:solidFill>
                  <a:srgbClr val="FFFFFF"/>
                </a:solidFill>
                <a:latin typeface="Cambria"/>
                <a:cs typeface="Cambria"/>
              </a:rPr>
              <a:t>structures:</a:t>
            </a:r>
            <a:r>
              <a:rPr dirty="0" sz="1450" spc="3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80" b="1">
                <a:solidFill>
                  <a:srgbClr val="FFFFFF"/>
                </a:solidFill>
                <a:latin typeface="Cambria"/>
                <a:cs typeface="Cambria"/>
              </a:rPr>
              <a:t>MBR,</a:t>
            </a:r>
            <a:r>
              <a:rPr dirty="0" sz="1450" spc="3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75" b="1">
                <a:solidFill>
                  <a:srgbClr val="FFFFFF"/>
                </a:solidFill>
                <a:latin typeface="Cambria"/>
                <a:cs typeface="Cambria"/>
              </a:rPr>
              <a:t>GPT,</a:t>
            </a:r>
            <a:r>
              <a:rPr dirty="0" sz="1450" spc="3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60" b="1">
                <a:solidFill>
                  <a:srgbClr val="FFFFFF"/>
                </a:solidFill>
                <a:latin typeface="Cambria"/>
                <a:cs typeface="Cambria"/>
              </a:rPr>
              <a:t>FAT,</a:t>
            </a:r>
            <a:r>
              <a:rPr dirty="0" sz="1450" spc="3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90" b="1">
                <a:solidFill>
                  <a:srgbClr val="FFFFFF"/>
                </a:solidFill>
                <a:latin typeface="Cambria"/>
                <a:cs typeface="Cambria"/>
              </a:rPr>
              <a:t>NTFS</a:t>
            </a:r>
            <a:r>
              <a:rPr dirty="0" sz="1450" spc="3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10" b="1">
                <a:solidFill>
                  <a:srgbClr val="FFFFFF"/>
                </a:solidFill>
                <a:latin typeface="Cambria"/>
                <a:cs typeface="Cambria"/>
              </a:rPr>
              <a:t>values </a:t>
            </a:r>
            <a:r>
              <a:rPr dirty="0" sz="1450" spc="-60" b="1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45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50" spc="-20" b="1">
                <a:solidFill>
                  <a:srgbClr val="FFFFFF"/>
                </a:solidFill>
                <a:latin typeface="Cambria"/>
                <a:cs typeface="Cambria"/>
              </a:rPr>
              <a:t>little-</a:t>
            </a:r>
            <a:r>
              <a:rPr dirty="0" sz="1450" spc="-10" b="1">
                <a:solidFill>
                  <a:srgbClr val="FFFFFF"/>
                </a:solidFill>
                <a:latin typeface="Cambria"/>
                <a:cs typeface="Cambria"/>
              </a:rPr>
              <a:t>endian</a:t>
            </a:r>
            <a:endParaRPr sz="1450">
              <a:latin typeface="Cambria"/>
              <a:cs typeface="Cambria"/>
            </a:endParaRPr>
          </a:p>
        </p:txBody>
      </p:sp>
      <p:pic>
        <p:nvPicPr>
          <p:cNvPr id="11" name="object 11" descr="talk-yellow-hex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9685" y="5720003"/>
            <a:ext cx="679538" cy="939995"/>
          </a:xfrm>
          <a:prstGeom prst="rect">
            <a:avLst/>
          </a:prstGeom>
        </p:spPr>
      </p:pic>
      <p:pic>
        <p:nvPicPr>
          <p:cNvPr id="12" name="object 12" descr="smile-blue-circl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4233" y="5720003"/>
            <a:ext cx="764201" cy="939995"/>
          </a:xfrm>
          <a:prstGeom prst="rect">
            <a:avLst/>
          </a:prstGeom>
        </p:spPr>
      </p:pic>
      <p:pic>
        <p:nvPicPr>
          <p:cNvPr id="13" name="object 13" descr="talk-coral-tri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33438" y="5720003"/>
            <a:ext cx="758571" cy="93999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17:40:03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Emphasise: Windows </a:t>
            </a:r>
            <a:r>
              <a:rPr dirty="0" sz="1000" spc="-10">
                <a:latin typeface="Microsoft Sans Serif"/>
                <a:cs typeface="Microsoft Sans Serif"/>
              </a:rPr>
              <a:t>evidence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 overwhelmingly little-</a:t>
            </a:r>
            <a:r>
              <a:rPr dirty="0" sz="1000" spc="-10">
                <a:latin typeface="Microsoft Sans Serif"/>
                <a:cs typeface="Microsoft Sans Serif"/>
              </a:rPr>
              <a:t>endian, </a:t>
            </a:r>
            <a:r>
              <a:rPr dirty="0" sz="1000">
                <a:latin typeface="Microsoft Sans Serif"/>
                <a:cs typeface="Microsoft Sans Serif"/>
              </a:rPr>
              <a:t>network captures are big-</a:t>
            </a:r>
            <a:r>
              <a:rPr dirty="0" sz="1000" spc="-10">
                <a:latin typeface="Microsoft Sans Serif"/>
                <a:cs typeface="Microsoft Sans Serif"/>
              </a:rPr>
              <a:t>endian.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Endianness</a:t>
            </a:r>
            <a:r>
              <a:rPr dirty="0" spc="25"/>
              <a:t> </a:t>
            </a:r>
            <a:r>
              <a:rPr dirty="0"/>
              <a:t>in</a:t>
            </a:r>
            <a:r>
              <a:rPr dirty="0" spc="55"/>
              <a:t> </a:t>
            </a:r>
            <a:r>
              <a:rPr dirty="0" spc="-10"/>
              <a:t>Memory</a:t>
            </a:r>
          </a:p>
        </p:txBody>
      </p:sp>
      <p:pic>
        <p:nvPicPr>
          <p:cNvPr id="3" name="object 3" descr="d1_endian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3886" y="1300000"/>
            <a:ext cx="7803921" cy="41147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99764" y="5499531"/>
            <a:ext cx="63912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Same</a:t>
            </a:r>
            <a:r>
              <a:rPr dirty="0" sz="1200" spc="10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value,</a:t>
            </a:r>
            <a:r>
              <a:rPr dirty="0" sz="1200" spc="8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same</a:t>
            </a:r>
            <a:r>
              <a:rPr dirty="0" sz="1200" spc="11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addresses,</a:t>
            </a:r>
            <a:r>
              <a:rPr dirty="0" sz="1200" spc="14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two</a:t>
            </a:r>
            <a:r>
              <a:rPr dirty="0" sz="1200" spc="8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storage</a:t>
            </a:r>
            <a:r>
              <a:rPr dirty="0" sz="1200" spc="6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orders.</a:t>
            </a:r>
            <a:r>
              <a:rPr dirty="0" sz="1200" spc="8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The</a:t>
            </a:r>
            <a:r>
              <a:rPr dirty="0" sz="1200" spc="11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hex</a:t>
            </a:r>
            <a:r>
              <a:rPr dirty="0" sz="1200" spc="10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editor</a:t>
            </a:r>
            <a:r>
              <a:rPr dirty="0" sz="1200" spc="8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shows</a:t>
            </a:r>
            <a:r>
              <a:rPr dirty="0" sz="1200" spc="10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only</a:t>
            </a:r>
            <a:r>
              <a:rPr dirty="0" sz="1200" spc="8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the</a:t>
            </a:r>
            <a:r>
              <a:rPr dirty="0" sz="1200" spc="7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byte</a:t>
            </a:r>
            <a:r>
              <a:rPr dirty="0" sz="1200" spc="8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 spc="-10">
                <a:solidFill>
                  <a:srgbClr val="B89E87"/>
                </a:solidFill>
                <a:latin typeface="Cambria"/>
                <a:cs typeface="Cambria"/>
              </a:rPr>
              <a:t>sequence.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Two</a:t>
            </a:r>
            <a:r>
              <a:rPr dirty="0" spc="45"/>
              <a:t> </a:t>
            </a:r>
            <a:r>
              <a:rPr dirty="0"/>
              <a:t>Byte</a:t>
            </a:r>
            <a:r>
              <a:rPr dirty="0" spc="45"/>
              <a:t> </a:t>
            </a:r>
            <a:r>
              <a:rPr dirty="0"/>
              <a:t>Orders,</a:t>
            </a:r>
            <a:r>
              <a:rPr dirty="0" spc="40"/>
              <a:t> </a:t>
            </a:r>
            <a:r>
              <a:rPr dirty="0" spc="-10"/>
              <a:t>Watched</a:t>
            </a:r>
          </a:p>
        </p:txBody>
      </p:sp>
      <p:pic>
        <p:nvPicPr>
          <p:cNvPr id="3" name="object 3" descr="a_endian.gif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816" y="1240002"/>
            <a:ext cx="10364049" cy="444397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16984" y="5768716"/>
            <a:ext cx="51581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5">
                <a:solidFill>
                  <a:srgbClr val="B89E87"/>
                </a:solidFill>
                <a:latin typeface="Cambria"/>
                <a:cs typeface="Cambria"/>
              </a:rPr>
              <a:t>0x12345678</a:t>
            </a:r>
            <a:r>
              <a:rPr dirty="0" sz="1200" spc="114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into</a:t>
            </a:r>
            <a:r>
              <a:rPr dirty="0" sz="1200" spc="10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memory</a:t>
            </a:r>
            <a:r>
              <a:rPr dirty="0" sz="1200" spc="10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both</a:t>
            </a:r>
            <a:r>
              <a:rPr dirty="0" sz="1200" spc="9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ways,</a:t>
            </a:r>
            <a:r>
              <a:rPr dirty="0" sz="1200" spc="114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and</a:t>
            </a:r>
            <a:r>
              <a:rPr dirty="0" sz="1200" spc="13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the</a:t>
            </a:r>
            <a:r>
              <a:rPr dirty="0" sz="1200" spc="114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value</a:t>
            </a:r>
            <a:r>
              <a:rPr dirty="0" sz="1200" spc="9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you</a:t>
            </a:r>
            <a:r>
              <a:rPr dirty="0" sz="1200" spc="10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get</a:t>
            </a:r>
            <a:r>
              <a:rPr dirty="0" sz="1200" spc="10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if</a:t>
            </a:r>
            <a:r>
              <a:rPr dirty="0" sz="1200" spc="11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you</a:t>
            </a:r>
            <a:r>
              <a:rPr dirty="0" sz="1200" spc="9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misread</a:t>
            </a:r>
            <a:r>
              <a:rPr dirty="0" sz="1200" spc="13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 spc="-25">
                <a:solidFill>
                  <a:srgbClr val="B89E87"/>
                </a:solidFill>
                <a:latin typeface="Cambria"/>
                <a:cs typeface="Cambria"/>
              </a:rPr>
              <a:t>it.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17:40:05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two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decimal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numbers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end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are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payoff: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305,419,896 </a:t>
            </a:r>
            <a:r>
              <a:rPr dirty="0" sz="1000">
                <a:latin typeface="Microsoft Sans Serif"/>
                <a:cs typeface="Microsoft Sans Serif"/>
              </a:rPr>
              <a:t>against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2,018,915,346,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from </a:t>
            </a:r>
            <a:r>
              <a:rPr dirty="0" sz="1000">
                <a:latin typeface="Microsoft Sans Serif"/>
                <a:cs typeface="Microsoft Sans Serif"/>
              </a:rPr>
              <a:t>identical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bytes.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connect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it </a:t>
            </a:r>
            <a:r>
              <a:rPr dirty="0" sz="1000">
                <a:latin typeface="Microsoft Sans Serif"/>
                <a:cs typeface="Microsoft Sans Serif"/>
              </a:rPr>
              <a:t>forward: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interpreted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Unix </a:t>
            </a:r>
            <a:r>
              <a:rPr dirty="0" sz="1000">
                <a:latin typeface="Microsoft Sans Serif"/>
                <a:cs typeface="Microsoft Sans Serif"/>
              </a:rPr>
              <a:t>timestamp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those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two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numbers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are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34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years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apart.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order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 </a:t>
            </a:r>
            <a:r>
              <a:rPr dirty="0" sz="1000">
                <a:latin typeface="Microsoft Sans Serif"/>
                <a:cs typeface="Microsoft Sans Serif"/>
              </a:rPr>
              <a:t>not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formatting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detail,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difference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between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two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different findings.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Reading</a:t>
            </a:r>
            <a:r>
              <a:rPr dirty="0" spc="125"/>
              <a:t> </a:t>
            </a:r>
            <a:r>
              <a:rPr dirty="0" spc="70"/>
              <a:t>Multi-</a:t>
            </a:r>
            <a:r>
              <a:rPr dirty="0"/>
              <a:t>Byte</a:t>
            </a:r>
            <a:r>
              <a:rPr dirty="0" spc="145"/>
              <a:t> </a:t>
            </a:r>
            <a:r>
              <a:rPr dirty="0"/>
              <a:t>Values</a:t>
            </a:r>
            <a:r>
              <a:rPr dirty="0" spc="125"/>
              <a:t> </a:t>
            </a:r>
            <a:r>
              <a:rPr dirty="0" spc="55"/>
              <a:t>by</a:t>
            </a:r>
            <a:r>
              <a:rPr dirty="0" spc="175"/>
              <a:t> </a:t>
            </a:r>
            <a:r>
              <a:rPr dirty="0" spc="40"/>
              <a:t>Hand</a:t>
            </a:r>
          </a:p>
        </p:txBody>
      </p:sp>
      <p:pic>
        <p:nvPicPr>
          <p:cNvPr id="3" name="object 3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7340" y="1503875"/>
            <a:ext cx="52832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hex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editor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shows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these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bytes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at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some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offset: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58040" y="1503875"/>
            <a:ext cx="12827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DD41"/>
                </a:solidFill>
                <a:latin typeface="Courier New"/>
                <a:cs typeface="Courier New"/>
              </a:rPr>
              <a:t>00</a:t>
            </a:r>
            <a:r>
              <a:rPr dirty="0" sz="1500" spc="-10" b="1">
                <a:solidFill>
                  <a:srgbClr val="FFDD41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FFDD41"/>
                </a:solidFill>
                <a:latin typeface="Courier New"/>
                <a:cs typeface="Courier New"/>
              </a:rPr>
              <a:t>08</a:t>
            </a:r>
            <a:r>
              <a:rPr dirty="0" sz="1500" spc="-10" b="1">
                <a:solidFill>
                  <a:srgbClr val="FFDD41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FFDD41"/>
                </a:solidFill>
                <a:latin typeface="Courier New"/>
                <a:cs typeface="Courier New"/>
              </a:rPr>
              <a:t>00</a:t>
            </a:r>
            <a:r>
              <a:rPr dirty="0" sz="1500" spc="-10" b="1">
                <a:solidFill>
                  <a:srgbClr val="FFDD41"/>
                </a:solidFill>
                <a:latin typeface="Courier New"/>
                <a:cs typeface="Courier New"/>
              </a:rPr>
              <a:t> </a:t>
            </a:r>
            <a:r>
              <a:rPr dirty="0" sz="1500" spc="-25" b="1">
                <a:solidFill>
                  <a:srgbClr val="FFDD41"/>
                </a:solidFill>
                <a:latin typeface="Courier New"/>
                <a:cs typeface="Courier New"/>
              </a:rPr>
              <a:t>00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7340" y="1979363"/>
            <a:ext cx="6540500" cy="224790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read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as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32-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bit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 b="1">
                <a:solidFill>
                  <a:srgbClr val="5FDEEE"/>
                </a:solidFill>
                <a:latin typeface="Courier New"/>
                <a:cs typeface="Courier New"/>
              </a:rPr>
              <a:t>little-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endian</a:t>
            </a:r>
            <a:r>
              <a:rPr dirty="0" sz="1500" spc="-1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(reverse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bytes):</a:t>
            </a:r>
            <a:endParaRPr sz="15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4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00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00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08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00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→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0x00000800</a:t>
            </a:r>
            <a:r>
              <a:rPr dirty="0" sz="1500" spc="-5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500" spc="-20" b="1">
                <a:solidFill>
                  <a:srgbClr val="FFFFFF"/>
                </a:solidFill>
                <a:latin typeface="Courier New"/>
                <a:cs typeface="Courier New"/>
              </a:rPr>
              <a:t>2048</a:t>
            </a:r>
            <a:endParaRPr sz="15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45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(a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very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common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partition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starting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sector)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read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as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32-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bit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 b="1">
                <a:solidFill>
                  <a:srgbClr val="5FDEEE"/>
                </a:solidFill>
                <a:latin typeface="Courier New"/>
                <a:cs typeface="Courier New"/>
              </a:rPr>
              <a:t>big-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endian</a:t>
            </a:r>
            <a:r>
              <a:rPr dirty="0" sz="1500" spc="-1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(as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printed):</a:t>
            </a:r>
            <a:endParaRPr sz="15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45"/>
              </a:spcBef>
              <a:tabLst>
                <a:tab pos="3326765" algn="l"/>
              </a:tabLst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0x00080000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524,288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	...a</a:t>
            </a:r>
            <a:r>
              <a:rPr dirty="0" sz="1500" spc="-4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wildly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different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number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500">
              <a:latin typeface="Courier New"/>
              <a:cs typeface="Courier New"/>
            </a:endParaRPr>
          </a:p>
          <a:p>
            <a:pPr marL="12700" marR="1033780">
              <a:lnSpc>
                <a:spcPct val="108000"/>
              </a:lnSpc>
              <a:spcBef>
                <a:spcPts val="5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same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four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bytes,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two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interpretations: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format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specification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decides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which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one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is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true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720001"/>
            <a:ext cx="11429996" cy="4817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739" y="1082540"/>
            <a:ext cx="4868545" cy="42227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Endianness: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 spc="-30"/>
              <a:t>Forensic</a:t>
            </a:r>
            <a:r>
              <a:rPr dirty="0" spc="-40"/>
              <a:t> </a:t>
            </a:r>
            <a:r>
              <a:rPr dirty="0" spc="65"/>
              <a:t>Angle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843" y="1779304"/>
            <a:ext cx="10222865" cy="2159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 marR="5080" indent="-360045">
              <a:lnSpc>
                <a:spcPct val="100000"/>
              </a:lnSpc>
              <a:spcBef>
                <a:spcPts val="1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Partition</a:t>
            </a:r>
            <a:r>
              <a:rPr dirty="0" sz="1500" spc="2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tables,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FAT</a:t>
            </a:r>
            <a:r>
              <a:rPr dirty="0" sz="1500" spc="2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NTFS</a:t>
            </a:r>
            <a:r>
              <a:rPr dirty="0" sz="1500" spc="2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metadata,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registry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data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Windows</a:t>
            </a:r>
            <a:r>
              <a:rPr dirty="0" sz="1500" spc="22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timestamps</a:t>
            </a:r>
            <a:r>
              <a:rPr dirty="0" sz="1500" spc="2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stored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little-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endian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reverse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5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before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converting.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Network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packet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captures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use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big-endian</a:t>
            </a:r>
            <a:r>
              <a:rPr dirty="0" sz="1500" spc="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fields;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PNG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JPEG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internal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lengths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big-endian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too.</a:t>
            </a:r>
            <a:endParaRPr sz="1500">
              <a:latin typeface="Cambria"/>
              <a:cs typeface="Cambria"/>
            </a:endParaRPr>
          </a:p>
          <a:p>
            <a:pPr marL="372110" marR="6350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EXIF</a:t>
            </a:r>
            <a:r>
              <a:rPr dirty="0" sz="1500" spc="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0" b="1">
                <a:solidFill>
                  <a:srgbClr val="FFFFFF"/>
                </a:solidFill>
                <a:latin typeface="Cambria"/>
                <a:cs typeface="Cambria"/>
              </a:rPr>
              <a:t>metadata</a:t>
            </a:r>
            <a:r>
              <a:rPr dirty="0" sz="1500" spc="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0" b="1">
                <a:solidFill>
                  <a:srgbClr val="FFFFFF"/>
                </a:solidFill>
                <a:latin typeface="Cambria"/>
                <a:cs typeface="Cambria"/>
              </a:rPr>
              <a:t>declares</a:t>
            </a:r>
            <a:r>
              <a:rPr dirty="0" sz="1500" spc="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its</a:t>
            </a:r>
            <a:r>
              <a:rPr dirty="0" sz="1500" spc="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own</a:t>
            </a:r>
            <a:r>
              <a:rPr dirty="0" sz="1500" spc="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5" b="1">
                <a:solidFill>
                  <a:srgbClr val="FFFFFF"/>
                </a:solidFill>
                <a:latin typeface="Cambria"/>
                <a:cs typeface="Cambria"/>
              </a:rPr>
              <a:t>order</a:t>
            </a:r>
            <a:r>
              <a:rPr dirty="0" sz="1500" spc="-35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TIFF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header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starting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 b="1">
                <a:solidFill>
                  <a:srgbClr val="FFFFFF"/>
                </a:solidFill>
                <a:latin typeface="Cambria"/>
                <a:cs typeface="Cambria"/>
              </a:rPr>
              <a:t>II</a:t>
            </a:r>
            <a:r>
              <a:rPr dirty="0" sz="1500" spc="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5">
                <a:solidFill>
                  <a:srgbClr val="FFFFFF"/>
                </a:solidFill>
                <a:latin typeface="Cambria"/>
                <a:cs typeface="Cambria"/>
              </a:rPr>
              <a:t>(0x49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0">
                <a:solidFill>
                  <a:srgbClr val="FFFFFF"/>
                </a:solidFill>
                <a:latin typeface="Cambria"/>
                <a:cs typeface="Cambria"/>
              </a:rPr>
              <a:t>0x49)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little-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endian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(Intel),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215" b="1">
                <a:solidFill>
                  <a:srgbClr val="FFFFFF"/>
                </a:solidFill>
                <a:latin typeface="Cambria"/>
                <a:cs typeface="Cambria"/>
              </a:rPr>
              <a:t>MM</a:t>
            </a:r>
            <a:r>
              <a:rPr dirty="0" sz="1500" spc="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(0x4D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0x4D)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big-endian</a:t>
            </a:r>
            <a:r>
              <a:rPr dirty="0" sz="15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(Motorola).</a:t>
            </a:r>
            <a:endParaRPr sz="1500">
              <a:latin typeface="Cambria"/>
              <a:cs typeface="Cambria"/>
            </a:endParaRPr>
          </a:p>
          <a:p>
            <a:pPr marL="372110" marR="5080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Forensic</a:t>
            </a:r>
            <a:r>
              <a:rPr dirty="0" sz="1500" spc="1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suites</a:t>
            </a:r>
            <a:r>
              <a:rPr dirty="0" sz="1500" spc="20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convert</a:t>
            </a:r>
            <a:r>
              <a:rPr dirty="0" sz="1500" spc="1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automatically,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but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manual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carving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hex-level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verification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not: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you</a:t>
            </a:r>
            <a:r>
              <a:rPr dirty="0" sz="1500" spc="2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1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endianness engine.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Rule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thumb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Windows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disk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evidence: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0" b="1">
                <a:solidFill>
                  <a:srgbClr val="FFFFFF"/>
                </a:solidFill>
                <a:latin typeface="Cambria"/>
                <a:cs typeface="Cambria"/>
              </a:rPr>
              <a:t>read</a:t>
            </a:r>
            <a:r>
              <a:rPr dirty="0" sz="1500" spc="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8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500" spc="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right</a:t>
            </a:r>
            <a:r>
              <a:rPr dirty="0" sz="1500" spc="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left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</p:txBody>
      </p:sp>
      <p:pic>
        <p:nvPicPr>
          <p:cNvPr id="5" name="object 5" descr="smile-yellow-pent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37764" y="5759999"/>
            <a:ext cx="713125" cy="919997"/>
          </a:xfrm>
          <a:prstGeom prst="rect">
            <a:avLst/>
          </a:prstGeom>
        </p:spPr>
      </p:pic>
      <p:pic>
        <p:nvPicPr>
          <p:cNvPr id="6" name="object 6" descr="smile-blue-circle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5899" y="5759999"/>
            <a:ext cx="747941" cy="919997"/>
          </a:xfrm>
          <a:prstGeom prst="rect">
            <a:avLst/>
          </a:prstGeom>
        </p:spPr>
      </p:pic>
      <p:pic>
        <p:nvPicPr>
          <p:cNvPr id="7" name="object 7" descr="smile-green-hex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88848" y="5759999"/>
            <a:ext cx="665073" cy="91999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17:40:07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Show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real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MBR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hex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editor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decode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partition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start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LBA </a:t>
            </a:r>
            <a:r>
              <a:rPr dirty="0" sz="1000">
                <a:latin typeface="Microsoft Sans Serif"/>
                <a:cs typeface="Microsoft Sans Serif"/>
              </a:rPr>
              <a:t>live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if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time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permits;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same </a:t>
            </a:r>
            <a:r>
              <a:rPr dirty="0" sz="1000">
                <a:latin typeface="Microsoft Sans Serif"/>
                <a:cs typeface="Microsoft Sans Serif"/>
              </a:rPr>
              <a:t>exercise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returns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Session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3.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Every</a:t>
            </a:r>
            <a:r>
              <a:rPr dirty="0" spc="10"/>
              <a:t> </a:t>
            </a:r>
            <a:r>
              <a:rPr dirty="0"/>
              <a:t>Timestamp Is</a:t>
            </a:r>
            <a:r>
              <a:rPr dirty="0" spc="15"/>
              <a:t> </a:t>
            </a:r>
            <a:r>
              <a:rPr dirty="0"/>
              <a:t>Just</a:t>
            </a:r>
            <a:r>
              <a:rPr dirty="0" spc="20"/>
              <a:t> </a:t>
            </a:r>
            <a:r>
              <a:rPr dirty="0"/>
              <a:t>a</a:t>
            </a:r>
            <a:r>
              <a:rPr dirty="0" spc="15"/>
              <a:t> </a:t>
            </a:r>
            <a:r>
              <a:rPr dirty="0" spc="-10"/>
              <a:t>Number</a:t>
            </a:r>
          </a:p>
        </p:txBody>
      </p:sp>
      <p:pic>
        <p:nvPicPr>
          <p:cNvPr id="3" name="object 3" descr="u1_timestamps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828" y="1240002"/>
            <a:ext cx="10310037" cy="44439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30572" y="5768716"/>
            <a:ext cx="4131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Six</a:t>
            </a:r>
            <a:r>
              <a:rPr dirty="0" sz="1200" spc="9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formats,</a:t>
            </a:r>
            <a:r>
              <a:rPr dirty="0" sz="1200" spc="9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four</a:t>
            </a:r>
            <a:r>
              <a:rPr dirty="0" sz="1200" spc="8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epochs,</a:t>
            </a:r>
            <a:r>
              <a:rPr dirty="0" sz="1200" spc="114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and</a:t>
            </a:r>
            <a:r>
              <a:rPr dirty="0" sz="1200" spc="10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the</a:t>
            </a:r>
            <a:r>
              <a:rPr dirty="0" sz="1200" spc="7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two</a:t>
            </a:r>
            <a:r>
              <a:rPr dirty="0" sz="1200" spc="8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 spc="-10">
                <a:solidFill>
                  <a:srgbClr val="B89E87"/>
                </a:solidFill>
                <a:latin typeface="Cambria"/>
                <a:cs typeface="Cambria"/>
              </a:rPr>
              <a:t>errors</a:t>
            </a:r>
            <a:r>
              <a:rPr dirty="0" sz="1200" spc="5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each</a:t>
            </a:r>
            <a:r>
              <a:rPr dirty="0" sz="1200" spc="114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one</a:t>
            </a:r>
            <a:r>
              <a:rPr dirty="0" sz="1200" spc="7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 spc="-10">
                <a:solidFill>
                  <a:srgbClr val="B89E87"/>
                </a:solidFill>
                <a:latin typeface="Cambria"/>
                <a:cs typeface="Cambria"/>
              </a:rPr>
              <a:t>invites.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17:40:08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This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single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most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useful </a:t>
            </a:r>
            <a:r>
              <a:rPr dirty="0" sz="1000">
                <a:latin typeface="Microsoft Sans Serif"/>
                <a:cs typeface="Microsoft Sans Serif"/>
              </a:rPr>
              <a:t>reference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slide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session. </a:t>
            </a:r>
            <a:r>
              <a:rPr dirty="0" sz="1000">
                <a:latin typeface="Microsoft Sans Serif"/>
                <a:cs typeface="Microsoft Sans Serif"/>
              </a:rPr>
              <a:t>Two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errors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produce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plausible </a:t>
            </a:r>
            <a:r>
              <a:rPr dirty="0" sz="1000">
                <a:latin typeface="Microsoft Sans Serif"/>
                <a:cs typeface="Microsoft Sans Serif"/>
              </a:rPr>
              <a:t>wrong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dates: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wrong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epoch,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wrong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order.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Both </a:t>
            </a:r>
            <a:r>
              <a:rPr dirty="0" sz="1000">
                <a:latin typeface="Microsoft Sans Serif"/>
                <a:cs typeface="Microsoft Sans Serif"/>
              </a:rPr>
              <a:t>give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you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date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looks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like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 </a:t>
            </a:r>
            <a:r>
              <a:rPr dirty="0" sz="1000">
                <a:latin typeface="Microsoft Sans Serif"/>
                <a:cs typeface="Microsoft Sans Serif"/>
              </a:rPr>
              <a:t>date.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defence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against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both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last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line: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record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raw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hex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your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notes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alongside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rendered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date,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so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interpretation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can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checked later.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78739" y="993167"/>
            <a:ext cx="1202055" cy="16109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400" spc="-630">
                <a:solidFill>
                  <a:srgbClr val="FFDD41"/>
                </a:solidFill>
                <a:latin typeface="Times New Roman"/>
                <a:cs typeface="Times New Roman"/>
              </a:rPr>
              <a:t>05</a:t>
            </a:r>
            <a:endParaRPr sz="10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33740" y="1427924"/>
            <a:ext cx="6557645" cy="93853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365"/>
              </a:spcBef>
            </a:pPr>
            <a:r>
              <a:rPr dirty="0" sz="1300" spc="55" b="1">
                <a:solidFill>
                  <a:srgbClr val="5FDEEE"/>
                </a:solidFill>
                <a:latin typeface="Cambria"/>
                <a:cs typeface="Cambria"/>
              </a:rPr>
              <a:t>PART</a:t>
            </a:r>
            <a:r>
              <a:rPr dirty="0" sz="1300" spc="50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-140" b="1">
                <a:solidFill>
                  <a:srgbClr val="5FDEEE"/>
                </a:solidFill>
                <a:latin typeface="Cambria"/>
                <a:cs typeface="Cambria"/>
              </a:rPr>
              <a:t>5</a:t>
            </a:r>
            <a:r>
              <a:rPr dirty="0" sz="1300" spc="40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85" b="1">
                <a:solidFill>
                  <a:srgbClr val="5FDEEE"/>
                </a:solidFill>
                <a:latin typeface="Cambria"/>
                <a:cs typeface="Cambria"/>
              </a:rPr>
              <a:t>OF</a:t>
            </a:r>
            <a:r>
              <a:rPr dirty="0" sz="1300" spc="55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-135" b="1">
                <a:solidFill>
                  <a:srgbClr val="5FDEEE"/>
                </a:solidFill>
                <a:latin typeface="Cambria"/>
                <a:cs typeface="Cambria"/>
              </a:rPr>
              <a:t>5</a:t>
            </a:r>
            <a:r>
              <a:rPr dirty="0" sz="1300" spc="50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65" b="1">
                <a:solidFill>
                  <a:srgbClr val="5FDEEE"/>
                </a:solidFill>
                <a:latin typeface="Cambria"/>
                <a:cs typeface="Cambria"/>
              </a:rPr>
              <a:t>·</a:t>
            </a:r>
            <a:r>
              <a:rPr dirty="0" sz="1300" spc="45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110" b="1">
                <a:solidFill>
                  <a:srgbClr val="5FDEEE"/>
                </a:solidFill>
                <a:latin typeface="Cambria"/>
                <a:cs typeface="Cambria"/>
              </a:rPr>
              <a:t>CHARACTER</a:t>
            </a:r>
            <a:r>
              <a:rPr dirty="0" sz="1300" spc="75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1300" spc="140" b="1">
                <a:solidFill>
                  <a:srgbClr val="5FDEEE"/>
                </a:solidFill>
                <a:latin typeface="Cambria"/>
                <a:cs typeface="Cambria"/>
              </a:rPr>
              <a:t>ENCODING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3800" spc="135" b="1">
                <a:solidFill>
                  <a:srgbClr val="FFFFFF"/>
                </a:solidFill>
                <a:latin typeface="Times New Roman"/>
                <a:cs typeface="Times New Roman"/>
              </a:rPr>
              <a:t>ASCII</a:t>
            </a:r>
            <a:r>
              <a:rPr dirty="0" sz="38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800" spc="204" b="1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38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800" b="1">
                <a:solidFill>
                  <a:srgbClr val="FFFFFF"/>
                </a:solidFill>
                <a:latin typeface="Times New Roman"/>
                <a:cs typeface="Times New Roman"/>
              </a:rPr>
              <a:t>Unicode</a:t>
            </a:r>
            <a:r>
              <a:rPr dirty="0" sz="38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800" spc="-10" b="1">
                <a:solidFill>
                  <a:srgbClr val="FFFFFF"/>
                </a:solidFill>
                <a:latin typeface="Times New Roman"/>
                <a:cs typeface="Times New Roman"/>
              </a:rPr>
              <a:t>Encodings</a:t>
            </a:r>
            <a:endParaRPr sz="3800">
              <a:latin typeface="Times New Roman"/>
              <a:cs typeface="Times New Roman"/>
            </a:endParaRPr>
          </a:p>
        </p:txBody>
      </p:sp>
      <p:pic>
        <p:nvPicPr>
          <p:cNvPr id="4" name="object 4" descr="rule-wid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0001" y="3099638"/>
            <a:ext cx="8229993" cy="157993"/>
          </a:xfrm>
          <a:prstGeom prst="rect">
            <a:avLst/>
          </a:prstGeom>
        </p:spPr>
      </p:pic>
      <p:pic>
        <p:nvPicPr>
          <p:cNvPr id="5" name="object 5" descr="talk-cyan-circle-L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30004" y="3759999"/>
            <a:ext cx="2127094" cy="261999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r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999" y="899999"/>
            <a:ext cx="9059999" cy="4719991"/>
          </a:xfrm>
          <a:prstGeom prst="rect">
            <a:avLst/>
          </a:prstGeom>
        </p:spPr>
      </p:pic>
      <p:pic>
        <p:nvPicPr>
          <p:cNvPr id="3" name="object 3" descr="talk-yellow-hex-L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60000" y="3560000"/>
            <a:ext cx="1966336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38739" y="1424063"/>
            <a:ext cx="3297554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20">
                <a:solidFill>
                  <a:srgbClr val="FFDD41"/>
                </a:solidFill>
              </a:rPr>
              <a:t>From</a:t>
            </a:r>
            <a:r>
              <a:rPr dirty="0" sz="2500">
                <a:solidFill>
                  <a:srgbClr val="FFDD41"/>
                </a:solidFill>
              </a:rPr>
              <a:t> Numbers</a:t>
            </a:r>
            <a:r>
              <a:rPr dirty="0" sz="2500" spc="30">
                <a:solidFill>
                  <a:srgbClr val="FFDD41"/>
                </a:solidFill>
              </a:rPr>
              <a:t> </a:t>
            </a:r>
            <a:r>
              <a:rPr dirty="0" sz="2500">
                <a:solidFill>
                  <a:srgbClr val="FFDD41"/>
                </a:solidFill>
              </a:rPr>
              <a:t>to</a:t>
            </a:r>
            <a:r>
              <a:rPr dirty="0" sz="2500" spc="10">
                <a:solidFill>
                  <a:srgbClr val="FFDD41"/>
                </a:solidFill>
              </a:rPr>
              <a:t> </a:t>
            </a:r>
            <a:r>
              <a:rPr dirty="0" sz="2500" spc="-20">
                <a:solidFill>
                  <a:srgbClr val="FFDD41"/>
                </a:solidFill>
              </a:rPr>
              <a:t>Text</a:t>
            </a:r>
            <a:endParaRPr sz="2500"/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8843" y="2149303"/>
            <a:ext cx="7074534" cy="2082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 marR="5080" indent="-360045">
              <a:lnSpc>
                <a:spcPct val="100000"/>
              </a:lnSpc>
              <a:spcBef>
                <a:spcPts val="1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Computers</a:t>
            </a:r>
            <a:r>
              <a:rPr dirty="0" sz="1500" spc="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store</a:t>
            </a:r>
            <a:r>
              <a:rPr dirty="0" sz="1500" spc="1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only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numbers,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so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needs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5" b="1">
                <a:solidFill>
                  <a:srgbClr val="FFFFFF"/>
                </a:solidFill>
                <a:latin typeface="Cambria"/>
                <a:cs typeface="Cambria"/>
              </a:rPr>
              <a:t>character</a:t>
            </a:r>
            <a:r>
              <a:rPr dirty="0" sz="1500" spc="1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encoding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500" spc="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agreed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table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mapping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characters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numeric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codes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bytes.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4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5" b="1">
                <a:solidFill>
                  <a:srgbClr val="FFFFFF"/>
                </a:solidFill>
                <a:latin typeface="Cambria"/>
                <a:cs typeface="Cambria"/>
              </a:rPr>
              <a:t>character</a:t>
            </a:r>
            <a:r>
              <a:rPr dirty="0" sz="1500" spc="459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set</a:t>
            </a:r>
            <a:r>
              <a:rPr dirty="0" sz="1500" spc="4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lists</a:t>
            </a:r>
            <a:r>
              <a:rPr dirty="0" sz="1500" spc="45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45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characters</a:t>
            </a:r>
            <a:r>
              <a:rPr dirty="0" sz="1500" spc="4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4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their</a:t>
            </a:r>
            <a:r>
              <a:rPr dirty="0" sz="1500" spc="4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dirty="0" sz="1500" spc="45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numbers;</a:t>
            </a:r>
            <a:r>
              <a:rPr dirty="0" sz="1500" spc="4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</a:t>
            </a:r>
            <a:r>
              <a:rPr dirty="0" sz="1500" spc="45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encoding</a:t>
            </a:r>
            <a:endParaRPr sz="1500">
              <a:latin typeface="Cambria"/>
              <a:cs typeface="Cambria"/>
            </a:endParaRPr>
          </a:p>
          <a:p>
            <a:pPr marL="372110">
              <a:lnSpc>
                <a:spcPct val="100000"/>
              </a:lnSpc>
            </a:pP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defines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exact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used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store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those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numbers.</a:t>
            </a:r>
            <a:endParaRPr sz="1500">
              <a:latin typeface="Cambria"/>
              <a:cs typeface="Cambria"/>
            </a:endParaRPr>
          </a:p>
          <a:p>
            <a:pPr marL="372110" marR="7620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Without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correct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encoding,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decode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into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garbage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(mojibake),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spc="-50">
                <a:solidFill>
                  <a:srgbClr val="FFFFFF"/>
                </a:solidFill>
                <a:latin typeface="Cambria"/>
                <a:cs typeface="Cambria"/>
              </a:rPr>
              <a:t>a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keyword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search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silently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fails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match</a:t>
            </a:r>
            <a:r>
              <a:rPr dirty="0" sz="1500" spc="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evidence.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Two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families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dominate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real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cases: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30" b="1">
                <a:solidFill>
                  <a:srgbClr val="FFFFFF"/>
                </a:solidFill>
                <a:latin typeface="Cambria"/>
                <a:cs typeface="Cambria"/>
              </a:rPr>
              <a:t>ASCII</a:t>
            </a:r>
            <a:r>
              <a:rPr dirty="0" sz="1500" spc="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(and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its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Cambria"/>
                <a:cs typeface="Cambria"/>
              </a:rPr>
              <a:t>8-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extensions)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Unicode</a:t>
            </a:r>
            <a:endParaRPr sz="1500">
              <a:latin typeface="Cambria"/>
              <a:cs typeface="Cambria"/>
            </a:endParaRPr>
          </a:p>
          <a:p>
            <a:pPr marL="372110">
              <a:lnSpc>
                <a:spcPct val="100000"/>
              </a:lnSpc>
            </a:pP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(UTF-8,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UTF-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16).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720001"/>
            <a:ext cx="11429996" cy="4817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739" y="1082540"/>
            <a:ext cx="981710" cy="42227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220"/>
              <a:t>ASCII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7840" y="3272040"/>
            <a:ext cx="420623" cy="4007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8843" y="1703104"/>
            <a:ext cx="9759950" cy="18542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American</a:t>
            </a:r>
            <a:r>
              <a:rPr dirty="0" sz="1500" spc="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Standard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dirty="0" sz="1500" spc="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Information</a:t>
            </a:r>
            <a:r>
              <a:rPr dirty="0" sz="1500" spc="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Interchange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standardised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1963.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80" b="1">
                <a:solidFill>
                  <a:srgbClr val="FFFFFF"/>
                </a:solidFill>
                <a:latin typeface="Cambria"/>
                <a:cs typeface="Cambria"/>
              </a:rPr>
              <a:t>7-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500" spc="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code: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0" b="1">
                <a:solidFill>
                  <a:srgbClr val="FFFFFF"/>
                </a:solidFill>
                <a:latin typeface="Cambria"/>
                <a:cs typeface="Cambria"/>
              </a:rPr>
              <a:t>128</a:t>
            </a:r>
            <a:r>
              <a:rPr dirty="0" sz="1500" spc="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0" b="1">
                <a:solidFill>
                  <a:srgbClr val="FFFFFF"/>
                </a:solidFill>
                <a:latin typeface="Cambria"/>
                <a:cs typeface="Cambria"/>
              </a:rPr>
              <a:t>characters</a:t>
            </a:r>
            <a:r>
              <a:rPr dirty="0" sz="1500" spc="-4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codes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127.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Codes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31</a:t>
            </a:r>
            <a:r>
              <a:rPr dirty="0" sz="1500" spc="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0" b="1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control</a:t>
            </a:r>
            <a:r>
              <a:rPr dirty="0" sz="1500" spc="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0" b="1">
                <a:solidFill>
                  <a:srgbClr val="FFFFFF"/>
                </a:solidFill>
                <a:latin typeface="Cambria"/>
                <a:cs typeface="Cambria"/>
              </a:rPr>
              <a:t>characters</a:t>
            </a:r>
            <a:r>
              <a:rPr dirty="0" sz="1500" spc="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(line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feed,</a:t>
            </a:r>
            <a:r>
              <a:rPr dirty="0" sz="1500" spc="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carriage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return,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tab,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null);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32</a:t>
            </a:r>
            <a:r>
              <a:rPr dirty="0" sz="1500" spc="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0" b="1">
                <a:solidFill>
                  <a:srgbClr val="FFFFFF"/>
                </a:solidFill>
                <a:latin typeface="Cambria"/>
                <a:cs typeface="Cambria"/>
              </a:rPr>
              <a:t>126</a:t>
            </a:r>
            <a:r>
              <a:rPr dirty="0" sz="1500" spc="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0" b="1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printable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;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0">
                <a:solidFill>
                  <a:srgbClr val="FFFFFF"/>
                </a:solidFill>
                <a:latin typeface="Cambria"/>
                <a:cs typeface="Cambria"/>
              </a:rPr>
              <a:t>127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DEL.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Stored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character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per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byte,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with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top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0: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plain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English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instantly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readable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any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hex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editor.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Patterns</a:t>
            </a:r>
            <a:r>
              <a:rPr dirty="0" sz="1500" spc="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worth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knowing: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digits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start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at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14" b="1">
                <a:solidFill>
                  <a:srgbClr val="FFFFFF"/>
                </a:solidFill>
                <a:latin typeface="Cambria"/>
                <a:cs typeface="Cambria"/>
              </a:rPr>
              <a:t>0x30</a:t>
            </a:r>
            <a:r>
              <a:rPr dirty="0" sz="1500" spc="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5">
                <a:solidFill>
                  <a:srgbClr val="FFFFFF"/>
                </a:solidFill>
                <a:latin typeface="Cambria"/>
                <a:cs typeface="Cambria"/>
              </a:rPr>
              <a:t>("0"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48),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uppercase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at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14" b="1">
                <a:solidFill>
                  <a:srgbClr val="FFFFFF"/>
                </a:solidFill>
                <a:latin typeface="Cambria"/>
                <a:cs typeface="Cambria"/>
              </a:rPr>
              <a:t>0x41</a:t>
            </a:r>
            <a:r>
              <a:rPr dirty="0" sz="1500" spc="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("A"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65),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lowercase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at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20" b="1">
                <a:solidFill>
                  <a:srgbClr val="FFFFFF"/>
                </a:solidFill>
                <a:latin typeface="Cambria"/>
                <a:cs typeface="Cambria"/>
              </a:rPr>
              <a:t>0x61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("a"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97).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  <a:tab pos="502158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Changing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one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Cambria"/>
                <a:cs typeface="Cambria"/>
              </a:rPr>
              <a:t>(0x20)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switches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case: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'A'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0">
                <a:solidFill>
                  <a:srgbClr val="FFFFFF"/>
                </a:solidFill>
                <a:latin typeface="Cambria"/>
                <a:cs typeface="Cambria"/>
              </a:rPr>
              <a:t>0100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0001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	'a'</a:t>
            </a:r>
            <a:r>
              <a:rPr dirty="0" sz="1500" spc="-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5">
                <a:solidFill>
                  <a:srgbClr val="FFFFFF"/>
                </a:solidFill>
                <a:latin typeface="Cambria"/>
                <a:cs typeface="Cambria"/>
              </a:rPr>
              <a:t>0110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 0001.</a:t>
            </a:r>
            <a:endParaRPr sz="1500">
              <a:latin typeface="Cambria"/>
              <a:cs typeface="Cambria"/>
            </a:endParaRPr>
          </a:p>
        </p:txBody>
      </p:sp>
      <p:pic>
        <p:nvPicPr>
          <p:cNvPr id="6" name="object 6" descr="smile-blue-circle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3744" y="5759999"/>
            <a:ext cx="747941" cy="919997"/>
          </a:xfrm>
          <a:prstGeom prst="rect">
            <a:avLst/>
          </a:prstGeom>
        </p:spPr>
      </p:pic>
      <p:pic>
        <p:nvPicPr>
          <p:cNvPr id="7" name="object 7" descr="smile-yellow-pent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56693" y="5759999"/>
            <a:ext cx="713128" cy="919997"/>
          </a:xfrm>
          <a:prstGeom prst="rect">
            <a:avLst/>
          </a:prstGeom>
        </p:spPr>
      </p:pic>
      <p:pic>
        <p:nvPicPr>
          <p:cNvPr id="8" name="object 8" descr="smile-yellow-pent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64821" y="5759999"/>
            <a:ext cx="713128" cy="91999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88562" y="361016"/>
            <a:ext cx="581406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225"/>
              <a:t>ASCII</a:t>
            </a:r>
            <a:r>
              <a:rPr dirty="0" sz="2700" spc="70"/>
              <a:t> </a:t>
            </a:r>
            <a:r>
              <a:rPr dirty="0" sz="2700"/>
              <a:t>Codes</a:t>
            </a:r>
            <a:r>
              <a:rPr dirty="0" sz="2700" spc="85"/>
              <a:t> </a:t>
            </a:r>
            <a:r>
              <a:rPr dirty="0" sz="2700"/>
              <a:t>Every</a:t>
            </a:r>
            <a:r>
              <a:rPr dirty="0" sz="2700" spc="70"/>
              <a:t> </a:t>
            </a:r>
            <a:r>
              <a:rPr dirty="0" sz="2700" spc="-25"/>
              <a:t>Examiner</a:t>
            </a:r>
            <a:r>
              <a:rPr dirty="0" sz="2700" spc="60"/>
              <a:t> </a:t>
            </a:r>
            <a:r>
              <a:rPr dirty="0" sz="2700" spc="-10"/>
              <a:t>Knows</a:t>
            </a:r>
            <a:endParaRPr sz="27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91084" y="1355237"/>
          <a:ext cx="10885805" cy="2658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0225"/>
                <a:gridCol w="1800225"/>
                <a:gridCol w="1800225"/>
                <a:gridCol w="1800225"/>
                <a:gridCol w="1800225"/>
                <a:gridCol w="1800225"/>
              </a:tblGrid>
              <a:tr h="419734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40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Character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890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40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Decimal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890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400" spc="-25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Hex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890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40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Character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890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40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Decimal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890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400" spc="-25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Hex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8890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350" spc="13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NUL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35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35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00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350" spc="-4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'0'</a:t>
                      </a: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dirty="0" sz="1350" spc="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'9'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350" spc="-4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48</a:t>
                      </a:r>
                      <a:r>
                        <a:rPr dirty="0" sz="1350" spc="-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- </a:t>
                      </a:r>
                      <a:r>
                        <a:rPr dirty="0" sz="135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57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350" spc="-4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30</a:t>
                      </a:r>
                      <a:r>
                        <a:rPr dirty="0" sz="1350" spc="-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- </a:t>
                      </a:r>
                      <a:r>
                        <a:rPr dirty="0" sz="135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39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350" spc="6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LF</a:t>
                      </a:r>
                      <a:r>
                        <a:rPr dirty="0" sz="1350" spc="4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(new</a:t>
                      </a:r>
                      <a:r>
                        <a:rPr dirty="0" sz="1350" spc="5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line)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35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10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350" spc="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0A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'A'</a:t>
                      </a:r>
                      <a:r>
                        <a:rPr dirty="0" sz="1350" spc="6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dirty="0" sz="1350" spc="9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'Z'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350" spc="-4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65</a:t>
                      </a:r>
                      <a:r>
                        <a:rPr dirty="0" sz="1350" spc="-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- </a:t>
                      </a:r>
                      <a:r>
                        <a:rPr dirty="0" sz="135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90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350" spc="-4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41</a:t>
                      </a:r>
                      <a:r>
                        <a:rPr dirty="0" sz="1350" spc="-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- </a:t>
                      </a:r>
                      <a:r>
                        <a:rPr dirty="0" sz="1350" spc="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5A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 spc="1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CR</a:t>
                      </a:r>
                      <a:r>
                        <a:rPr dirty="0" sz="1350" spc="3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(return)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334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13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334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0D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334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'a'</a:t>
                      </a:r>
                      <a:r>
                        <a:rPr dirty="0" sz="1350" spc="-3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to</a:t>
                      </a: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'z'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334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 spc="-4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97</a:t>
                      </a:r>
                      <a:r>
                        <a:rPr dirty="0" sz="1350" spc="-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- </a:t>
                      </a:r>
                      <a:r>
                        <a:rPr dirty="0" sz="135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122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334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 spc="-4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61</a:t>
                      </a:r>
                      <a:r>
                        <a:rPr dirty="0" sz="1350" spc="-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3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- </a:t>
                      </a:r>
                      <a:r>
                        <a:rPr dirty="0" sz="1350" spc="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7A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334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Space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334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32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334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20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334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 spc="7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DEL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334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127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334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7F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B="0" marT="93345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" name="object 4" descr="smile-white-squar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6773" y="5859999"/>
            <a:ext cx="493049" cy="849994"/>
          </a:xfrm>
          <a:prstGeom prst="rect">
            <a:avLst/>
          </a:prstGeom>
        </p:spPr>
      </p:pic>
      <p:pic>
        <p:nvPicPr>
          <p:cNvPr id="5" name="object 5" descr="talk-blue-circl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44831" y="5859999"/>
            <a:ext cx="690079" cy="84999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17:40:12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Windows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text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lines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end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CR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LF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= </a:t>
            </a:r>
            <a:r>
              <a:rPr dirty="0" sz="1000">
                <a:latin typeface="Microsoft Sans Serif"/>
                <a:cs typeface="Microsoft Sans Serif"/>
              </a:rPr>
              <a:t>0D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0A,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Unix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lines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LF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=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0A </a:t>
            </a:r>
            <a:r>
              <a:rPr dirty="0" sz="1000">
                <a:latin typeface="Microsoft Sans Serif"/>
                <a:cs typeface="Microsoft Sans Serif"/>
              </a:rPr>
              <a:t>alone: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quick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way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tell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where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 </a:t>
            </a:r>
            <a:r>
              <a:rPr dirty="0" sz="1000">
                <a:latin typeface="Microsoft Sans Serif"/>
                <a:cs typeface="Microsoft Sans Serif"/>
              </a:rPr>
              <a:t>text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file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was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authored.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720001"/>
            <a:ext cx="11429996" cy="4817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739" y="1082540"/>
            <a:ext cx="4944745" cy="42227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DD41"/>
                </a:solidFill>
              </a:rPr>
              <a:t>Extended</a:t>
            </a:r>
            <a:r>
              <a:rPr dirty="0" spc="-15">
                <a:solidFill>
                  <a:srgbClr val="FFDD41"/>
                </a:solidFill>
              </a:rPr>
              <a:t> </a:t>
            </a:r>
            <a:r>
              <a:rPr dirty="0" spc="220">
                <a:solidFill>
                  <a:srgbClr val="FFDD41"/>
                </a:solidFill>
              </a:rPr>
              <a:t>ASCII</a:t>
            </a:r>
            <a:r>
              <a:rPr dirty="0" spc="10">
                <a:solidFill>
                  <a:srgbClr val="FFDD41"/>
                </a:solidFill>
              </a:rPr>
              <a:t> </a:t>
            </a:r>
            <a:r>
              <a:rPr dirty="0">
                <a:solidFill>
                  <a:srgbClr val="FFDD41"/>
                </a:solidFill>
              </a:rPr>
              <a:t>and</a:t>
            </a:r>
            <a:r>
              <a:rPr dirty="0" spc="25">
                <a:solidFill>
                  <a:srgbClr val="FFDD41"/>
                </a:solidFill>
              </a:rPr>
              <a:t> </a:t>
            </a:r>
            <a:r>
              <a:rPr dirty="0" spc="75">
                <a:solidFill>
                  <a:srgbClr val="FFDD41"/>
                </a:solidFill>
              </a:rPr>
              <a:t>Code</a:t>
            </a:r>
            <a:r>
              <a:rPr dirty="0" spc="-5">
                <a:solidFill>
                  <a:srgbClr val="FFDD41"/>
                </a:solidFill>
              </a:rPr>
              <a:t> </a:t>
            </a:r>
            <a:r>
              <a:rPr dirty="0" spc="-10">
                <a:solidFill>
                  <a:srgbClr val="FFDD41"/>
                </a:solidFill>
              </a:rPr>
              <a:t>Pages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843" y="1703104"/>
            <a:ext cx="10222230" cy="20066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Using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8th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gives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codes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128</a:t>
            </a:r>
            <a:r>
              <a:rPr dirty="0" sz="1500" spc="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10" b="1">
                <a:solidFill>
                  <a:srgbClr val="FFFFFF"/>
                </a:solidFill>
                <a:latin typeface="Cambria"/>
                <a:cs typeface="Cambria"/>
              </a:rPr>
              <a:t>255</a:t>
            </a:r>
            <a:r>
              <a:rPr dirty="0" sz="1500" spc="-11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extra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0">
                <a:solidFill>
                  <a:srgbClr val="FFFFFF"/>
                </a:solidFill>
                <a:latin typeface="Cambria"/>
                <a:cs typeface="Cambria"/>
              </a:rPr>
              <a:t>128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characters.</a:t>
            </a:r>
            <a:endParaRPr sz="1500">
              <a:latin typeface="Cambria"/>
              <a:cs typeface="Cambria"/>
            </a:endParaRPr>
          </a:p>
          <a:p>
            <a:pPr marL="372110" marR="5080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But</a:t>
            </a:r>
            <a:r>
              <a:rPr dirty="0" sz="1500" spc="3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there</a:t>
            </a:r>
            <a:r>
              <a:rPr dirty="0" sz="1500" spc="3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was</a:t>
            </a:r>
            <a:r>
              <a:rPr dirty="0" sz="1500" spc="3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no</a:t>
            </a:r>
            <a:r>
              <a:rPr dirty="0" sz="1500" spc="3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single</a:t>
            </a:r>
            <a:r>
              <a:rPr dirty="0" sz="1500" spc="3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standard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500" spc="3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IBM</a:t>
            </a:r>
            <a:r>
              <a:rPr dirty="0" sz="1500" spc="3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CP437</a:t>
            </a:r>
            <a:r>
              <a:rPr dirty="0" sz="1500" spc="3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filled</a:t>
            </a:r>
            <a:r>
              <a:rPr dirty="0" sz="1500" spc="3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it</a:t>
            </a:r>
            <a:r>
              <a:rPr dirty="0" sz="1500" spc="3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with</a:t>
            </a:r>
            <a:r>
              <a:rPr dirty="0" sz="1500" spc="3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box-drawing</a:t>
            </a:r>
            <a:r>
              <a:rPr dirty="0" sz="1500" spc="3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symbols,</a:t>
            </a:r>
            <a:r>
              <a:rPr dirty="0" sz="1500" spc="3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Windows-</a:t>
            </a:r>
            <a:r>
              <a:rPr dirty="0" sz="1500" spc="-30">
                <a:solidFill>
                  <a:srgbClr val="FFFFFF"/>
                </a:solidFill>
                <a:latin typeface="Cambria"/>
                <a:cs typeface="Cambria"/>
              </a:rPr>
              <a:t>1252</a:t>
            </a:r>
            <a:r>
              <a:rPr dirty="0" sz="1500" spc="3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with</a:t>
            </a:r>
            <a:r>
              <a:rPr dirty="0" sz="1500" spc="3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Western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European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letters,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ISO-</a:t>
            </a:r>
            <a:r>
              <a:rPr dirty="0" sz="1500" spc="-75">
                <a:solidFill>
                  <a:srgbClr val="FFFFFF"/>
                </a:solidFill>
                <a:latin typeface="Cambria"/>
                <a:cs typeface="Cambria"/>
              </a:rPr>
              <a:t>8859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with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regional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families.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same</a:t>
            </a:r>
            <a:r>
              <a:rPr dirty="0" sz="1500" spc="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byte</a:t>
            </a:r>
            <a:r>
              <a:rPr dirty="0" sz="1500" spc="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means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different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characters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different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pages: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0xE9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é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Windows-</a:t>
            </a:r>
            <a:r>
              <a:rPr dirty="0" sz="1500" spc="-70">
                <a:solidFill>
                  <a:srgbClr val="FFFFFF"/>
                </a:solidFill>
                <a:latin typeface="Cambria"/>
                <a:cs typeface="Cambria"/>
              </a:rPr>
              <a:t>1252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but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95">
                <a:solidFill>
                  <a:srgbClr val="FFFFFF"/>
                </a:solidFill>
                <a:latin typeface="Cambria"/>
                <a:cs typeface="Cambria"/>
              </a:rPr>
              <a:t>Θ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CP437.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Result: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documents</a:t>
            </a:r>
            <a:r>
              <a:rPr dirty="0" sz="1500" spc="2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exchanged</a:t>
            </a:r>
            <a:r>
              <a:rPr dirty="0" sz="1500" spc="2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between</a:t>
            </a:r>
            <a:r>
              <a:rPr dirty="0" sz="1500" spc="2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systems</a:t>
            </a:r>
            <a:r>
              <a:rPr dirty="0" sz="1500" spc="2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decoded</a:t>
            </a:r>
            <a:r>
              <a:rPr dirty="0" sz="1500" spc="2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wrongly,</a:t>
            </a:r>
            <a:r>
              <a:rPr dirty="0" sz="1500" spc="2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2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Cambria"/>
                <a:cs typeface="Cambria"/>
              </a:rPr>
              <a:t>256</a:t>
            </a:r>
            <a:r>
              <a:rPr dirty="0" sz="1500" spc="2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codes</a:t>
            </a:r>
            <a:r>
              <a:rPr dirty="0" sz="1500" spc="2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could</a:t>
            </a:r>
            <a:r>
              <a:rPr dirty="0" sz="1500" spc="2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never</a:t>
            </a:r>
            <a:r>
              <a:rPr dirty="0" sz="1500" spc="2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cover</a:t>
            </a:r>
            <a:r>
              <a:rPr dirty="0" sz="1500" spc="2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scripts</a:t>
            </a:r>
            <a:r>
              <a:rPr dirty="0" sz="1500" spc="2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such</a:t>
            </a:r>
            <a:r>
              <a:rPr dirty="0" sz="1500" spc="2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as</a:t>
            </a:r>
            <a:endParaRPr sz="1500">
              <a:latin typeface="Cambria"/>
              <a:cs typeface="Cambria"/>
            </a:endParaRPr>
          </a:p>
          <a:p>
            <a:pPr marL="372110">
              <a:lnSpc>
                <a:spcPct val="100000"/>
              </a:lnSpc>
            </a:pP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Devanagari,</a:t>
            </a:r>
            <a:r>
              <a:rPr dirty="0" sz="1500" spc="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Chinese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Arabic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permanent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fix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Unicode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one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universal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character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set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script.</a:t>
            </a:r>
            <a:endParaRPr sz="1500">
              <a:latin typeface="Cambria"/>
              <a:cs typeface="Cambria"/>
            </a:endParaRPr>
          </a:p>
        </p:txBody>
      </p:sp>
      <p:pic>
        <p:nvPicPr>
          <p:cNvPr id="5" name="object 5" descr="smile-cyan-diamon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3421" y="5759999"/>
            <a:ext cx="721264" cy="919997"/>
          </a:xfrm>
          <a:prstGeom prst="rect">
            <a:avLst/>
          </a:prstGeom>
        </p:spPr>
      </p:pic>
      <p:pic>
        <p:nvPicPr>
          <p:cNvPr id="6" name="object 6" descr="wow-sand-tri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89688" y="5759999"/>
            <a:ext cx="743470" cy="919997"/>
          </a:xfrm>
          <a:prstGeom prst="rect">
            <a:avLst/>
          </a:prstGeom>
        </p:spPr>
      </p:pic>
      <p:pic>
        <p:nvPicPr>
          <p:cNvPr id="7" name="object 7" descr="smile-yellow-trap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28168" y="5759999"/>
            <a:ext cx="790105" cy="91999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0001" y="899999"/>
            <a:ext cx="9059989" cy="4719991"/>
          </a:xfrm>
          <a:prstGeom prst="rect">
            <a:avLst/>
          </a:prstGeom>
        </p:spPr>
      </p:pic>
      <p:pic>
        <p:nvPicPr>
          <p:cNvPr id="3" name="object 3" descr="talk-coral-tri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000" y="3560000"/>
            <a:ext cx="2195029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158739" y="1424063"/>
            <a:ext cx="1240155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10"/>
              <a:t>Unicode</a:t>
            </a:r>
            <a:endParaRPr sz="2500"/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28843" y="2149303"/>
            <a:ext cx="7074534" cy="261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72110" marR="5080" indent="-360045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 spc="370">
                <a:solidFill>
                  <a:srgbClr val="5FDEEE"/>
                </a:solidFill>
                <a:latin typeface="Microsoft Sans Serif"/>
                <a:cs typeface="Microsoft Sans Serif"/>
              </a:rPr>
              <a:t>  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One</a:t>
            </a:r>
            <a:r>
              <a:rPr dirty="0" sz="1500" spc="2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universal</a:t>
            </a:r>
            <a:r>
              <a:rPr dirty="0" sz="1500" spc="22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table,</a:t>
            </a:r>
            <a:r>
              <a:rPr dirty="0" sz="1500" spc="22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maintained</a:t>
            </a:r>
            <a:r>
              <a:rPr dirty="0" sz="1500" spc="22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</a:t>
            </a:r>
            <a:r>
              <a:rPr dirty="0" sz="1500" spc="22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2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Unicode</a:t>
            </a:r>
            <a:r>
              <a:rPr dirty="0" sz="1500" spc="2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Consortium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500" spc="22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500" spc="2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character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2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500" spc="2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script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gets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2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unique</a:t>
            </a:r>
            <a:r>
              <a:rPr dirty="0" sz="1500" spc="2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number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called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2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dirty="0" sz="1500" spc="2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point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written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U+hex,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e.g.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U+0041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A.</a:t>
            </a:r>
            <a:endParaRPr sz="1500">
              <a:latin typeface="Cambria"/>
              <a:cs typeface="Cambria"/>
            </a:endParaRPr>
          </a:p>
          <a:p>
            <a:pPr algn="just" marL="372110" marR="8255" indent="-360045">
              <a:lnSpc>
                <a:spcPct val="100000"/>
              </a:lnSpc>
              <a:spcBef>
                <a:spcPts val="600"/>
              </a:spcBef>
            </a:pP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 spc="290">
                <a:solidFill>
                  <a:srgbClr val="5FDEEE"/>
                </a:solidFill>
                <a:latin typeface="Microsoft Sans Serif"/>
                <a:cs typeface="Microsoft Sans Serif"/>
              </a:rPr>
              <a:t>  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dirty="0" sz="1500" spc="3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space:</a:t>
            </a:r>
            <a:r>
              <a:rPr dirty="0" sz="1500" spc="3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U+0000</a:t>
            </a:r>
            <a:r>
              <a:rPr dirty="0" sz="1500" spc="3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3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U+10FFFF,</a:t>
            </a:r>
            <a:r>
              <a:rPr dirty="0" sz="1500" spc="3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i.e.</a:t>
            </a:r>
            <a:r>
              <a:rPr dirty="0" sz="1500" spc="3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65" b="1">
                <a:solidFill>
                  <a:srgbClr val="FFFFFF"/>
                </a:solidFill>
                <a:latin typeface="Cambria"/>
                <a:cs typeface="Cambria"/>
              </a:rPr>
              <a:t>1,114,112</a:t>
            </a:r>
            <a:r>
              <a:rPr dirty="0" sz="1500" spc="3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possible</a:t>
            </a:r>
            <a:r>
              <a:rPr dirty="0" sz="1500" spc="3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dirty="0" sz="1500" spc="3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points</a:t>
            </a:r>
            <a:r>
              <a:rPr dirty="0" sz="1500" spc="3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3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17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planes.</a:t>
            </a:r>
            <a:endParaRPr sz="1500">
              <a:latin typeface="Cambria"/>
              <a:cs typeface="Cambria"/>
            </a:endParaRPr>
          </a:p>
          <a:p>
            <a:pPr algn="just" marL="12700">
              <a:lnSpc>
                <a:spcPct val="100000"/>
              </a:lnSpc>
              <a:spcBef>
                <a:spcPts val="600"/>
              </a:spcBef>
            </a:pP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 spc="375">
                <a:solidFill>
                  <a:srgbClr val="5FDEEE"/>
                </a:solidFill>
                <a:latin typeface="Microsoft Sans Serif"/>
                <a:cs typeface="Microsoft Sans Serif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Plane</a:t>
            </a:r>
            <a:r>
              <a:rPr dirty="0" sz="1500" spc="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0,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Basic</a:t>
            </a:r>
            <a:r>
              <a:rPr dirty="0" sz="1500" spc="1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Multilingual</a:t>
            </a:r>
            <a:r>
              <a:rPr dirty="0" sz="1500" spc="1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Plane</a:t>
            </a:r>
            <a:r>
              <a:rPr dirty="0" sz="1500" spc="1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(BMP)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1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holds</a:t>
            </a:r>
            <a:r>
              <a:rPr dirty="0" sz="1500" spc="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almost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all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modern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scripts;</a:t>
            </a:r>
            <a:endParaRPr sz="1500">
              <a:latin typeface="Cambria"/>
              <a:cs typeface="Cambria"/>
            </a:endParaRPr>
          </a:p>
          <a:p>
            <a:pPr algn="just" marL="372110">
              <a:lnSpc>
                <a:spcPct val="100000"/>
              </a:lnSpc>
            </a:pP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Devanagari</a:t>
            </a:r>
            <a:r>
              <a:rPr dirty="0" sz="1500" spc="-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occupies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65" b="1">
                <a:solidFill>
                  <a:srgbClr val="FFFFFF"/>
                </a:solidFill>
                <a:latin typeface="Cambria"/>
                <a:cs typeface="Cambria"/>
              </a:rPr>
              <a:t>U+0900</a:t>
            </a:r>
            <a:r>
              <a:rPr dirty="0" sz="1500" spc="-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to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U+097F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algn="just" marL="12700">
              <a:lnSpc>
                <a:spcPct val="100000"/>
              </a:lnSpc>
              <a:spcBef>
                <a:spcPts val="600"/>
              </a:spcBef>
            </a:pP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 spc="395">
                <a:solidFill>
                  <a:srgbClr val="5FDEEE"/>
                </a:solidFill>
                <a:latin typeface="Microsoft Sans Serif"/>
                <a:cs typeface="Microsoft Sans Serif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Emoji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rare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scripts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live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supplementary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planes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above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U+FFFF.</a:t>
            </a:r>
            <a:endParaRPr sz="1500">
              <a:latin typeface="Cambria"/>
              <a:cs typeface="Cambria"/>
            </a:endParaRPr>
          </a:p>
          <a:p>
            <a:pPr algn="just" marL="12700">
              <a:lnSpc>
                <a:spcPct val="100000"/>
              </a:lnSpc>
              <a:spcBef>
                <a:spcPts val="600"/>
              </a:spcBef>
            </a:pP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 spc="345">
                <a:solidFill>
                  <a:srgbClr val="5FDEEE"/>
                </a:solidFill>
                <a:latin typeface="Microsoft Sans Serif"/>
                <a:cs typeface="Microsoft Sans Serif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Unicode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assigns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numbers;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encodings</a:t>
            </a:r>
            <a:r>
              <a:rPr dirty="0" sz="1500" spc="114" b="1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UTF-8,</a:t>
            </a:r>
            <a:r>
              <a:rPr dirty="0" sz="1500" spc="110" b="1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UTF-16</a:t>
            </a:r>
            <a:r>
              <a:rPr dirty="0" sz="1500" spc="114" b="1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100" b="1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UTF-</a:t>
            </a:r>
            <a:r>
              <a:rPr dirty="0" sz="1500" spc="-25" b="1">
                <a:solidFill>
                  <a:srgbClr val="FFFFFF"/>
                </a:solidFill>
                <a:latin typeface="Cambria"/>
                <a:cs typeface="Cambria"/>
              </a:rPr>
              <a:t>32</a:t>
            </a:r>
            <a:endParaRPr sz="1500">
              <a:latin typeface="Cambria"/>
              <a:cs typeface="Cambria"/>
            </a:endParaRPr>
          </a:p>
          <a:p>
            <a:pPr algn="just" marL="372110">
              <a:lnSpc>
                <a:spcPct val="100000"/>
              </a:lnSpc>
            </a:pP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define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how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those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numbers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become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bytes.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17:40:14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Before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talk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about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all, </a:t>
            </a:r>
            <a:r>
              <a:rPr dirty="0" sz="1000">
                <a:latin typeface="Microsoft Sans Serif"/>
                <a:cs typeface="Microsoft Sans Serif"/>
              </a:rPr>
              <a:t>we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need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vocabulary,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because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two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ideas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get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confused </a:t>
            </a:r>
            <a:r>
              <a:rPr dirty="0" sz="1000">
                <a:latin typeface="Microsoft Sans Serif"/>
                <a:cs typeface="Microsoft Sans Serif"/>
              </a:rPr>
              <a:t>constantly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confusion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 </a:t>
            </a:r>
            <a:r>
              <a:rPr dirty="0" sz="1000">
                <a:latin typeface="Microsoft Sans Serif"/>
                <a:cs typeface="Microsoft Sans Serif"/>
              </a:rPr>
              <a:t>where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encoding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bugs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live.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Unicode</a:t>
            </a:r>
            <a:r>
              <a:rPr dirty="0" sz="1000" spc="1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 one</a:t>
            </a:r>
            <a:r>
              <a:rPr dirty="0" sz="1000" spc="1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universal</a:t>
            </a:r>
            <a:r>
              <a:rPr dirty="0" sz="1000" spc="14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table. </a:t>
            </a:r>
            <a:r>
              <a:rPr dirty="0" sz="1000">
                <a:latin typeface="Microsoft Sans Serif"/>
                <a:cs typeface="Microsoft Sans Serif"/>
              </a:rPr>
              <a:t>Every</a:t>
            </a:r>
            <a:r>
              <a:rPr dirty="0" sz="1000" spc="1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character</a:t>
            </a:r>
            <a:r>
              <a:rPr dirty="0" sz="1000" spc="1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of</a:t>
            </a:r>
            <a:r>
              <a:rPr dirty="0" sz="1000" spc="1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every</a:t>
            </a:r>
            <a:r>
              <a:rPr dirty="0" sz="1000" spc="11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script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—</a:t>
            </a:r>
            <a:r>
              <a:rPr dirty="0" sz="1000" spc="114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Latin,</a:t>
            </a:r>
            <a:r>
              <a:rPr dirty="0" sz="1000" spc="114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Devanagari,</a:t>
            </a:r>
            <a:r>
              <a:rPr dirty="0" sz="1000" spc="114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Han,</a:t>
            </a:r>
            <a:r>
              <a:rPr dirty="0" sz="1000" spc="114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emoji </a:t>
            </a:r>
            <a:r>
              <a:rPr dirty="0" sz="1000">
                <a:latin typeface="Microsoft Sans Serif"/>
                <a:cs typeface="Microsoft Sans Serif"/>
              </a:rPr>
              <a:t>—</a:t>
            </a:r>
            <a:r>
              <a:rPr dirty="0" sz="1000" spc="8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gets</a:t>
            </a:r>
            <a:r>
              <a:rPr dirty="0" sz="1000" spc="8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8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unique</a:t>
            </a:r>
            <a:r>
              <a:rPr dirty="0" sz="1000" spc="8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number</a:t>
            </a:r>
            <a:r>
              <a:rPr dirty="0" sz="1000" spc="8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called </a:t>
            </a:r>
            <a:r>
              <a:rPr dirty="0" sz="1000">
                <a:latin typeface="Microsoft Sans Serif"/>
                <a:cs typeface="Microsoft Sans Serif"/>
              </a:rPr>
              <a:t>a code</a:t>
            </a:r>
            <a:r>
              <a:rPr dirty="0" sz="1000" spc="9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point,</a:t>
            </a:r>
            <a:r>
              <a:rPr dirty="0" sz="1000" spc="9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written</a:t>
            </a:r>
            <a:r>
              <a:rPr dirty="0" sz="1000" spc="9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9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hex</a:t>
            </a:r>
            <a:r>
              <a:rPr dirty="0" sz="1000" spc="10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with </a:t>
            </a:r>
            <a:r>
              <a:rPr dirty="0" sz="1000">
                <a:latin typeface="Microsoft Sans Serif"/>
                <a:cs typeface="Microsoft Sans Serif"/>
              </a:rPr>
              <a:t>a U+ prefix.</a:t>
            </a:r>
            <a:r>
              <a:rPr dirty="0" sz="1000" spc="17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Capital</a:t>
            </a:r>
            <a:r>
              <a:rPr dirty="0" sz="1000" spc="175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 U+0041.</a:t>
            </a:r>
            <a:r>
              <a:rPr dirty="0" sz="1000" spc="9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9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9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all</a:t>
            </a:r>
            <a:r>
              <a:rPr dirty="0" sz="1000" spc="9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Unicode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is:</a:t>
            </a:r>
            <a:r>
              <a:rPr dirty="0" sz="1000" spc="1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</a:t>
            </a:r>
            <a:r>
              <a:rPr dirty="0" sz="1000" spc="1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enormous,</a:t>
            </a:r>
            <a:r>
              <a:rPr dirty="0" sz="1000" spc="1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agreed-</a:t>
            </a:r>
            <a:r>
              <a:rPr dirty="0" sz="1000" spc="-20">
                <a:latin typeface="Microsoft Sans Serif"/>
                <a:cs typeface="Microsoft Sans Serif"/>
              </a:rPr>
              <a:t>upon </a:t>
            </a:r>
            <a:r>
              <a:rPr dirty="0" sz="1000" spc="-10">
                <a:latin typeface="Microsoft Sans Serif"/>
                <a:cs typeface="Microsoft Sans Serif"/>
              </a:rPr>
              <a:t>numbering.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code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space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runs U+0000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to </a:t>
            </a:r>
            <a:r>
              <a:rPr dirty="0" sz="1000">
                <a:latin typeface="Microsoft Sans Serif"/>
                <a:cs typeface="Microsoft Sans Serif"/>
              </a:rPr>
              <a:t>U+10FFFF —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about 1.1 </a:t>
            </a:r>
            <a:r>
              <a:rPr dirty="0" sz="1000">
                <a:latin typeface="Microsoft Sans Serif"/>
                <a:cs typeface="Microsoft Sans Serif"/>
              </a:rPr>
              <a:t>million slots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arranged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in 17 </a:t>
            </a:r>
            <a:r>
              <a:rPr dirty="0" sz="1000">
                <a:latin typeface="Microsoft Sans Serif"/>
                <a:cs typeface="Microsoft Sans Serif"/>
              </a:rPr>
              <a:t>planes.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Plane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zero,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the Basic </a:t>
            </a:r>
            <a:r>
              <a:rPr dirty="0" sz="1000">
                <a:latin typeface="Microsoft Sans Serif"/>
                <a:cs typeface="Microsoft Sans Serif"/>
              </a:rPr>
              <a:t>Multilingual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Plane,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holds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nearly </a:t>
            </a:r>
            <a:r>
              <a:rPr dirty="0" sz="1000">
                <a:latin typeface="Microsoft Sans Serif"/>
                <a:cs typeface="Microsoft Sans Serif"/>
              </a:rPr>
              <a:t>every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modern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script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you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will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meet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casework;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Devanagari </a:t>
            </a:r>
            <a:r>
              <a:rPr dirty="0" sz="1000">
                <a:latin typeface="Microsoft Sans Serif"/>
                <a:cs typeface="Microsoft Sans Serif"/>
              </a:rPr>
              <a:t>sits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at U+0900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U+097F.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Emoji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rarer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historic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scripts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live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supplementary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planes </a:t>
            </a:r>
            <a:r>
              <a:rPr dirty="0" sz="1000">
                <a:latin typeface="Microsoft Sans Serif"/>
                <a:cs typeface="Microsoft Sans Serif"/>
              </a:rPr>
              <a:t>above U+FFFF,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that </a:t>
            </a:r>
            <a:r>
              <a:rPr dirty="0" sz="1000">
                <a:latin typeface="Microsoft Sans Serif"/>
                <a:cs typeface="Microsoft Sans Serif"/>
              </a:rPr>
              <a:t>boundary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matters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later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when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we </a:t>
            </a:r>
            <a:r>
              <a:rPr dirty="0" sz="1000">
                <a:latin typeface="Microsoft Sans Serif"/>
                <a:cs typeface="Microsoft Sans Serif"/>
              </a:rPr>
              <a:t>hit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surrogate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pairs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UTF-</a:t>
            </a:r>
            <a:r>
              <a:rPr dirty="0" sz="1000" spc="-25">
                <a:latin typeface="Microsoft Sans Serif"/>
                <a:cs typeface="Microsoft Sans Serif"/>
              </a:rPr>
              <a:t>16. </a:t>
            </a:r>
            <a:r>
              <a:rPr dirty="0" sz="1000">
                <a:latin typeface="Microsoft Sans Serif"/>
                <a:cs typeface="Microsoft Sans Serif"/>
              </a:rPr>
              <a:t>Now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line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hold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onto: </a:t>
            </a:r>
            <a:r>
              <a:rPr dirty="0" sz="1000">
                <a:latin typeface="Microsoft Sans Serif"/>
                <a:cs typeface="Microsoft Sans Serif"/>
              </a:rPr>
              <a:t>Unicode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assigns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numbers, </a:t>
            </a:r>
            <a:r>
              <a:rPr dirty="0" sz="1000">
                <a:latin typeface="Microsoft Sans Serif"/>
                <a:cs typeface="Microsoft Sans Serif"/>
              </a:rPr>
              <a:t>but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it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does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not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say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how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those </a:t>
            </a:r>
            <a:r>
              <a:rPr dirty="0" sz="1000">
                <a:latin typeface="Microsoft Sans Serif"/>
                <a:cs typeface="Microsoft Sans Serif"/>
              </a:rPr>
              <a:t>numbers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are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stored.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job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of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 encodings —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UTF-</a:t>
            </a:r>
            <a:r>
              <a:rPr dirty="0" sz="1000" spc="-25">
                <a:latin typeface="Microsoft Sans Serif"/>
                <a:cs typeface="Microsoft Sans Serif"/>
              </a:rPr>
              <a:t>8, </a:t>
            </a:r>
            <a:r>
              <a:rPr dirty="0" sz="1000">
                <a:latin typeface="Microsoft Sans Serif"/>
                <a:cs typeface="Microsoft Sans Serif"/>
              </a:rPr>
              <a:t>UTF-16,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UTF-32.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Same </a:t>
            </a:r>
            <a:r>
              <a:rPr dirty="0" sz="1000">
                <a:latin typeface="Microsoft Sans Serif"/>
                <a:cs typeface="Microsoft Sans Serif"/>
              </a:rPr>
              <a:t>character,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same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code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point, </a:t>
            </a:r>
            <a:r>
              <a:rPr dirty="0" sz="1000">
                <a:latin typeface="Microsoft Sans Serif"/>
                <a:cs typeface="Microsoft Sans Serif"/>
              </a:rPr>
              <a:t>completely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different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bytes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on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disk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depending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encoding. </a:t>
            </a:r>
            <a:r>
              <a:rPr dirty="0" sz="1000">
                <a:latin typeface="Microsoft Sans Serif"/>
                <a:cs typeface="Microsoft Sans Serif"/>
              </a:rPr>
              <a:t>Every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of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next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few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slides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really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about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gap.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0001" y="899999"/>
            <a:ext cx="9059989" cy="4719991"/>
          </a:xfrm>
          <a:prstGeom prst="rect">
            <a:avLst/>
          </a:prstGeom>
        </p:spPr>
      </p:pic>
      <p:pic>
        <p:nvPicPr>
          <p:cNvPr id="3" name="object 3" descr="talk-coral-tri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000" y="3560000"/>
            <a:ext cx="2195029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158739" y="1424063"/>
            <a:ext cx="3691254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>
                <a:solidFill>
                  <a:srgbClr val="FFDD41"/>
                </a:solidFill>
              </a:rPr>
              <a:t>The</a:t>
            </a:r>
            <a:r>
              <a:rPr dirty="0" sz="2500" spc="130">
                <a:solidFill>
                  <a:srgbClr val="FFDD41"/>
                </a:solidFill>
              </a:rPr>
              <a:t> </a:t>
            </a:r>
            <a:r>
              <a:rPr dirty="0" sz="2500">
                <a:solidFill>
                  <a:srgbClr val="FFDD41"/>
                </a:solidFill>
              </a:rPr>
              <a:t>Unicode</a:t>
            </a:r>
            <a:r>
              <a:rPr dirty="0" sz="2500" spc="160">
                <a:solidFill>
                  <a:srgbClr val="FFDD41"/>
                </a:solidFill>
              </a:rPr>
              <a:t> </a:t>
            </a:r>
            <a:r>
              <a:rPr dirty="0" sz="2500" spc="-10">
                <a:solidFill>
                  <a:srgbClr val="FFDD41"/>
                </a:solidFill>
              </a:rPr>
              <a:t>Consortium</a:t>
            </a:r>
            <a:endParaRPr sz="2500"/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28843" y="2149303"/>
            <a:ext cx="7075805" cy="2540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72110" marR="5080" indent="-360045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 spc="405">
                <a:solidFill>
                  <a:srgbClr val="5FDEEE"/>
                </a:solidFill>
                <a:latin typeface="Microsoft Sans Serif"/>
                <a:cs typeface="Microsoft Sans Serif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standard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maintained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Unicode</a:t>
            </a:r>
            <a:r>
              <a:rPr dirty="0" sz="1500" spc="1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Consortium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non-profit</a:t>
            </a:r>
            <a:r>
              <a:rPr dirty="0" sz="1500" spc="1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with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one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goal:</a:t>
            </a:r>
            <a:r>
              <a:rPr dirty="0" sz="1500" spc="2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everyone</a:t>
            </a:r>
            <a:r>
              <a:rPr dirty="0" sz="1500" spc="2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2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2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world</a:t>
            </a:r>
            <a:r>
              <a:rPr dirty="0" sz="1500" spc="25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should</a:t>
            </a:r>
            <a:r>
              <a:rPr dirty="0" sz="1500" spc="2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be</a:t>
            </a:r>
            <a:r>
              <a:rPr dirty="0" sz="1500" spc="2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able</a:t>
            </a:r>
            <a:r>
              <a:rPr dirty="0" sz="1500" spc="2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2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use</a:t>
            </a:r>
            <a:r>
              <a:rPr dirty="0" sz="1500" spc="2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their</a:t>
            </a:r>
            <a:r>
              <a:rPr dirty="0" sz="1500" spc="25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own</a:t>
            </a:r>
            <a:r>
              <a:rPr dirty="0" sz="1500" spc="25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language</a:t>
            </a:r>
            <a:r>
              <a:rPr dirty="0" sz="1500" spc="2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Cambria"/>
                <a:cs typeface="Cambria"/>
              </a:rPr>
              <a:t>on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phones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-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computers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algn="just" marL="372110" marR="8890" indent="-360045">
              <a:lnSpc>
                <a:spcPct val="100000"/>
              </a:lnSpc>
            </a:pP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 spc="265">
                <a:solidFill>
                  <a:srgbClr val="5FDEEE"/>
                </a:solidFill>
                <a:latin typeface="Microsoft Sans Serif"/>
                <a:cs typeface="Microsoft Sans Serif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Its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promise: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05" b="1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unique</a:t>
            </a:r>
            <a:r>
              <a:rPr dirty="0" sz="1500" spc="110" b="1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number</a:t>
            </a:r>
            <a:r>
              <a:rPr dirty="0" sz="1500" spc="105" b="1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dirty="0" sz="1500" spc="105" b="1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500" spc="110" b="1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character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matter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the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platform,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matter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program,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matter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language.</a:t>
            </a:r>
            <a:endParaRPr sz="1500">
              <a:latin typeface="Cambria"/>
              <a:cs typeface="Cambria"/>
            </a:endParaRPr>
          </a:p>
          <a:p>
            <a:pPr algn="just" marL="372110" marR="8255" indent="-360045">
              <a:lnSpc>
                <a:spcPct val="100000"/>
              </a:lnSpc>
            </a:pP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 spc="370">
                <a:solidFill>
                  <a:srgbClr val="5FDEEE"/>
                </a:solidFill>
                <a:latin typeface="Microsoft Sans Serif"/>
                <a:cs typeface="Microsoft Sans Serif"/>
              </a:rPr>
              <a:t>  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Around</a:t>
            </a:r>
            <a:r>
              <a:rPr dirty="0" sz="1500" spc="3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it</a:t>
            </a:r>
            <a:r>
              <a:rPr dirty="0" sz="1500" spc="3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3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Consortium</a:t>
            </a:r>
            <a:r>
              <a:rPr dirty="0" sz="1500" spc="3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also</a:t>
            </a:r>
            <a:r>
              <a:rPr dirty="0" sz="1500" spc="3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maintains</a:t>
            </a:r>
            <a:r>
              <a:rPr dirty="0" sz="1500" spc="3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35" b="1">
                <a:solidFill>
                  <a:srgbClr val="FFFFFF"/>
                </a:solidFill>
                <a:latin typeface="Cambria"/>
                <a:cs typeface="Cambria"/>
              </a:rPr>
              <a:t>CLDR</a:t>
            </a:r>
            <a:r>
              <a:rPr dirty="0" sz="1500" spc="3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(locale</a:t>
            </a:r>
            <a:r>
              <a:rPr dirty="0" sz="1500" spc="3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data</a:t>
            </a:r>
            <a:r>
              <a:rPr dirty="0" sz="1500" spc="3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used</a:t>
            </a:r>
            <a:r>
              <a:rPr dirty="0" sz="1500" spc="3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</a:t>
            </a:r>
            <a:r>
              <a:rPr dirty="0" sz="1500" spc="3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every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major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OS)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40" b="1">
                <a:solidFill>
                  <a:srgbClr val="FFFFFF"/>
                </a:solidFill>
                <a:latin typeface="Cambria"/>
                <a:cs typeface="Cambria"/>
              </a:rPr>
              <a:t>ICU</a:t>
            </a:r>
            <a:r>
              <a:rPr dirty="0" sz="1500" spc="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(the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libraries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most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software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uses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implement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Unicode).</a:t>
            </a:r>
            <a:endParaRPr sz="1500">
              <a:latin typeface="Cambria"/>
              <a:cs typeface="Cambria"/>
            </a:endParaRPr>
          </a:p>
          <a:p>
            <a:pPr algn="just" marL="372110" marR="8255" indent="-360045">
              <a:lnSpc>
                <a:spcPct val="100000"/>
              </a:lnSpc>
            </a:pP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 spc="240">
                <a:solidFill>
                  <a:srgbClr val="5FDEEE"/>
                </a:solidFill>
                <a:latin typeface="Microsoft Sans Serif"/>
                <a:cs typeface="Microsoft Sans Serif"/>
              </a:rPr>
              <a:t>  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major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version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ships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500" spc="1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year,</a:t>
            </a:r>
            <a:r>
              <a:rPr dirty="0" sz="1500" spc="11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targeted</a:t>
            </a:r>
            <a:r>
              <a:rPr dirty="0" sz="1500" spc="11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at</a:t>
            </a:r>
            <a:r>
              <a:rPr dirty="0" sz="1500" spc="1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third</a:t>
            </a:r>
            <a:r>
              <a:rPr dirty="0" sz="1500" spc="1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Cambria"/>
                <a:cs typeface="Cambria"/>
              </a:rPr>
              <a:t>quarter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;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point,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once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assigned,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never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removed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reassigned.</a:t>
            </a:r>
            <a:endParaRPr sz="1500">
              <a:latin typeface="Cambria"/>
              <a:cs typeface="Cambria"/>
            </a:endParaRPr>
          </a:p>
          <a:p>
            <a:pPr algn="just" marL="372110" marR="7620" indent="-360045">
              <a:lnSpc>
                <a:spcPct val="100000"/>
              </a:lnSpc>
            </a:pP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 spc="280">
                <a:solidFill>
                  <a:srgbClr val="5FDEEE"/>
                </a:solidFill>
                <a:latin typeface="Microsoft Sans Serif"/>
                <a:cs typeface="Microsoft Sans Serif"/>
              </a:rPr>
              <a:t> 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home.unicode.org</a:t>
            </a:r>
            <a:r>
              <a:rPr dirty="0" sz="1500" spc="295" b="1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introduces</a:t>
            </a:r>
            <a:r>
              <a:rPr dirty="0" sz="1500" spc="29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29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project;</a:t>
            </a:r>
            <a:r>
              <a:rPr dirty="0" sz="1500" spc="29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unicode.org</a:t>
            </a:r>
            <a:r>
              <a:rPr dirty="0" sz="1500" spc="295" b="1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carries</a:t>
            </a:r>
            <a:r>
              <a:rPr dirty="0" sz="1500" spc="29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the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specifications,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charts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FAQs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this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session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cites.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17:40:15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Give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class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thirty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seconds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on </a:t>
            </a:r>
            <a:r>
              <a:rPr dirty="0" sz="1000">
                <a:latin typeface="Microsoft Sans Serif"/>
                <a:cs typeface="Microsoft Sans Serif"/>
              </a:rPr>
              <a:t>who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owns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this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problem.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Unicode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not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ISO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committee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or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 </a:t>
            </a:r>
            <a:r>
              <a:rPr dirty="0" sz="1000">
                <a:latin typeface="Microsoft Sans Serif"/>
                <a:cs typeface="Microsoft Sans Serif"/>
              </a:rPr>
              <a:t>company;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small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non-</a:t>
            </a:r>
            <a:r>
              <a:rPr dirty="0" sz="1000" spc="-10">
                <a:latin typeface="Microsoft Sans Serif"/>
                <a:cs typeface="Microsoft Sans Serif"/>
              </a:rPr>
              <a:t>profit </a:t>
            </a:r>
            <a:r>
              <a:rPr dirty="0" sz="1000">
                <a:latin typeface="Microsoft Sans Serif"/>
                <a:cs typeface="Microsoft Sans Serif"/>
              </a:rPr>
              <a:t>whose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members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are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platform </a:t>
            </a:r>
            <a:r>
              <a:rPr dirty="0" sz="1000">
                <a:latin typeface="Microsoft Sans Serif"/>
                <a:cs typeface="Microsoft Sans Serif"/>
              </a:rPr>
              <a:t>vendors,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its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output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table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every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device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you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will </a:t>
            </a:r>
            <a:r>
              <a:rPr dirty="0" sz="1000">
                <a:latin typeface="Microsoft Sans Serif"/>
                <a:cs typeface="Microsoft Sans Serif"/>
              </a:rPr>
              <a:t>examine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agrees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on.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CLDR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and </a:t>
            </a:r>
            <a:r>
              <a:rPr dirty="0" sz="1000">
                <a:latin typeface="Microsoft Sans Serif"/>
                <a:cs typeface="Microsoft Sans Serif"/>
              </a:rPr>
              <a:t>ICU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matter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because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they </a:t>
            </a:r>
            <a:r>
              <a:rPr dirty="0" sz="1000">
                <a:latin typeface="Microsoft Sans Serif"/>
                <a:cs typeface="Microsoft Sans Serif"/>
              </a:rPr>
              <a:t>are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code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paths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through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which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standard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actually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reaches </a:t>
            </a:r>
            <a:r>
              <a:rPr dirty="0" sz="1000">
                <a:latin typeface="Microsoft Sans Serif"/>
                <a:cs typeface="Microsoft Sans Serif"/>
              </a:rPr>
              <a:t>Windows,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Android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iOS.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release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rhythm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annual,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and </a:t>
            </a:r>
            <a:r>
              <a:rPr dirty="0" sz="1000">
                <a:latin typeface="Microsoft Sans Serif"/>
                <a:cs typeface="Microsoft Sans Serif"/>
              </a:rPr>
              <a:t>nothing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ever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gets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deleted,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which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why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ten-year-old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image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still </a:t>
            </a:r>
            <a:r>
              <a:rPr dirty="0" sz="1000">
                <a:latin typeface="Microsoft Sans Serif"/>
                <a:cs typeface="Microsoft Sans Serif"/>
              </a:rPr>
              <a:t>decodes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correctly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today.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Point </a:t>
            </a:r>
            <a:r>
              <a:rPr dirty="0" sz="1000">
                <a:latin typeface="Microsoft Sans Serif"/>
                <a:cs typeface="Microsoft Sans Serif"/>
              </a:rPr>
              <a:t>students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two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sites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now, </a:t>
            </a:r>
            <a:r>
              <a:rPr dirty="0" sz="1000">
                <a:latin typeface="Microsoft Sans Serif"/>
                <a:cs typeface="Microsoft Sans Serif"/>
              </a:rPr>
              <a:t>because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following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slides </a:t>
            </a:r>
            <a:r>
              <a:rPr dirty="0" sz="1000">
                <a:latin typeface="Microsoft Sans Serif"/>
                <a:cs typeface="Microsoft Sans Serif"/>
              </a:rPr>
              <a:t>quote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them.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720001"/>
            <a:ext cx="11429996" cy="4817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739" y="1082540"/>
            <a:ext cx="5201920" cy="42227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Unicode</a:t>
            </a:r>
            <a:r>
              <a:rPr dirty="0" spc="25"/>
              <a:t> </a:t>
            </a:r>
            <a:r>
              <a:rPr dirty="0" spc="-145"/>
              <a:t>17.0:</a:t>
            </a:r>
            <a:r>
              <a:rPr dirty="0" spc="50"/>
              <a:t> </a:t>
            </a:r>
            <a:r>
              <a:rPr dirty="0"/>
              <a:t>The</a:t>
            </a:r>
            <a:r>
              <a:rPr dirty="0" spc="45"/>
              <a:t> </a:t>
            </a:r>
            <a:r>
              <a:rPr dirty="0"/>
              <a:t>Standard</a:t>
            </a:r>
            <a:r>
              <a:rPr dirty="0" spc="30"/>
              <a:t> </a:t>
            </a:r>
            <a:r>
              <a:rPr dirty="0" spc="-10"/>
              <a:t>Today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843" y="1779304"/>
            <a:ext cx="10223500" cy="2082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 marR="5715" indent="-360045">
              <a:lnSpc>
                <a:spcPct val="100000"/>
              </a:lnSpc>
              <a:spcBef>
                <a:spcPts val="1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Current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version: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Unicode</a:t>
            </a:r>
            <a:r>
              <a:rPr dirty="0" sz="1500" spc="2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0" b="1">
                <a:solidFill>
                  <a:srgbClr val="FFFFFF"/>
                </a:solidFill>
                <a:latin typeface="Cambria"/>
                <a:cs typeface="Cambria"/>
              </a:rPr>
              <a:t>17.0.0,</a:t>
            </a:r>
            <a:r>
              <a:rPr dirty="0" sz="1500" spc="2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released</a:t>
            </a:r>
            <a:r>
              <a:rPr dirty="0" sz="1500" spc="2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dirty="0" sz="1500" spc="2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September</a:t>
            </a:r>
            <a:r>
              <a:rPr dirty="0" sz="1500" spc="2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85" b="1">
                <a:solidFill>
                  <a:srgbClr val="FFFFFF"/>
                </a:solidFill>
                <a:latin typeface="Cambria"/>
                <a:cs typeface="Cambria"/>
              </a:rPr>
              <a:t>2025</a:t>
            </a:r>
            <a:r>
              <a:rPr dirty="0" sz="1500" spc="-85">
                <a:solidFill>
                  <a:srgbClr val="FFFFFF"/>
                </a:solidFill>
                <a:latin typeface="Cambria"/>
                <a:cs typeface="Cambria"/>
              </a:rPr>
              <a:t>;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2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new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major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version</a:t>
            </a:r>
            <a:r>
              <a:rPr dirty="0" sz="1500" spc="2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arrives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500" spc="2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year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2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third quarter.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It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encodes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25" b="1">
                <a:solidFill>
                  <a:srgbClr val="FFFFFF"/>
                </a:solidFill>
                <a:latin typeface="Cambria"/>
                <a:cs typeface="Cambria"/>
              </a:rPr>
              <a:t>159,801</a:t>
            </a:r>
            <a:r>
              <a:rPr dirty="0" sz="1500" spc="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0" b="1">
                <a:solidFill>
                  <a:srgbClr val="FFFFFF"/>
                </a:solidFill>
                <a:latin typeface="Cambria"/>
                <a:cs typeface="Cambria"/>
              </a:rPr>
              <a:t>characters</a:t>
            </a:r>
            <a:r>
              <a:rPr dirty="0" sz="1500" spc="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5" b="1">
                <a:solidFill>
                  <a:srgbClr val="FFFFFF"/>
                </a:solidFill>
                <a:latin typeface="Cambria"/>
                <a:cs typeface="Cambria"/>
              </a:rPr>
              <a:t>across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0" b="1">
                <a:solidFill>
                  <a:srgbClr val="FFFFFF"/>
                </a:solidFill>
                <a:latin typeface="Cambria"/>
                <a:cs typeface="Cambria"/>
              </a:rPr>
              <a:t>172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scripts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after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0">
                <a:solidFill>
                  <a:srgbClr val="FFFFFF"/>
                </a:solidFill>
                <a:latin typeface="Cambria"/>
                <a:cs typeface="Cambria"/>
              </a:rPr>
              <a:t>4,803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additions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this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release.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Four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new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scripts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arrived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17.0: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Sidetic,</a:t>
            </a:r>
            <a:r>
              <a:rPr dirty="0" sz="1500" spc="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Tolong</a:t>
            </a:r>
            <a:r>
              <a:rPr dirty="0" sz="1500" spc="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Siki,</a:t>
            </a:r>
            <a:r>
              <a:rPr dirty="0" sz="1500" spc="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Beria</a:t>
            </a:r>
            <a:r>
              <a:rPr dirty="0" sz="1500" spc="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Erfe</a:t>
            </a:r>
            <a:r>
              <a:rPr dirty="0" sz="1500" spc="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Tai</a:t>
            </a:r>
            <a:r>
              <a:rPr dirty="0" sz="1500" spc="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Cambria"/>
                <a:cs typeface="Cambria"/>
              </a:rPr>
              <a:t>Yo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135" b="1">
                <a:solidFill>
                  <a:srgbClr val="FFFFFF"/>
                </a:solidFill>
                <a:latin typeface="Cambria"/>
                <a:cs typeface="Cambria"/>
              </a:rPr>
              <a:t>CJK</a:t>
            </a:r>
            <a:r>
              <a:rPr dirty="0" sz="1500" spc="1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Unified</a:t>
            </a:r>
            <a:r>
              <a:rPr dirty="0" sz="1500" spc="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Ideographs</a:t>
            </a:r>
            <a:r>
              <a:rPr dirty="0" sz="1500" spc="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Extension</a:t>
            </a:r>
            <a:r>
              <a:rPr dirty="0" sz="1500" spc="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65" b="1">
                <a:solidFill>
                  <a:srgbClr val="FFFFFF"/>
                </a:solidFill>
                <a:latin typeface="Cambria"/>
                <a:cs typeface="Cambria"/>
              </a:rPr>
              <a:t>J</a:t>
            </a:r>
            <a:r>
              <a:rPr dirty="0" sz="1500" spc="1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added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0">
                <a:solidFill>
                  <a:srgbClr val="FFFFFF"/>
                </a:solidFill>
                <a:latin typeface="Cambria"/>
                <a:cs typeface="Cambria"/>
              </a:rPr>
              <a:t>4,298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ideographs,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taking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CJK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total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past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60">
                <a:solidFill>
                  <a:srgbClr val="FFFFFF"/>
                </a:solidFill>
                <a:latin typeface="Cambria"/>
                <a:cs typeface="Cambria"/>
              </a:rPr>
              <a:t>100,000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characters.</a:t>
            </a:r>
            <a:endParaRPr sz="1500">
              <a:latin typeface="Cambria"/>
              <a:cs typeface="Cambria"/>
            </a:endParaRPr>
          </a:p>
          <a:p>
            <a:pPr marL="372110" marR="6985" indent="-360045">
              <a:lnSpc>
                <a:spcPct val="100000"/>
              </a:lnSpc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Stability</a:t>
            </a:r>
            <a:r>
              <a:rPr dirty="0" sz="1500" spc="20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policy: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published</a:t>
            </a:r>
            <a:r>
              <a:rPr dirty="0" sz="1500" spc="20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character</a:t>
            </a:r>
            <a:r>
              <a:rPr dirty="0" sz="1500" spc="1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never</a:t>
            </a:r>
            <a:r>
              <a:rPr dirty="0" sz="1500" spc="2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removed,</a:t>
            </a:r>
            <a:r>
              <a:rPr dirty="0" sz="1500" spc="1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renamed</a:t>
            </a:r>
            <a:r>
              <a:rPr dirty="0" sz="1500" spc="1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2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reassigned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1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so</a:t>
            </a:r>
            <a:r>
              <a:rPr dirty="0" sz="1500" spc="2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old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evidence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always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decodes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same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way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tomorrow.</a:t>
            </a:r>
            <a:endParaRPr sz="1500">
              <a:latin typeface="Cambria"/>
              <a:cs typeface="Cambria"/>
            </a:endParaRPr>
          </a:p>
          <a:p>
            <a:pPr marL="372110" marR="5080" indent="-360045">
              <a:lnSpc>
                <a:spcPct val="100000"/>
              </a:lnSpc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-10" b="1">
                <a:solidFill>
                  <a:srgbClr val="FFDD41"/>
                </a:solidFill>
                <a:latin typeface="Cambria"/>
                <a:cs typeface="Cambria"/>
              </a:rPr>
              <a:t>Forensic</a:t>
            </a:r>
            <a:r>
              <a:rPr dirty="0" sz="1500" spc="254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angle:</a:t>
            </a:r>
            <a:r>
              <a:rPr dirty="0" sz="1500" spc="265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record</a:t>
            </a:r>
            <a:r>
              <a:rPr dirty="0" sz="1500" spc="25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2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Unicode</a:t>
            </a:r>
            <a:r>
              <a:rPr dirty="0" sz="1500" spc="2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version</a:t>
            </a:r>
            <a:r>
              <a:rPr dirty="0" sz="1500" spc="2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your</a:t>
            </a:r>
            <a:r>
              <a:rPr dirty="0" sz="1500" spc="25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tools</a:t>
            </a:r>
            <a:r>
              <a:rPr dirty="0" sz="15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implement;</a:t>
            </a:r>
            <a:r>
              <a:rPr dirty="0" sz="1500" spc="2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25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5">
                <a:solidFill>
                  <a:srgbClr val="FFFFFF"/>
                </a:solidFill>
                <a:latin typeface="Cambria"/>
                <a:cs typeface="Cambria"/>
              </a:rPr>
              <a:t>17.0-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only</a:t>
            </a:r>
            <a:r>
              <a:rPr dirty="0" sz="1500" spc="2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character</a:t>
            </a:r>
            <a:r>
              <a:rPr dirty="0" sz="1500" spc="25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2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2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file</a:t>
            </a:r>
            <a:r>
              <a:rPr dirty="0" sz="1500" spc="2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name</a:t>
            </a:r>
            <a:r>
              <a:rPr dirty="0" sz="1500" spc="2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renders</a:t>
            </a:r>
            <a:r>
              <a:rPr dirty="0" sz="1500" spc="2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as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boxes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older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tools,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not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corruption.</a:t>
            </a:r>
            <a:endParaRPr sz="1500">
              <a:latin typeface="Cambria"/>
              <a:cs typeface="Cambria"/>
            </a:endParaRPr>
          </a:p>
        </p:txBody>
      </p:sp>
      <p:pic>
        <p:nvPicPr>
          <p:cNvPr id="5" name="object 5" descr="smile-cyan-diamon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3421" y="5759999"/>
            <a:ext cx="721264" cy="919997"/>
          </a:xfrm>
          <a:prstGeom prst="rect">
            <a:avLst/>
          </a:prstGeom>
        </p:spPr>
      </p:pic>
      <p:pic>
        <p:nvPicPr>
          <p:cNvPr id="6" name="object 6" descr="wow-sand-tri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89688" y="5759999"/>
            <a:ext cx="743470" cy="919997"/>
          </a:xfrm>
          <a:prstGeom prst="rect">
            <a:avLst/>
          </a:prstGeom>
        </p:spPr>
      </p:pic>
      <p:pic>
        <p:nvPicPr>
          <p:cNvPr id="7" name="object 7" descr="smile-yellow-trap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28168" y="5759999"/>
            <a:ext cx="790105" cy="91999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17:40:17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Numbers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anchor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scale: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just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under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160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thousand </a:t>
            </a:r>
            <a:r>
              <a:rPr dirty="0" sz="1000">
                <a:latin typeface="Microsoft Sans Serif"/>
                <a:cs typeface="Microsoft Sans Serif"/>
              </a:rPr>
              <a:t>characters,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172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scripts,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an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annual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drumbeat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of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additions.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four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new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scripts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will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mean </a:t>
            </a:r>
            <a:r>
              <a:rPr dirty="0" sz="1000">
                <a:latin typeface="Microsoft Sans Serif"/>
                <a:cs typeface="Microsoft Sans Serif"/>
              </a:rPr>
              <a:t>nothing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most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students,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which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point: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Unicode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grows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edges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of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world's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writing </a:t>
            </a:r>
            <a:r>
              <a:rPr dirty="0" sz="1000">
                <a:latin typeface="Microsoft Sans Serif"/>
                <a:cs typeface="Microsoft Sans Serif"/>
              </a:rPr>
              <a:t>systems.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stability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policy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</a:t>
            </a:r>
            <a:r>
              <a:rPr dirty="0" sz="1000">
                <a:latin typeface="Microsoft Sans Serif"/>
                <a:cs typeface="Microsoft Sans Serif"/>
              </a:rPr>
              <a:t> the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forensically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load-bearing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fact: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code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point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can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added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but </a:t>
            </a:r>
            <a:r>
              <a:rPr dirty="0" sz="1000">
                <a:latin typeface="Microsoft Sans Serif"/>
                <a:cs typeface="Microsoft Sans Serif"/>
              </a:rPr>
              <a:t>never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removed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or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renamed,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so </a:t>
            </a:r>
            <a:r>
              <a:rPr dirty="0" sz="1000">
                <a:latin typeface="Microsoft Sans Serif"/>
                <a:cs typeface="Microsoft Sans Serif"/>
              </a:rPr>
              <a:t>decoding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stays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stable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across </a:t>
            </a:r>
            <a:r>
              <a:rPr dirty="0" sz="1000">
                <a:latin typeface="Microsoft Sans Serif"/>
                <a:cs typeface="Microsoft Sans Serif"/>
              </a:rPr>
              <a:t>decades.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forensic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angle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 </a:t>
            </a:r>
            <a:r>
              <a:rPr dirty="0" sz="1000">
                <a:latin typeface="Microsoft Sans Serif"/>
                <a:cs typeface="Microsoft Sans Serif"/>
              </a:rPr>
              <a:t>version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skew: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file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name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using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 </a:t>
            </a:r>
            <a:r>
              <a:rPr dirty="0" sz="1000">
                <a:latin typeface="Microsoft Sans Serif"/>
                <a:cs typeface="Microsoft Sans Serif"/>
              </a:rPr>
              <a:t>brand-new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character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not </a:t>
            </a:r>
            <a:r>
              <a:rPr dirty="0" sz="1000">
                <a:latin typeface="Microsoft Sans Serif"/>
                <a:cs typeface="Microsoft Sans Serif"/>
              </a:rPr>
              <a:t>corruption,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just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tool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with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an </a:t>
            </a:r>
            <a:r>
              <a:rPr dirty="0" sz="1000">
                <a:latin typeface="Microsoft Sans Serif"/>
                <a:cs typeface="Microsoft Sans Serif"/>
              </a:rPr>
              <a:t>older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table.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dirty="0" spc="25"/>
              <a:t> </a:t>
            </a:r>
            <a:r>
              <a:rPr dirty="0"/>
              <a:t>Seventeen</a:t>
            </a:r>
            <a:r>
              <a:rPr dirty="0" spc="10"/>
              <a:t> </a:t>
            </a:r>
            <a:r>
              <a:rPr dirty="0" spc="-10"/>
              <a:t>Planes</a:t>
            </a:r>
          </a:p>
        </p:txBody>
      </p:sp>
      <p:pic>
        <p:nvPicPr>
          <p:cNvPr id="3" name="object 3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7340" y="1503875"/>
            <a:ext cx="58547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17</a:t>
            </a:r>
            <a:r>
              <a:rPr dirty="0" sz="150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planes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x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65,536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ourier New"/>
                <a:cs typeface="Courier New"/>
              </a:rPr>
              <a:t>1,114,112</a:t>
            </a:r>
            <a:r>
              <a:rPr dirty="0" sz="15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ourier New"/>
                <a:cs typeface="Courier New"/>
              </a:rPr>
              <a:t>possible</a:t>
            </a:r>
            <a:r>
              <a:rPr dirty="0" sz="1500" spc="-2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ourier New"/>
                <a:cs typeface="Courier New"/>
              </a:rPr>
              <a:t>code</a:t>
            </a:r>
            <a:r>
              <a:rPr dirty="0" sz="15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ourier New"/>
                <a:cs typeface="Courier New"/>
              </a:rPr>
              <a:t>points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57340" y="1997651"/>
            <a:ext cx="26543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3665" algn="l"/>
              </a:tabLst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plane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Courier New"/>
                <a:cs typeface="Courier New"/>
              </a:rPr>
              <a:t>0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	0000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FFFF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7740" y="1979363"/>
            <a:ext cx="4826000" cy="51943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dirty="0" sz="1500" b="1">
                <a:solidFill>
                  <a:srgbClr val="FFFFFF"/>
                </a:solidFill>
                <a:latin typeface="Courier New"/>
                <a:cs typeface="Courier New"/>
              </a:rPr>
              <a:t>BMP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:</a:t>
            </a:r>
            <a:r>
              <a:rPr dirty="0" sz="150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nearly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all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modern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scripts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Devanagari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0900-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097F,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surrogates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D800-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DFFF</a:t>
            </a:r>
            <a:endParaRPr sz="1500">
              <a:latin typeface="Courier New"/>
              <a:cs typeface="Courier New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338290" y="2536032"/>
          <a:ext cx="7797800" cy="708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0400"/>
                <a:gridCol w="457200"/>
                <a:gridCol w="914400"/>
                <a:gridCol w="1028700"/>
                <a:gridCol w="685800"/>
                <a:gridCol w="3975100"/>
              </a:tblGrid>
              <a:tr h="231140">
                <a:tc>
                  <a:txBody>
                    <a:bodyPr/>
                    <a:lstStyle/>
                    <a:p>
                      <a:pPr algn="ctr" marR="17780">
                        <a:lnSpc>
                          <a:spcPts val="1550"/>
                        </a:lnSpc>
                      </a:pPr>
                      <a:r>
                        <a:rPr dirty="0" sz="15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plane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155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9530">
                        <a:lnSpc>
                          <a:spcPts val="1550"/>
                        </a:lnSpc>
                      </a:pPr>
                      <a:r>
                        <a:rPr dirty="0" sz="15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10000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1550"/>
                        </a:lnSpc>
                      </a:pP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15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1FFFF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8895">
                        <a:lnSpc>
                          <a:spcPts val="1550"/>
                        </a:lnSpc>
                      </a:pPr>
                      <a:r>
                        <a:rPr dirty="0" sz="1500" spc="-2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SMP</a:t>
                      </a:r>
                      <a:r>
                        <a:rPr dirty="0" sz="150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: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550"/>
                        </a:lnSpc>
                      </a:pP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emoji,</a:t>
                      </a:r>
                      <a:r>
                        <a:rPr dirty="0" sz="1500" spc="-4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symbols,</a:t>
                      </a:r>
                      <a:r>
                        <a:rPr dirty="0" sz="1500" spc="-3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historic</a:t>
                      </a:r>
                      <a:r>
                        <a:rPr dirty="0" sz="1500" spc="-3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scripts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46379">
                <a:tc>
                  <a:txBody>
                    <a:bodyPr/>
                    <a:lstStyle/>
                    <a:p>
                      <a:pPr algn="ctr" marR="17780">
                        <a:lnSpc>
                          <a:spcPts val="1670"/>
                        </a:lnSpc>
                      </a:pPr>
                      <a:r>
                        <a:rPr dirty="0" sz="15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plane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167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9530">
                        <a:lnSpc>
                          <a:spcPts val="1670"/>
                        </a:lnSpc>
                      </a:pPr>
                      <a:r>
                        <a:rPr dirty="0" sz="15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20000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1670"/>
                        </a:lnSpc>
                      </a:pP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15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2FFFF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8895">
                        <a:lnSpc>
                          <a:spcPts val="1670"/>
                        </a:lnSpc>
                      </a:pPr>
                      <a:r>
                        <a:rPr dirty="0" sz="1500" spc="-2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SIP</a:t>
                      </a:r>
                      <a:r>
                        <a:rPr dirty="0" sz="150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: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670"/>
                        </a:lnSpc>
                      </a:pP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rare</a:t>
                      </a:r>
                      <a:r>
                        <a:rPr dirty="0" sz="1500" spc="-3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CJK</a:t>
                      </a:r>
                      <a:r>
                        <a:rPr dirty="0" sz="150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ideographs</a:t>
                      </a:r>
                      <a:r>
                        <a:rPr dirty="0" sz="150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(Ext.</a:t>
                      </a:r>
                      <a:r>
                        <a:rPr dirty="0" sz="150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r>
                        <a:rPr dirty="0" sz="150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to</a:t>
                      </a:r>
                      <a:r>
                        <a:rPr dirty="0" sz="150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F)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31140">
                <a:tc>
                  <a:txBody>
                    <a:bodyPr/>
                    <a:lstStyle/>
                    <a:p>
                      <a:pPr algn="ctr" marR="17780">
                        <a:lnSpc>
                          <a:spcPts val="1670"/>
                        </a:lnSpc>
                      </a:pPr>
                      <a:r>
                        <a:rPr dirty="0" sz="15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plane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1670"/>
                        </a:lnSpc>
                      </a:pPr>
                      <a:r>
                        <a:rPr dirty="0" sz="150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9530">
                        <a:lnSpc>
                          <a:spcPts val="1670"/>
                        </a:lnSpc>
                      </a:pPr>
                      <a:r>
                        <a:rPr dirty="0" sz="15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30000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1670"/>
                        </a:lnSpc>
                      </a:pP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15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3FFFF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8895">
                        <a:lnSpc>
                          <a:spcPts val="1670"/>
                        </a:lnSpc>
                      </a:pPr>
                      <a:r>
                        <a:rPr dirty="0" sz="1500" spc="-2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TIP</a:t>
                      </a:r>
                      <a:r>
                        <a:rPr dirty="0" sz="150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: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670"/>
                        </a:lnSpc>
                      </a:pP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CJK</a:t>
                      </a:r>
                      <a:r>
                        <a:rPr dirty="0" sz="150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Ext.</a:t>
                      </a:r>
                      <a:r>
                        <a:rPr dirty="0" sz="15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G</a:t>
                      </a:r>
                      <a:r>
                        <a:rPr dirty="0" sz="15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to</a:t>
                      </a:r>
                      <a:r>
                        <a:rPr dirty="0" sz="150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J</a:t>
                      </a:r>
                      <a:r>
                        <a:rPr dirty="0" sz="150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(J</a:t>
                      </a:r>
                      <a:r>
                        <a:rPr dirty="0" sz="1500" spc="-1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r>
                        <a:rPr dirty="0" sz="1500" spc="-1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r>
                        <a:rPr dirty="0" sz="1500" spc="-1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50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dirty="0" sz="1500" spc="-1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 17.0)</a:t>
                      </a:r>
                      <a:endParaRPr sz="15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2728940" y="3478979"/>
            <a:ext cx="10541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E0000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...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7340" y="3213803"/>
            <a:ext cx="1397000" cy="766445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planes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4-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13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plane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14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planes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15-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16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57740" y="3213803"/>
            <a:ext cx="4483100" cy="766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9380">
              <a:lnSpc>
                <a:spcPct val="108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unassigned: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room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for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decades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of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growth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tags</a:t>
            </a:r>
            <a:r>
              <a:rPr dirty="0" sz="1500" spc="-4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and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variation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selectors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private</a:t>
            </a:r>
            <a:r>
              <a:rPr dirty="0" sz="150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use: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no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standard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meaning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at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all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7340" y="4201355"/>
            <a:ext cx="7454900" cy="519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a</a:t>
            </a:r>
            <a:r>
              <a:rPr dirty="0" sz="1500" spc="-1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spc="-10" b="1">
                <a:solidFill>
                  <a:srgbClr val="5FDEEE"/>
                </a:solidFill>
                <a:latin typeface="Courier New"/>
                <a:cs typeface="Courier New"/>
              </a:rPr>
              <a:t>private-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use</a:t>
            </a:r>
            <a:r>
              <a:rPr dirty="0" sz="1500" spc="-1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or</a:t>
            </a:r>
            <a:r>
              <a:rPr dirty="0" sz="1500" spc="-1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unassigned</a:t>
            </a:r>
            <a:r>
              <a:rPr dirty="0" sz="1500" spc="-1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code</a:t>
            </a:r>
            <a:r>
              <a:rPr dirty="0" sz="1500" spc="-1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point</a:t>
            </a:r>
            <a:r>
              <a:rPr dirty="0" sz="1500" spc="-1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in</a:t>
            </a:r>
            <a:r>
              <a:rPr dirty="0" sz="1500" spc="-1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a</a:t>
            </a:r>
            <a:r>
              <a:rPr dirty="0" sz="1500" spc="-1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file</a:t>
            </a:r>
            <a:r>
              <a:rPr dirty="0" sz="1500" spc="-1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name</a:t>
            </a:r>
            <a:r>
              <a:rPr dirty="0" sz="1500" spc="-1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is</a:t>
            </a:r>
            <a:r>
              <a:rPr dirty="0" sz="1500" spc="-1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a</a:t>
            </a:r>
            <a:r>
              <a:rPr dirty="0" sz="1500" spc="-10" b="1">
                <a:solidFill>
                  <a:srgbClr val="5FDEEE"/>
                </a:solidFill>
                <a:latin typeface="Courier New"/>
                <a:cs typeface="Courier New"/>
              </a:rPr>
              <a:t> choice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someone</a:t>
            </a:r>
            <a:r>
              <a:rPr dirty="0" sz="1500" spc="-3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made:</a:t>
            </a:r>
            <a:r>
              <a:rPr dirty="0" sz="1500" spc="-2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look</a:t>
            </a:r>
            <a:r>
              <a:rPr dirty="0" sz="1500" spc="-2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spc="-10" b="1">
                <a:solidFill>
                  <a:srgbClr val="5FDEEE"/>
                </a:solidFill>
                <a:latin typeface="Courier New"/>
                <a:cs typeface="Courier New"/>
              </a:rPr>
              <a:t>twice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17:40:18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The map matters because </a:t>
            </a:r>
            <a:r>
              <a:rPr dirty="0" sz="1000" spc="-20">
                <a:latin typeface="Microsoft Sans Serif"/>
                <a:cs typeface="Microsoft Sans Serif"/>
              </a:rPr>
              <a:t>UTF-</a:t>
            </a:r>
            <a:r>
              <a:rPr dirty="0" sz="1000">
                <a:latin typeface="Microsoft Sans Serif"/>
                <a:cs typeface="Microsoft Sans Serif"/>
              </a:rPr>
              <a:t>16's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surrogate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mechanism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and </a:t>
            </a:r>
            <a:r>
              <a:rPr dirty="0" sz="1000">
                <a:latin typeface="Microsoft Sans Serif"/>
                <a:cs typeface="Microsoft Sans Serif"/>
              </a:rPr>
              <a:t>half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of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lookalike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tricks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live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at </a:t>
            </a:r>
            <a:r>
              <a:rPr dirty="0" sz="1000">
                <a:latin typeface="Microsoft Sans Serif"/>
                <a:cs typeface="Microsoft Sans Serif"/>
              </a:rPr>
              <a:t>plane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boundaries.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Plane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0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 </a:t>
            </a:r>
            <a:r>
              <a:rPr dirty="0" sz="1000">
                <a:latin typeface="Microsoft Sans Serif"/>
                <a:cs typeface="Microsoft Sans Serif"/>
              </a:rPr>
              <a:t>where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casework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happens;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plane </a:t>
            </a:r>
            <a:r>
              <a:rPr dirty="0" sz="1000">
                <a:latin typeface="Microsoft Sans Serif"/>
                <a:cs typeface="Microsoft Sans Serif"/>
              </a:rPr>
              <a:t>1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where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emoji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live,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which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 </a:t>
            </a:r>
            <a:r>
              <a:rPr dirty="0" sz="1000">
                <a:latin typeface="Microsoft Sans Serif"/>
                <a:cs typeface="Microsoft Sans Serif"/>
              </a:rPr>
              <a:t>why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chat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exports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keep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tripping </a:t>
            </a:r>
            <a:r>
              <a:rPr dirty="0" sz="1000">
                <a:latin typeface="Microsoft Sans Serif"/>
                <a:cs typeface="Microsoft Sans Serif"/>
              </a:rPr>
              <a:t>tools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assume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BMP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 </a:t>
            </a:r>
            <a:r>
              <a:rPr dirty="0" sz="1000">
                <a:latin typeface="Microsoft Sans Serif"/>
                <a:cs typeface="Microsoft Sans Serif"/>
              </a:rPr>
              <a:t>everything.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Planes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15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16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are </a:t>
            </a:r>
            <a:r>
              <a:rPr dirty="0" sz="1000">
                <a:latin typeface="Microsoft Sans Serif"/>
                <a:cs typeface="Microsoft Sans Serif"/>
              </a:rPr>
              <a:t>private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use: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fonts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apps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can </a:t>
            </a:r>
            <a:r>
              <a:rPr dirty="0" sz="1000">
                <a:latin typeface="Microsoft Sans Serif"/>
                <a:cs typeface="Microsoft Sans Serif"/>
              </a:rPr>
              <a:t>privately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agree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meanings </a:t>
            </a:r>
            <a:r>
              <a:rPr dirty="0" sz="1000">
                <a:latin typeface="Microsoft Sans Serif"/>
                <a:cs typeface="Microsoft Sans Serif"/>
              </a:rPr>
              <a:t>there,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so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private-use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code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point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inside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file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name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 </a:t>
            </a:r>
            <a:r>
              <a:rPr dirty="0" sz="1000">
                <a:latin typeface="Microsoft Sans Serif"/>
                <a:cs typeface="Microsoft Sans Serif"/>
              </a:rPr>
              <a:t>deliberate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act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worth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investigating.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1.1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million </a:t>
            </a:r>
            <a:r>
              <a:rPr dirty="0" sz="1000">
                <a:latin typeface="Microsoft Sans Serif"/>
                <a:cs typeface="Microsoft Sans Serif"/>
              </a:rPr>
              <a:t>figure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17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times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65,536,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and </a:t>
            </a:r>
            <a:r>
              <a:rPr dirty="0" sz="1000">
                <a:latin typeface="Microsoft Sans Serif"/>
                <a:cs typeface="Microsoft Sans Serif"/>
              </a:rPr>
              <a:t>only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about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seventh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of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 </a:t>
            </a:r>
            <a:r>
              <a:rPr dirty="0" sz="1000">
                <a:latin typeface="Microsoft Sans Serif"/>
                <a:cs typeface="Microsoft Sans Serif"/>
              </a:rPr>
              <a:t>assigned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so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far.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720001"/>
            <a:ext cx="11429996" cy="4817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739" y="1082540"/>
            <a:ext cx="963930" cy="42227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80">
                <a:solidFill>
                  <a:srgbClr val="FFDD41"/>
                </a:solidFill>
              </a:rPr>
              <a:t>UTF-</a:t>
            </a:r>
            <a:r>
              <a:rPr dirty="0" spc="-175">
                <a:solidFill>
                  <a:srgbClr val="FFDD41"/>
                </a:solidFill>
              </a:rPr>
              <a:t>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843" y="1703104"/>
            <a:ext cx="9749155" cy="2021839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Cambria"/>
                <a:cs typeface="Cambria"/>
              </a:rPr>
              <a:t>variable-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length</a:t>
            </a:r>
            <a:r>
              <a:rPr dirty="0" sz="1500" spc="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encoding: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each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point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becomes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500" spc="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r>
              <a:rPr dirty="0" sz="1500" spc="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points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0">
                <a:solidFill>
                  <a:srgbClr val="FFFFFF"/>
                </a:solidFill>
                <a:latin typeface="Cambria"/>
                <a:cs typeface="Cambria"/>
              </a:rPr>
              <a:t>127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stored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exactly</a:t>
            </a:r>
            <a:r>
              <a:rPr dirty="0" sz="1500" spc="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like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30" b="1">
                <a:solidFill>
                  <a:srgbClr val="FFFFFF"/>
                </a:solidFill>
                <a:latin typeface="Cambria"/>
                <a:cs typeface="Cambria"/>
              </a:rPr>
              <a:t>ASCII</a:t>
            </a:r>
            <a:r>
              <a:rPr dirty="0" sz="1500" spc="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one</a:t>
            </a:r>
            <a:r>
              <a:rPr dirty="0" sz="1500" spc="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byte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ASCII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file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already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valid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UTF-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8.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Multi-byte</a:t>
            </a:r>
            <a:r>
              <a:rPr dirty="0" sz="15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characters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use</a:t>
            </a:r>
            <a:r>
              <a:rPr dirty="0" sz="1500" spc="1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marked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patterns:</a:t>
            </a:r>
            <a:endParaRPr sz="1500">
              <a:latin typeface="Cambria"/>
              <a:cs typeface="Cambria"/>
            </a:endParaRPr>
          </a:p>
          <a:p>
            <a:pPr marL="772795" indent="-300355">
              <a:lnSpc>
                <a:spcPct val="100000"/>
              </a:lnSpc>
              <a:spcBef>
                <a:spcPts val="305"/>
              </a:spcBef>
              <a:buClr>
                <a:srgbClr val="B89E87"/>
              </a:buClr>
              <a:buSzPct val="69230"/>
              <a:buFont typeface="Microsoft Sans Serif"/>
              <a:buChar char="▪"/>
              <a:tabLst>
                <a:tab pos="772795" algn="l"/>
                <a:tab pos="3094355" algn="l"/>
              </a:tabLst>
            </a:pP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2 bytes:</a:t>
            </a:r>
            <a:r>
              <a:rPr dirty="0" sz="13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110xxxxx</a:t>
            </a:r>
            <a:r>
              <a:rPr dirty="0" sz="1300" spc="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mbria"/>
                <a:cs typeface="Cambria"/>
              </a:rPr>
              <a:t>10xxxxxx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	3</a:t>
            </a:r>
            <a:r>
              <a:rPr dirty="0" sz="13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bytes:</a:t>
            </a:r>
            <a:r>
              <a:rPr dirty="0" sz="13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mbria"/>
                <a:cs typeface="Cambria"/>
              </a:rPr>
              <a:t>1110xxxx</a:t>
            </a:r>
            <a:r>
              <a:rPr dirty="0" sz="13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10xxxxxx</a:t>
            </a:r>
            <a:r>
              <a:rPr dirty="0" sz="13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mbria"/>
                <a:cs typeface="Cambria"/>
              </a:rPr>
              <a:t>10xxxxxx</a:t>
            </a:r>
            <a:endParaRPr sz="1300">
              <a:latin typeface="Cambria"/>
              <a:cs typeface="Cambria"/>
            </a:endParaRPr>
          </a:p>
          <a:p>
            <a:pPr marL="772795" indent="-300355">
              <a:lnSpc>
                <a:spcPct val="100000"/>
              </a:lnSpc>
              <a:spcBef>
                <a:spcPts val="300"/>
              </a:spcBef>
              <a:buClr>
                <a:srgbClr val="B89E87"/>
              </a:buClr>
              <a:buSzPct val="69230"/>
              <a:buFont typeface="Microsoft Sans Serif"/>
              <a:buChar char="▪"/>
              <a:tabLst>
                <a:tab pos="772795" algn="l"/>
              </a:tabLst>
            </a:pP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r>
              <a:rPr dirty="0" sz="13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bytes:</a:t>
            </a:r>
            <a:r>
              <a:rPr dirty="0" sz="13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Cambria"/>
                <a:cs typeface="Cambria"/>
              </a:rPr>
              <a:t>11110xxx</a:t>
            </a:r>
            <a:r>
              <a:rPr dirty="0" sz="13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10xxxxxx</a:t>
            </a:r>
            <a:r>
              <a:rPr dirty="0" sz="13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>
                <a:solidFill>
                  <a:srgbClr val="FFFFFF"/>
                </a:solidFill>
                <a:latin typeface="Cambria"/>
                <a:cs typeface="Cambria"/>
              </a:rPr>
              <a:t>10xxxxxx</a:t>
            </a:r>
            <a:r>
              <a:rPr dirty="0" sz="13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mbria"/>
                <a:cs typeface="Cambria"/>
              </a:rPr>
              <a:t>10xxxxxx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Dominant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web,</a:t>
            </a:r>
            <a:r>
              <a:rPr dirty="0" sz="1500" spc="1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Linux,</a:t>
            </a:r>
            <a:r>
              <a:rPr dirty="0" sz="1500" spc="1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macOS,</a:t>
            </a:r>
            <a:r>
              <a:rPr dirty="0" sz="1500" spc="11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1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inside</a:t>
            </a:r>
            <a:r>
              <a:rPr dirty="0" sz="1500" spc="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SQLite</a:t>
            </a:r>
            <a:r>
              <a:rPr dirty="0" sz="1500" spc="1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0" b="1">
                <a:solidFill>
                  <a:srgbClr val="FFFFFF"/>
                </a:solidFill>
                <a:latin typeface="Cambria"/>
                <a:cs typeface="Cambria"/>
              </a:rPr>
              <a:t>databases</a:t>
            </a:r>
            <a:r>
              <a:rPr dirty="0" sz="1500" spc="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(chat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apps,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browsers).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Continuation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always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start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5" b="1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dirty="0" sz="1500" spc="-55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so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reader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resynchronise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mid-stream: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helpful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when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carving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fragments.</a:t>
            </a:r>
            <a:endParaRPr sz="1500">
              <a:latin typeface="Cambria"/>
              <a:cs typeface="Cambria"/>
            </a:endParaRPr>
          </a:p>
        </p:txBody>
      </p:sp>
      <p:pic>
        <p:nvPicPr>
          <p:cNvPr id="5" name="object 5" descr="smile-purple-rect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8092" y="5759999"/>
            <a:ext cx="447446" cy="919997"/>
          </a:xfrm>
          <a:prstGeom prst="rect">
            <a:avLst/>
          </a:prstGeom>
        </p:spPr>
      </p:pic>
      <p:pic>
        <p:nvPicPr>
          <p:cNvPr id="6" name="object 6" descr="smile-yellow-trap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50547" y="5759999"/>
            <a:ext cx="790105" cy="919997"/>
          </a:xfrm>
          <a:prstGeom prst="rect">
            <a:avLst/>
          </a:prstGeom>
        </p:spPr>
      </p:pic>
      <p:pic>
        <p:nvPicPr>
          <p:cNvPr id="7" name="object 7" descr="smile-blue-circle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35661" y="5759999"/>
            <a:ext cx="747941" cy="91999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17:40:19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Unicode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gave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numbers. </a:t>
            </a:r>
            <a:r>
              <a:rPr dirty="0" sz="1000">
                <a:latin typeface="Microsoft Sans Serif"/>
                <a:cs typeface="Microsoft Sans Serif"/>
              </a:rPr>
              <a:t>UTF-8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first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most </a:t>
            </a:r>
            <a:r>
              <a:rPr dirty="0" sz="1000">
                <a:latin typeface="Microsoft Sans Serif"/>
                <a:cs typeface="Microsoft Sans Serif"/>
              </a:rPr>
              <a:t>important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answer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question </a:t>
            </a:r>
            <a:r>
              <a:rPr dirty="0" sz="1000">
                <a:latin typeface="Microsoft Sans Serif"/>
                <a:cs typeface="Microsoft Sans Serif"/>
              </a:rPr>
              <a:t>of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how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those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numbers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actually </a:t>
            </a:r>
            <a:r>
              <a:rPr dirty="0" sz="1000">
                <a:latin typeface="Microsoft Sans Serif"/>
                <a:cs typeface="Microsoft Sans Serif"/>
              </a:rPr>
              <a:t>become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disk.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1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key</a:t>
            </a:r>
            <a:r>
              <a:rPr dirty="0" sz="1000" spc="1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word</a:t>
            </a:r>
            <a:r>
              <a:rPr dirty="0" sz="1000" spc="15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is variable-</a:t>
            </a:r>
            <a:r>
              <a:rPr dirty="0" sz="1000">
                <a:latin typeface="Microsoft Sans Serif"/>
                <a:cs typeface="Microsoft Sans Serif"/>
              </a:rPr>
              <a:t>length —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one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four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bytes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per </a:t>
            </a:r>
            <a:r>
              <a:rPr dirty="0" sz="1000">
                <a:latin typeface="Microsoft Sans Serif"/>
                <a:cs typeface="Microsoft Sans Serif"/>
              </a:rPr>
              <a:t>character,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depending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how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far </a:t>
            </a:r>
            <a:r>
              <a:rPr dirty="0" sz="1000">
                <a:latin typeface="Microsoft Sans Serif"/>
                <a:cs typeface="Microsoft Sans Serif"/>
              </a:rPr>
              <a:t>up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code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space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character </a:t>
            </a:r>
            <a:r>
              <a:rPr dirty="0" sz="1000">
                <a:latin typeface="Microsoft Sans Serif"/>
                <a:cs typeface="Microsoft Sans Serif"/>
              </a:rPr>
              <a:t>sits.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first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design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decision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made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UTF-8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win: </a:t>
            </a:r>
            <a:r>
              <a:rPr dirty="0" sz="1000">
                <a:latin typeface="Microsoft Sans Serif"/>
                <a:cs typeface="Microsoft Sans Serif"/>
              </a:rPr>
              <a:t>code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points zero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through </a:t>
            </a:r>
            <a:r>
              <a:rPr dirty="0" sz="1000">
                <a:latin typeface="Microsoft Sans Serif"/>
                <a:cs typeface="Microsoft Sans Serif"/>
              </a:rPr>
              <a:t>127 encode as a single byte, </a:t>
            </a:r>
            <a:r>
              <a:rPr dirty="0" sz="1000" spc="-20">
                <a:latin typeface="Microsoft Sans Serif"/>
                <a:cs typeface="Microsoft Sans Serif"/>
              </a:rPr>
              <a:t>bit-</a:t>
            </a:r>
            <a:r>
              <a:rPr dirty="0" sz="1000">
                <a:latin typeface="Microsoft Sans Serif"/>
                <a:cs typeface="Microsoft Sans Serif"/>
              </a:rPr>
              <a:t>identical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ASCII.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means </a:t>
            </a:r>
            <a:r>
              <a:rPr dirty="0" sz="1000">
                <a:latin typeface="Microsoft Sans Serif"/>
                <a:cs typeface="Microsoft Sans Serif"/>
              </a:rPr>
              <a:t>every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ASCII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file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ever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written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 </a:t>
            </a:r>
            <a:r>
              <a:rPr dirty="0" sz="1000">
                <a:latin typeface="Microsoft Sans Serif"/>
                <a:cs typeface="Microsoft Sans Serif"/>
              </a:rPr>
              <a:t>already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valid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UTF-8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file.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No </a:t>
            </a:r>
            <a:r>
              <a:rPr dirty="0" sz="1000">
                <a:latin typeface="Microsoft Sans Serif"/>
                <a:cs typeface="Microsoft Sans Serif"/>
              </a:rPr>
              <a:t>conversion,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flag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day.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Above </a:t>
            </a:r>
            <a:r>
              <a:rPr dirty="0" sz="1000">
                <a:latin typeface="Microsoft Sans Serif"/>
                <a:cs typeface="Microsoft Sans Serif"/>
              </a:rPr>
              <a:t>127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you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get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marked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patterns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screen.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Read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them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structurally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rather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than </a:t>
            </a:r>
            <a:r>
              <a:rPr dirty="0" sz="1000">
                <a:latin typeface="Microsoft Sans Serif"/>
                <a:cs typeface="Microsoft Sans Serif"/>
              </a:rPr>
              <a:t>memorising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them: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number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of </a:t>
            </a:r>
            <a:r>
              <a:rPr dirty="0" sz="1000">
                <a:latin typeface="Microsoft Sans Serif"/>
                <a:cs typeface="Microsoft Sans Serif"/>
              </a:rPr>
              <a:t>leading 1 bits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first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tells </a:t>
            </a:r>
            <a:r>
              <a:rPr dirty="0" sz="1000">
                <a:latin typeface="Microsoft Sans Serif"/>
                <a:cs typeface="Microsoft Sans Serif"/>
              </a:rPr>
              <a:t>you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total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length,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every </a:t>
            </a:r>
            <a:r>
              <a:rPr dirty="0" sz="1000">
                <a:latin typeface="Microsoft Sans Serif"/>
                <a:cs typeface="Microsoft Sans Serif"/>
              </a:rPr>
              <a:t>continuation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opens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with 10. </a:t>
            </a:r>
            <a:r>
              <a:rPr dirty="0" sz="1000">
                <a:latin typeface="Microsoft Sans Serif"/>
                <a:cs typeface="Microsoft Sans Serif"/>
              </a:rPr>
              <a:t>We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will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encode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hand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 </a:t>
            </a:r>
            <a:r>
              <a:rPr dirty="0" sz="1000" spc="-10">
                <a:latin typeface="Microsoft Sans Serif"/>
                <a:cs typeface="Microsoft Sans Serif"/>
              </a:rPr>
              <a:t>moment.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Two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things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carry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into </a:t>
            </a:r>
            <a:r>
              <a:rPr dirty="0" sz="1000">
                <a:latin typeface="Microsoft Sans Serif"/>
                <a:cs typeface="Microsoft Sans Serif"/>
              </a:rPr>
              <a:t>casework.</a:t>
            </a:r>
            <a:r>
              <a:rPr dirty="0" sz="1000" spc="9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First,</a:t>
            </a:r>
            <a:r>
              <a:rPr dirty="0" sz="1000" spc="9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ubiquity</a:t>
            </a:r>
            <a:r>
              <a:rPr dirty="0" sz="1000" spc="9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—</a:t>
            </a:r>
            <a:r>
              <a:rPr dirty="0" sz="1000" spc="9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UTF-</a:t>
            </a:r>
            <a:r>
              <a:rPr dirty="0" sz="1000">
                <a:latin typeface="Microsoft Sans Serif"/>
                <a:cs typeface="Microsoft Sans Serif"/>
              </a:rPr>
              <a:t>8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what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you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meet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web,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Linux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macOS,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inside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SQLite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databases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back </a:t>
            </a:r>
            <a:r>
              <a:rPr dirty="0" sz="1000">
                <a:latin typeface="Microsoft Sans Serif"/>
                <a:cs typeface="Microsoft Sans Serif"/>
              </a:rPr>
              <a:t>nearly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every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chat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app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and </a:t>
            </a:r>
            <a:r>
              <a:rPr dirty="0" sz="1000">
                <a:latin typeface="Microsoft Sans Serif"/>
                <a:cs typeface="Microsoft Sans Serif"/>
              </a:rPr>
              <a:t>browser.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Second,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that 10 prefix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resynchronisation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marker. </a:t>
            </a:r>
            <a:r>
              <a:rPr dirty="0" sz="1000">
                <a:latin typeface="Microsoft Sans Serif"/>
                <a:cs typeface="Microsoft Sans Serif"/>
              </a:rPr>
              <a:t>Land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middle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of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damaged </a:t>
            </a:r>
            <a:r>
              <a:rPr dirty="0" sz="1000">
                <a:latin typeface="Microsoft Sans Serif"/>
                <a:cs typeface="Microsoft Sans Serif"/>
              </a:rPr>
              <a:t>stream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you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can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still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find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next</a:t>
            </a:r>
            <a:r>
              <a:rPr dirty="0" sz="1000" spc="7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character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boundary,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which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exactly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what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carving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fragments</a:t>
            </a:r>
            <a:r>
              <a:rPr dirty="0" sz="1000" spc="9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demands.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80"/>
              <a:t>UTF-</a:t>
            </a:r>
            <a:r>
              <a:rPr dirty="0" spc="-254"/>
              <a:t>8</a:t>
            </a:r>
            <a:r>
              <a:rPr dirty="0" spc="65"/>
              <a:t> </a:t>
            </a:r>
            <a:r>
              <a:rPr dirty="0"/>
              <a:t>Worked</a:t>
            </a:r>
            <a:r>
              <a:rPr dirty="0" spc="-145"/>
              <a:t> </a:t>
            </a:r>
            <a:r>
              <a:rPr dirty="0"/>
              <a:t>Example: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 spc="-370"/>
              <a:t>€</a:t>
            </a:r>
            <a:r>
              <a:rPr dirty="0" spc="65"/>
              <a:t> </a:t>
            </a:r>
            <a:r>
              <a:rPr dirty="0" spc="75"/>
              <a:t>Sign</a:t>
            </a:r>
          </a:p>
        </p:txBody>
      </p:sp>
      <p:pic>
        <p:nvPicPr>
          <p:cNvPr id="3" name="object 3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7340" y="1503875"/>
            <a:ext cx="50546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code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point: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€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U+20AC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FFDD41"/>
                </a:solidFill>
                <a:latin typeface="Courier New"/>
                <a:cs typeface="Courier New"/>
              </a:rPr>
              <a:t>0010</a:t>
            </a:r>
            <a:r>
              <a:rPr dirty="0" sz="1500" spc="-20" b="1">
                <a:solidFill>
                  <a:srgbClr val="FFDD41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FFDD41"/>
                </a:solidFill>
                <a:latin typeface="Courier New"/>
                <a:cs typeface="Courier New"/>
              </a:rPr>
              <a:t>0000</a:t>
            </a:r>
            <a:r>
              <a:rPr dirty="0" sz="1500" spc="-15" b="1">
                <a:solidFill>
                  <a:srgbClr val="FFDD41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FFDD41"/>
                </a:solidFill>
                <a:latin typeface="Courier New"/>
                <a:cs typeface="Courier New"/>
              </a:rPr>
              <a:t>1010</a:t>
            </a:r>
            <a:r>
              <a:rPr dirty="0" sz="1500" spc="-15" b="1">
                <a:solidFill>
                  <a:srgbClr val="FFDD41"/>
                </a:solidFill>
                <a:latin typeface="Courier New"/>
                <a:cs typeface="Courier New"/>
              </a:rPr>
              <a:t> </a:t>
            </a:r>
            <a:r>
              <a:rPr dirty="0" sz="1500" spc="-20" b="1">
                <a:solidFill>
                  <a:srgbClr val="FFDD41"/>
                </a:solidFill>
                <a:latin typeface="Courier New"/>
                <a:cs typeface="Courier New"/>
              </a:rPr>
              <a:t>1100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615140" y="1503875"/>
            <a:ext cx="17399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(needs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3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bytes)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7340" y="1979363"/>
            <a:ext cx="1168400" cy="519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template: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fill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bits: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28940" y="1979363"/>
            <a:ext cx="939800" cy="519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1110xxxx 1110</a:t>
            </a:r>
            <a:r>
              <a:rPr dirty="0" sz="1500" spc="-10" b="1">
                <a:solidFill>
                  <a:srgbClr val="FFDD41"/>
                </a:solidFill>
                <a:latin typeface="Courier New"/>
                <a:cs typeface="Courier New"/>
              </a:rPr>
              <a:t>0010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71940" y="1979363"/>
            <a:ext cx="939800" cy="519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10xxxxxx 10</a:t>
            </a:r>
            <a:r>
              <a:rPr dirty="0" sz="1500" spc="-10" b="1">
                <a:solidFill>
                  <a:srgbClr val="FFDD41"/>
                </a:solidFill>
                <a:latin typeface="Courier New"/>
                <a:cs typeface="Courier New"/>
              </a:rPr>
              <a:t>000010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14940" y="1979363"/>
            <a:ext cx="939800" cy="519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10xxxxxx 10</a:t>
            </a:r>
            <a:r>
              <a:rPr dirty="0" sz="1500" spc="-10" b="1">
                <a:solidFill>
                  <a:srgbClr val="FFDD41"/>
                </a:solidFill>
                <a:latin typeface="Courier New"/>
                <a:cs typeface="Courier New"/>
              </a:rPr>
              <a:t>101100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7340" y="2738315"/>
            <a:ext cx="23114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3665" algn="l"/>
              </a:tabLst>
            </a:pP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bytes: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dirty="0" sz="1500" b="1">
                <a:solidFill>
                  <a:srgbClr val="FFFFFF"/>
                </a:solidFill>
                <a:latin typeface="Courier New"/>
                <a:cs typeface="Courier New"/>
              </a:rPr>
              <a:t>E2</a:t>
            </a:r>
            <a:r>
              <a:rPr dirty="0" sz="1500" spc="-2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ourier New"/>
                <a:cs typeface="Courier New"/>
              </a:rPr>
              <a:t>82</a:t>
            </a:r>
            <a:r>
              <a:rPr dirty="0" sz="1500" spc="-1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Courier New"/>
                <a:cs typeface="Courier New"/>
              </a:rPr>
              <a:t>AC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7340" y="3232091"/>
            <a:ext cx="16256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more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examples: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86140" y="3213803"/>
            <a:ext cx="2531110" cy="51943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'A'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U+0041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→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Courier New"/>
                <a:cs typeface="Courier New"/>
              </a:rPr>
              <a:t>41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574675" algn="l"/>
              </a:tabLst>
            </a:pPr>
            <a:r>
              <a:rPr dirty="0" sz="1500" spc="-50">
                <a:solidFill>
                  <a:srgbClr val="FFFFFF"/>
                </a:solidFill>
                <a:latin typeface="Nirmala UI"/>
                <a:cs typeface="Nirmala UI"/>
              </a:rPr>
              <a:t>ह</a:t>
            </a:r>
            <a:r>
              <a:rPr dirty="0" sz="1500">
                <a:solidFill>
                  <a:srgbClr val="FFFFFF"/>
                </a:solidFill>
                <a:latin typeface="Nirmala UI"/>
                <a:cs typeface="Nirmala UI"/>
              </a:rPr>
              <a:t>	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U+0939</a:t>
            </a:r>
            <a:r>
              <a:rPr dirty="0" sz="15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→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ourier New"/>
                <a:cs typeface="Courier New"/>
              </a:rPr>
              <a:t>E0</a:t>
            </a:r>
            <a:r>
              <a:rPr dirty="0" sz="1500" spc="-15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ourier New"/>
                <a:cs typeface="Courier New"/>
              </a:rPr>
              <a:t>A4</a:t>
            </a:r>
            <a:r>
              <a:rPr dirty="0" sz="1500" spc="-10" b="1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Courier New"/>
                <a:cs typeface="Courier New"/>
              </a:rPr>
              <a:t>B9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77396" y="3213803"/>
            <a:ext cx="2425700" cy="519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8890">
              <a:lnSpc>
                <a:spcPct val="108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(1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byte,</a:t>
            </a:r>
            <a:r>
              <a:rPr dirty="0" sz="15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pure</a:t>
            </a:r>
            <a:r>
              <a:rPr dirty="0" sz="15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ASCII)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(Devanagari,</a:t>
            </a:r>
            <a:r>
              <a:rPr dirty="0" sz="150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>
                <a:solidFill>
                  <a:srgbClr val="FFFFFF"/>
                </a:solidFill>
                <a:latin typeface="Courier New"/>
                <a:cs typeface="Courier New"/>
              </a:rPr>
              <a:t>3</a:t>
            </a:r>
            <a:r>
              <a:rPr dirty="0" sz="15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ourier New"/>
                <a:cs typeface="Courier New"/>
              </a:rPr>
              <a:t>bytes)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7340" y="3972755"/>
            <a:ext cx="75692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the</a:t>
            </a:r>
            <a:r>
              <a:rPr dirty="0" sz="1500" spc="-4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leading</a:t>
            </a:r>
            <a:r>
              <a:rPr dirty="0" sz="1500" spc="-2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byte</a:t>
            </a:r>
            <a:r>
              <a:rPr dirty="0" sz="1500" spc="-2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announces</a:t>
            </a:r>
            <a:r>
              <a:rPr dirty="0" sz="1500" spc="-2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the</a:t>
            </a:r>
            <a:r>
              <a:rPr dirty="0" sz="1500" spc="-2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length:</a:t>
            </a:r>
            <a:r>
              <a:rPr dirty="0" sz="1500" spc="-2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1110...</a:t>
            </a:r>
            <a:r>
              <a:rPr dirty="0" sz="1500" spc="-2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means</a:t>
            </a:r>
            <a:r>
              <a:rPr dirty="0" sz="1500" spc="-2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3</a:t>
            </a:r>
            <a:r>
              <a:rPr dirty="0" sz="1500" spc="-2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FDEEE"/>
                </a:solidFill>
                <a:latin typeface="Courier New"/>
                <a:cs typeface="Courier New"/>
              </a:rPr>
              <a:t>bytes</a:t>
            </a:r>
            <a:r>
              <a:rPr dirty="0" sz="1500" spc="-2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500" spc="-10" b="1">
                <a:solidFill>
                  <a:srgbClr val="5FDEEE"/>
                </a:solidFill>
                <a:latin typeface="Courier New"/>
                <a:cs typeface="Courier New"/>
              </a:rPr>
              <a:t>total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17:40:20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Let's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do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hand,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because </a:t>
            </a:r>
            <a:r>
              <a:rPr dirty="0" sz="1000">
                <a:latin typeface="Microsoft Sans Serif"/>
                <a:cs typeface="Microsoft Sans Serif"/>
              </a:rPr>
              <a:t>UTF-8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stops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feeling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like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magic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moment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you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encode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 </a:t>
            </a:r>
            <a:r>
              <a:rPr dirty="0" sz="1000">
                <a:latin typeface="Microsoft Sans Serif"/>
                <a:cs typeface="Microsoft Sans Serif"/>
              </a:rPr>
              <a:t>character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yourself.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Take</a:t>
            </a:r>
            <a:r>
              <a:rPr dirty="0" sz="1000" spc="1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1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euro</a:t>
            </a:r>
            <a:r>
              <a:rPr dirty="0" sz="1000" spc="1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sign, U+20AC.</a:t>
            </a:r>
            <a:r>
              <a:rPr dirty="0" sz="1000" spc="13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In </a:t>
            </a:r>
            <a:r>
              <a:rPr dirty="0" sz="1000">
                <a:latin typeface="Microsoft Sans Serif"/>
                <a:cs typeface="Microsoft Sans Serif"/>
              </a:rPr>
              <a:t>binary</a:t>
            </a:r>
            <a:r>
              <a:rPr dirty="0" sz="1000" spc="9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1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9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fourteen</a:t>
            </a:r>
            <a:r>
              <a:rPr dirty="0" sz="1000" spc="10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significant </a:t>
            </a:r>
            <a:r>
              <a:rPr dirty="0" sz="1000">
                <a:latin typeface="Microsoft Sans Serif"/>
                <a:cs typeface="Microsoft Sans Serif"/>
              </a:rPr>
              <a:t>bits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—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too</a:t>
            </a:r>
            <a:r>
              <a:rPr dirty="0" sz="1000" spc="7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many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for</a:t>
            </a:r>
            <a:r>
              <a:rPr dirty="0" sz="1000" spc="7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one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byte,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too </a:t>
            </a:r>
            <a:r>
              <a:rPr dirty="0" sz="1000">
                <a:latin typeface="Microsoft Sans Serif"/>
                <a:cs typeface="Microsoft Sans Serif"/>
              </a:rPr>
              <a:t>many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for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two,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so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we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reach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for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114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three-byte</a:t>
            </a:r>
            <a:r>
              <a:rPr dirty="0" sz="1000" spc="1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form.</a:t>
            </a:r>
            <a:r>
              <a:rPr dirty="0" sz="1000" spc="1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template</a:t>
            </a:r>
            <a:r>
              <a:rPr dirty="0" sz="1000" spc="9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9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fixed:</a:t>
            </a:r>
            <a:r>
              <a:rPr dirty="0" sz="1000" spc="9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9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lead</a:t>
            </a:r>
            <a:r>
              <a:rPr dirty="0" sz="1000" spc="9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byte </a:t>
            </a:r>
            <a:r>
              <a:rPr dirty="0" sz="1000">
                <a:latin typeface="Microsoft Sans Serif"/>
                <a:cs typeface="Microsoft Sans Serif"/>
              </a:rPr>
              <a:t>starts 1110,</a:t>
            </a:r>
            <a:r>
              <a:rPr dirty="0" sz="1000" spc="1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14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both </a:t>
            </a:r>
            <a:r>
              <a:rPr dirty="0" sz="1000">
                <a:latin typeface="Microsoft Sans Serif"/>
                <a:cs typeface="Microsoft Sans Serif"/>
              </a:rPr>
              <a:t>continuation</a:t>
            </a:r>
            <a:r>
              <a:rPr dirty="0" sz="1000" spc="1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bytes</a:t>
            </a:r>
            <a:r>
              <a:rPr dirty="0" sz="1000" spc="16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start 10.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Count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free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slots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—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four,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then </a:t>
            </a:r>
            <a:r>
              <a:rPr dirty="0" sz="1000">
                <a:latin typeface="Microsoft Sans Serif"/>
                <a:cs typeface="Microsoft Sans Serif"/>
              </a:rPr>
              <a:t>six,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then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six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—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sixteen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slots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for </a:t>
            </a:r>
            <a:r>
              <a:rPr dirty="0" sz="1000">
                <a:latin typeface="Microsoft Sans Serif"/>
                <a:cs typeface="Microsoft Sans Serif"/>
              </a:rPr>
              <a:t>fourteen</a:t>
            </a:r>
            <a:r>
              <a:rPr dirty="0" sz="1000" spc="9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bits.</a:t>
            </a:r>
            <a:r>
              <a:rPr dirty="0" sz="1000" spc="1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Pour</a:t>
            </a:r>
            <a:r>
              <a:rPr dirty="0" sz="1000" spc="1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10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code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point</a:t>
            </a:r>
            <a:r>
              <a:rPr dirty="0" sz="1000" spc="114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in,</a:t>
            </a:r>
            <a:r>
              <a:rPr dirty="0" sz="1000" spc="114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right-aligned,</a:t>
            </a:r>
            <a:r>
              <a:rPr dirty="0" sz="1000" spc="114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1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you </a:t>
            </a:r>
            <a:r>
              <a:rPr dirty="0" sz="1000">
                <a:latin typeface="Microsoft Sans Serif"/>
                <a:cs typeface="Microsoft Sans Serif"/>
              </a:rPr>
              <a:t>get 11100010</a:t>
            </a:r>
            <a:r>
              <a:rPr dirty="0" sz="1000" spc="25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10000010 </a:t>
            </a:r>
            <a:r>
              <a:rPr dirty="0" sz="1000">
                <a:latin typeface="Microsoft Sans Serif"/>
                <a:cs typeface="Microsoft Sans Serif"/>
              </a:rPr>
              <a:t>10101100,</a:t>
            </a:r>
            <a:r>
              <a:rPr dirty="0" sz="1000" spc="1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which</a:t>
            </a:r>
            <a:r>
              <a:rPr dirty="0" sz="1000" spc="10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10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hex</a:t>
            </a:r>
            <a:r>
              <a:rPr dirty="0" sz="1000" spc="10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 E2</a:t>
            </a:r>
            <a:r>
              <a:rPr dirty="0" sz="1000" spc="10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82 </a:t>
            </a:r>
            <a:r>
              <a:rPr dirty="0" sz="1000">
                <a:latin typeface="Microsoft Sans Serif"/>
                <a:cs typeface="Microsoft Sans Serif"/>
              </a:rPr>
              <a:t>AC.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Now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look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at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two </a:t>
            </a:r>
            <a:r>
              <a:rPr dirty="0" sz="1000">
                <a:latin typeface="Microsoft Sans Serif"/>
                <a:cs typeface="Microsoft Sans Serif"/>
              </a:rPr>
              <a:t>comparison</a:t>
            </a:r>
            <a:r>
              <a:rPr dirty="0" sz="1000" spc="10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cases. Capital A is U+0041 and</a:t>
            </a:r>
            <a:r>
              <a:rPr dirty="0" sz="1000" spc="500">
                <a:latin typeface="Microsoft Sans Serif"/>
                <a:cs typeface="Microsoft Sans Serif"/>
              </a:rPr>
              <a:t>  </a:t>
            </a:r>
            <a:r>
              <a:rPr dirty="0" sz="1000">
                <a:latin typeface="Microsoft Sans Serif"/>
                <a:cs typeface="Microsoft Sans Serif"/>
              </a:rPr>
              <a:t>encodes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as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single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byte 41 — </a:t>
            </a:r>
            <a:r>
              <a:rPr dirty="0" sz="1000">
                <a:latin typeface="Microsoft Sans Serif"/>
                <a:cs typeface="Microsoft Sans Serif"/>
              </a:rPr>
              <a:t>byte-for-byte</a:t>
            </a:r>
            <a:r>
              <a:rPr dirty="0" sz="1000" spc="7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identical</a:t>
            </a:r>
            <a:r>
              <a:rPr dirty="0" sz="1000" spc="7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ASCII, </a:t>
            </a:r>
            <a:r>
              <a:rPr dirty="0" sz="1000">
                <a:latin typeface="Microsoft Sans Serif"/>
                <a:cs typeface="Microsoft Sans Serif"/>
              </a:rPr>
              <a:t>which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compatibility </a:t>
            </a:r>
            <a:r>
              <a:rPr dirty="0" sz="1000">
                <a:latin typeface="Microsoft Sans Serif"/>
                <a:cs typeface="Microsoft Sans Serif"/>
              </a:rPr>
              <a:t>guarantee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let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UTF-8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win.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Devanagari ह is U+0939 and </a:t>
            </a:r>
            <a:r>
              <a:rPr dirty="0" sz="1000">
                <a:latin typeface="Microsoft Sans Serif"/>
                <a:cs typeface="Microsoft Sans Serif"/>
              </a:rPr>
              <a:t>takes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three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bytes,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like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euro. </a:t>
            </a:r>
            <a:r>
              <a:rPr dirty="0" sz="1000">
                <a:latin typeface="Microsoft Sans Serif"/>
                <a:cs typeface="Microsoft Sans Serif"/>
              </a:rPr>
              <a:t>So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cost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scales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with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where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you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sit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code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space,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not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with </a:t>
            </a:r>
            <a:r>
              <a:rPr dirty="0" sz="1000">
                <a:latin typeface="Microsoft Sans Serif"/>
                <a:cs typeface="Microsoft Sans Serif"/>
              </a:rPr>
              <a:t>which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script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you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happen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write </a:t>
            </a:r>
            <a:r>
              <a:rPr dirty="0" sz="1000" spc="-25">
                <a:latin typeface="Microsoft Sans Serif"/>
                <a:cs typeface="Microsoft Sans Serif"/>
              </a:rPr>
              <a:t>in.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line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at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bottom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one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remember: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leading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byte </a:t>
            </a:r>
            <a:r>
              <a:rPr dirty="0" sz="1000">
                <a:latin typeface="Microsoft Sans Serif"/>
                <a:cs typeface="Microsoft Sans Serif"/>
              </a:rPr>
              <a:t>declares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total </a:t>
            </a:r>
            <a:r>
              <a:rPr dirty="0" sz="1000">
                <a:latin typeface="Microsoft Sans Serif"/>
                <a:cs typeface="Microsoft Sans Serif"/>
              </a:rPr>
              <a:t>length. 1110 means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"three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bytes, </a:t>
            </a:r>
            <a:r>
              <a:rPr dirty="0" sz="1000">
                <a:latin typeface="Microsoft Sans Serif"/>
                <a:cs typeface="Microsoft Sans Serif"/>
              </a:rPr>
              <a:t>starting here." That </a:t>
            </a:r>
            <a:r>
              <a:rPr dirty="0" sz="1000" spc="-10">
                <a:latin typeface="Microsoft Sans Serif"/>
                <a:cs typeface="Microsoft Sans Serif"/>
              </a:rPr>
              <a:t>self-</a:t>
            </a:r>
            <a:r>
              <a:rPr dirty="0" sz="1000">
                <a:latin typeface="Microsoft Sans Serif"/>
                <a:cs typeface="Microsoft Sans Serif"/>
              </a:rPr>
              <a:t>describing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property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what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next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slide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animates,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what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makes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UTF-8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recoverable </a:t>
            </a:r>
            <a:r>
              <a:rPr dirty="0" sz="1000">
                <a:latin typeface="Microsoft Sans Serif"/>
                <a:cs typeface="Microsoft Sans Serif"/>
              </a:rPr>
              <a:t>from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damaged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stream.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95"/>
              <a:t>One</a:t>
            </a:r>
            <a:r>
              <a:rPr dirty="0" spc="-40"/>
              <a:t> </a:t>
            </a:r>
            <a:r>
              <a:rPr dirty="0" spc="-25"/>
              <a:t>Character,</a:t>
            </a:r>
            <a:r>
              <a:rPr dirty="0" spc="-55"/>
              <a:t> </a:t>
            </a:r>
            <a:r>
              <a:rPr dirty="0" spc="-20"/>
              <a:t>Three</a:t>
            </a:r>
            <a:r>
              <a:rPr dirty="0" spc="-30"/>
              <a:t> </a:t>
            </a:r>
            <a:r>
              <a:rPr dirty="0" spc="-10"/>
              <a:t>Bytes</a:t>
            </a:r>
          </a:p>
        </p:txBody>
      </p:sp>
      <p:pic>
        <p:nvPicPr>
          <p:cNvPr id="3" name="object 3" descr="a_utf8.gif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816" y="1240002"/>
            <a:ext cx="10364049" cy="444397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14620" y="5768716"/>
            <a:ext cx="3361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70">
                <a:solidFill>
                  <a:srgbClr val="B89E87"/>
                </a:solidFill>
                <a:latin typeface="Cambria"/>
                <a:cs typeface="Cambria"/>
              </a:rPr>
              <a:t>U+20AC</a:t>
            </a:r>
            <a:r>
              <a:rPr dirty="0" sz="1200" spc="4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becoming</a:t>
            </a:r>
            <a:r>
              <a:rPr dirty="0" sz="1200" spc="7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E2</a:t>
            </a:r>
            <a:r>
              <a:rPr dirty="0" sz="1200" spc="5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 spc="-35">
                <a:solidFill>
                  <a:srgbClr val="B89E87"/>
                </a:solidFill>
                <a:latin typeface="Cambria"/>
                <a:cs typeface="Cambria"/>
              </a:rPr>
              <a:t>82</a:t>
            </a:r>
            <a:r>
              <a:rPr dirty="0" sz="1200" spc="5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 spc="135">
                <a:solidFill>
                  <a:srgbClr val="B89E87"/>
                </a:solidFill>
                <a:latin typeface="Cambria"/>
                <a:cs typeface="Cambria"/>
              </a:rPr>
              <a:t>AC,</a:t>
            </a:r>
            <a:r>
              <a:rPr dirty="0" sz="1200" spc="5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marker</a:t>
            </a:r>
            <a:r>
              <a:rPr dirty="0" sz="1200" spc="4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bits</a:t>
            </a:r>
            <a:r>
              <a:rPr dirty="0" sz="1200" spc="5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and</a:t>
            </a:r>
            <a:r>
              <a:rPr dirty="0" sz="1200" spc="6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 spc="-20">
                <a:solidFill>
                  <a:srgbClr val="B89E87"/>
                </a:solidFill>
                <a:latin typeface="Cambria"/>
                <a:cs typeface="Cambria"/>
              </a:rPr>
              <a:t>all.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17:40:21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closing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line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forensic </a:t>
            </a:r>
            <a:r>
              <a:rPr dirty="0" sz="1000">
                <a:latin typeface="Microsoft Sans Serif"/>
                <a:cs typeface="Microsoft Sans Serif"/>
              </a:rPr>
              <a:t>point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it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not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obvious. </a:t>
            </a:r>
            <a:r>
              <a:rPr dirty="0" sz="1000">
                <a:latin typeface="Microsoft Sans Serif"/>
                <a:cs typeface="Microsoft Sans Serif"/>
              </a:rPr>
              <a:t>Because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marker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bits </a:t>
            </a:r>
            <a:r>
              <a:rPr dirty="0" sz="1000">
                <a:latin typeface="Microsoft Sans Serif"/>
                <a:cs typeface="Microsoft Sans Serif"/>
              </a:rPr>
              <a:t>distinguish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lead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from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 </a:t>
            </a:r>
            <a:r>
              <a:rPr dirty="0" sz="1000">
                <a:latin typeface="Microsoft Sans Serif"/>
                <a:cs typeface="Microsoft Sans Serif"/>
              </a:rPr>
              <a:t>continuation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byte,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decoder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that </a:t>
            </a:r>
            <a:r>
              <a:rPr dirty="0" sz="1000">
                <a:latin typeface="Microsoft Sans Serif"/>
                <a:cs typeface="Microsoft Sans Serif"/>
              </a:rPr>
              <a:t>lands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anywhere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UTF-</a:t>
            </a:r>
            <a:r>
              <a:rPr dirty="0" sz="1000" spc="-50">
                <a:latin typeface="Microsoft Sans Serif"/>
                <a:cs typeface="Microsoft Sans Serif"/>
              </a:rPr>
              <a:t>8 </a:t>
            </a:r>
            <a:r>
              <a:rPr dirty="0" sz="1000">
                <a:latin typeface="Microsoft Sans Serif"/>
                <a:cs typeface="Microsoft Sans Serif"/>
              </a:rPr>
              <a:t>stream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can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resynchronise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next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character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boundary.</a:t>
            </a:r>
            <a:r>
              <a:rPr dirty="0" sz="1000" spc="7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 </a:t>
            </a:r>
            <a:r>
              <a:rPr dirty="0" sz="1000">
                <a:latin typeface="Microsoft Sans Serif"/>
                <a:cs typeface="Microsoft Sans Serif"/>
              </a:rPr>
              <a:t>exactly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situation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carver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 </a:t>
            </a:r>
            <a:r>
              <a:rPr dirty="0" sz="1000">
                <a:latin typeface="Microsoft Sans Serif"/>
                <a:cs typeface="Microsoft Sans Serif"/>
              </a:rPr>
              <a:t>in,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it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why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UTF-8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text </a:t>
            </a:r>
            <a:r>
              <a:rPr dirty="0" sz="1000">
                <a:latin typeface="Microsoft Sans Serif"/>
                <a:cs typeface="Microsoft Sans Serif"/>
              </a:rPr>
              <a:t>survives</a:t>
            </a:r>
            <a:r>
              <a:rPr dirty="0" sz="1000" spc="1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fragmentation</a:t>
            </a:r>
            <a:r>
              <a:rPr dirty="0" sz="1000" spc="10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better </a:t>
            </a:r>
            <a:r>
              <a:rPr dirty="0" sz="1000">
                <a:latin typeface="Microsoft Sans Serif"/>
                <a:cs typeface="Microsoft Sans Serif"/>
              </a:rPr>
              <a:t>than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UTF-16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does.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This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same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conversion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you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just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saw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board,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only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now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in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motion.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Watch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code </a:t>
            </a:r>
            <a:r>
              <a:rPr dirty="0" sz="1000">
                <a:latin typeface="Microsoft Sans Serif"/>
                <a:cs typeface="Microsoft Sans Serif"/>
              </a:rPr>
              <a:t>point U+20AC —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euro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sign</a:t>
            </a:r>
            <a:r>
              <a:rPr dirty="0" sz="1000" spc="70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— </a:t>
            </a:r>
            <a:r>
              <a:rPr dirty="0" sz="1000">
                <a:latin typeface="Microsoft Sans Serif"/>
                <a:cs typeface="Microsoft Sans Serif"/>
              </a:rPr>
              <a:t>get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chopped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into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three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pieces</a:t>
            </a:r>
            <a:r>
              <a:rPr dirty="0" sz="1000">
                <a:latin typeface="Microsoft Sans Serif"/>
                <a:cs typeface="Microsoft Sans Serif"/>
              </a:rPr>
              <a:t> and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dropped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into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three-</a:t>
            </a:r>
            <a:r>
              <a:rPr dirty="0" sz="1000" spc="-20">
                <a:latin typeface="Microsoft Sans Serif"/>
                <a:cs typeface="Microsoft Sans Serif"/>
              </a:rPr>
              <a:t>byte </a:t>
            </a:r>
            <a:r>
              <a:rPr dirty="0" sz="1000">
                <a:latin typeface="Microsoft Sans Serif"/>
                <a:cs typeface="Microsoft Sans Serif"/>
              </a:rPr>
              <a:t>UTF-8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template.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lead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byte </a:t>
            </a:r>
            <a:r>
              <a:rPr dirty="0" sz="1000">
                <a:latin typeface="Microsoft Sans Serif"/>
                <a:cs typeface="Microsoft Sans Serif"/>
              </a:rPr>
              <a:t>opens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with 1110,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announcing </a:t>
            </a:r>
            <a:r>
              <a:rPr dirty="0" sz="1000">
                <a:latin typeface="Microsoft Sans Serif"/>
                <a:cs typeface="Microsoft Sans Serif"/>
              </a:rPr>
              <a:t>"three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bytes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follow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me,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counting </a:t>
            </a:r>
            <a:r>
              <a:rPr dirty="0" sz="1000">
                <a:latin typeface="Microsoft Sans Serif"/>
                <a:cs typeface="Microsoft Sans Serif"/>
              </a:rPr>
              <a:t>myself."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Each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continuation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byte </a:t>
            </a:r>
            <a:r>
              <a:rPr dirty="0" sz="1000">
                <a:latin typeface="Microsoft Sans Serif"/>
                <a:cs typeface="Microsoft Sans Serif"/>
              </a:rPr>
              <a:t>opens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with 10,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announcing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"I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am </a:t>
            </a:r>
            <a:r>
              <a:rPr dirty="0" sz="1000">
                <a:latin typeface="Microsoft Sans Serif"/>
                <a:cs typeface="Microsoft Sans Serif"/>
              </a:rPr>
              <a:t>not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start,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am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payload."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Fill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free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slots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with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code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point's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bits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you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land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on E2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82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AC.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Notice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what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marker </a:t>
            </a:r>
            <a:r>
              <a:rPr dirty="0" sz="1000">
                <a:latin typeface="Microsoft Sans Serif"/>
                <a:cs typeface="Microsoft Sans Serif"/>
              </a:rPr>
              <a:t>bits</a:t>
            </a:r>
            <a:r>
              <a:rPr dirty="0" sz="1000" spc="7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are</a:t>
            </a:r>
            <a:r>
              <a:rPr dirty="0" sz="1000" spc="7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actually</a:t>
            </a:r>
            <a:r>
              <a:rPr dirty="0" sz="1000" spc="7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buying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us.</a:t>
            </a:r>
            <a:r>
              <a:rPr dirty="0" sz="1000" spc="7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They </a:t>
            </a:r>
            <a:r>
              <a:rPr dirty="0" sz="1000">
                <a:latin typeface="Microsoft Sans Serif"/>
                <a:cs typeface="Microsoft Sans Serif"/>
              </a:rPr>
              <a:t>are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pure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overhead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—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eight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of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twenty-four</a:t>
            </a:r>
            <a:r>
              <a:rPr dirty="0" sz="1000" spc="9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bits</a:t>
            </a:r>
            <a:r>
              <a:rPr dirty="0" sz="1000" spc="9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carry</a:t>
            </a:r>
            <a:r>
              <a:rPr dirty="0" sz="1000" spc="9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no </a:t>
            </a:r>
            <a:r>
              <a:rPr dirty="0" sz="1000">
                <a:latin typeface="Microsoft Sans Serif"/>
                <a:cs typeface="Microsoft Sans Serif"/>
              </a:rPr>
              <a:t>character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data</a:t>
            </a:r>
            <a:r>
              <a:rPr dirty="0" sz="1000" spc="7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at</a:t>
            </a:r>
            <a:r>
              <a:rPr dirty="0" sz="1000" spc="7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all.</a:t>
            </a:r>
            <a:r>
              <a:rPr dirty="0" sz="1000" spc="7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looks </a:t>
            </a:r>
            <a:r>
              <a:rPr dirty="0" sz="1000">
                <a:latin typeface="Microsoft Sans Serif"/>
                <a:cs typeface="Microsoft Sans Serif"/>
              </a:rPr>
              <a:t>wasteful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until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you</a:t>
            </a:r>
            <a:r>
              <a:rPr dirty="0" sz="1000" spc="7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are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7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one </a:t>
            </a:r>
            <a:r>
              <a:rPr dirty="0" sz="1000">
                <a:latin typeface="Microsoft Sans Serif"/>
                <a:cs typeface="Microsoft Sans Serif"/>
              </a:rPr>
              <a:t>holding</a:t>
            </a:r>
            <a:r>
              <a:rPr dirty="0" sz="1000" spc="8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8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damaged</a:t>
            </a:r>
            <a:r>
              <a:rPr dirty="0" sz="1000" spc="9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image.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Here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forensic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point,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it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obvious.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Because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lead </a:t>
            </a:r>
            <a:r>
              <a:rPr dirty="0" sz="1000">
                <a:latin typeface="Microsoft Sans Serif"/>
                <a:cs typeface="Microsoft Sans Serif"/>
              </a:rPr>
              <a:t>byte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continuation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are </a:t>
            </a:r>
            <a:r>
              <a:rPr dirty="0" sz="1000">
                <a:latin typeface="Microsoft Sans Serif"/>
                <a:cs typeface="Microsoft Sans Serif"/>
              </a:rPr>
              <a:t>structurally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distinguishable,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 </a:t>
            </a:r>
            <a:r>
              <a:rPr dirty="0" sz="1000">
                <a:latin typeface="Microsoft Sans Serif"/>
                <a:cs typeface="Microsoft Sans Serif"/>
              </a:rPr>
              <a:t>decoder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lands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random </a:t>
            </a:r>
            <a:r>
              <a:rPr dirty="0" sz="1000">
                <a:latin typeface="Microsoft Sans Serif"/>
                <a:cs typeface="Microsoft Sans Serif"/>
              </a:rPr>
              <a:t>offset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UTF-8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stream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can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skip </a:t>
            </a:r>
            <a:r>
              <a:rPr dirty="0" sz="1000">
                <a:latin typeface="Microsoft Sans Serif"/>
                <a:cs typeface="Microsoft Sans Serif"/>
              </a:rPr>
              <a:t>forward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resynchronise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at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next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real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character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boundary.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It </a:t>
            </a:r>
            <a:r>
              <a:rPr dirty="0" sz="1000">
                <a:latin typeface="Microsoft Sans Serif"/>
                <a:cs typeface="Microsoft Sans Serif"/>
              </a:rPr>
              <a:t>loses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character,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rest </a:t>
            </a:r>
            <a:r>
              <a:rPr dirty="0" sz="1000">
                <a:latin typeface="Microsoft Sans Serif"/>
                <a:cs typeface="Microsoft Sans Serif"/>
              </a:rPr>
              <a:t>of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file.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8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exactly</a:t>
            </a:r>
            <a:r>
              <a:rPr dirty="0" sz="1000" spc="8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position</a:t>
            </a:r>
            <a:r>
              <a:rPr dirty="0" sz="1000" spc="10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1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carver</a:t>
            </a:r>
            <a:r>
              <a:rPr dirty="0" sz="1000" spc="1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1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1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110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 </a:t>
            </a:r>
            <a:r>
              <a:rPr dirty="0" sz="1000" spc="10">
                <a:latin typeface="Microsoft Sans Serif"/>
                <a:cs typeface="Microsoft Sans Serif"/>
              </a:rPr>
              <a:t>fragmented</a:t>
            </a:r>
            <a:r>
              <a:rPr dirty="0" sz="1000" spc="110">
                <a:latin typeface="Microsoft Sans Serif"/>
                <a:cs typeface="Microsoft Sans Serif"/>
              </a:rPr>
              <a:t> </a:t>
            </a:r>
            <a:r>
              <a:rPr dirty="0" sz="1000" spc="10">
                <a:latin typeface="Microsoft Sans Serif"/>
                <a:cs typeface="Microsoft Sans Serif"/>
              </a:rPr>
              <a:t>volume.</a:t>
            </a:r>
            <a:r>
              <a:rPr dirty="0" sz="1000" spc="110">
                <a:latin typeface="Microsoft Sans Serif"/>
                <a:cs typeface="Microsoft Sans Serif"/>
              </a:rPr>
              <a:t> </a:t>
            </a:r>
            <a:r>
              <a:rPr dirty="0" sz="1000" spc="10">
                <a:latin typeface="Microsoft Sans Serif"/>
                <a:cs typeface="Microsoft Sans Serif"/>
              </a:rPr>
              <a:t>It</a:t>
            </a:r>
            <a:r>
              <a:rPr dirty="0" sz="1000" spc="110">
                <a:latin typeface="Microsoft Sans Serif"/>
                <a:cs typeface="Microsoft Sans Serif"/>
              </a:rPr>
              <a:t> </a:t>
            </a:r>
            <a:r>
              <a:rPr dirty="0" sz="1000" spc="10">
                <a:latin typeface="Microsoft Sans Serif"/>
                <a:cs typeface="Microsoft Sans Serif"/>
              </a:rPr>
              <a:t>is</a:t>
            </a:r>
            <a:r>
              <a:rPr dirty="0" sz="1000" spc="11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reason</a:t>
            </a:r>
            <a:r>
              <a:rPr dirty="0" sz="1000" spc="1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UTF-8</a:t>
            </a:r>
            <a:r>
              <a:rPr dirty="0" sz="1000" spc="1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text</a:t>
            </a:r>
            <a:r>
              <a:rPr dirty="0" sz="1000" spc="16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recovers </a:t>
            </a:r>
            <a:r>
              <a:rPr dirty="0" sz="1000">
                <a:latin typeface="Microsoft Sans Serif"/>
                <a:cs typeface="Microsoft Sans Serif"/>
              </a:rPr>
              <a:t>gracefully</a:t>
            </a:r>
            <a:r>
              <a:rPr dirty="0" sz="1000" spc="2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where</a:t>
            </a:r>
            <a:r>
              <a:rPr dirty="0" sz="1000" spc="2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UTF-16</a:t>
            </a:r>
            <a:r>
              <a:rPr dirty="0" sz="1000" spc="220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— </a:t>
            </a:r>
            <a:r>
              <a:rPr dirty="0" sz="1000">
                <a:latin typeface="Microsoft Sans Serif"/>
                <a:cs typeface="Microsoft Sans Serif"/>
              </a:rPr>
              <a:t>which</a:t>
            </a:r>
            <a:r>
              <a:rPr dirty="0" sz="1000" spc="10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we</a:t>
            </a:r>
            <a:r>
              <a:rPr dirty="0" sz="1000" spc="10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look</a:t>
            </a:r>
            <a:r>
              <a:rPr dirty="0" sz="1000" spc="10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at</a:t>
            </a:r>
            <a:r>
              <a:rPr dirty="0" sz="1000" spc="10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next</a:t>
            </a:r>
            <a:r>
              <a:rPr dirty="0" sz="1000" spc="10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—</a:t>
            </a:r>
            <a:r>
              <a:rPr dirty="0" sz="1000" spc="10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does not.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0001" y="899999"/>
            <a:ext cx="9059989" cy="4719991"/>
          </a:xfrm>
          <a:prstGeom prst="rect">
            <a:avLst/>
          </a:prstGeom>
        </p:spPr>
      </p:pic>
      <p:pic>
        <p:nvPicPr>
          <p:cNvPr id="3" name="object 3" descr="talk-white-squar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9999" y="3560000"/>
            <a:ext cx="1577771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158739" y="1424063"/>
            <a:ext cx="1083310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75"/>
              <a:t>UTF-</a:t>
            </a:r>
            <a:r>
              <a:rPr dirty="0" sz="2500" spc="-200"/>
              <a:t>16</a:t>
            </a:r>
            <a:endParaRPr sz="2500"/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28843" y="2149303"/>
            <a:ext cx="7073900" cy="261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 marR="5080" indent="-360045">
              <a:lnSpc>
                <a:spcPct val="100000"/>
              </a:lnSpc>
              <a:spcBef>
                <a:spcPts val="1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Encodes</a:t>
            </a:r>
            <a:r>
              <a:rPr dirty="0" sz="1500" spc="3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BMP</a:t>
            </a:r>
            <a:r>
              <a:rPr dirty="0" sz="1500" spc="3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dirty="0" sz="1500" spc="3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points</a:t>
            </a:r>
            <a:r>
              <a:rPr dirty="0" sz="1500" spc="3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as</a:t>
            </a:r>
            <a:r>
              <a:rPr dirty="0" sz="1500" spc="3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one</a:t>
            </a:r>
            <a:r>
              <a:rPr dirty="0" sz="1500" spc="3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0" b="1">
                <a:solidFill>
                  <a:srgbClr val="FFFFFF"/>
                </a:solidFill>
                <a:latin typeface="Cambria"/>
                <a:cs typeface="Cambria"/>
              </a:rPr>
              <a:t>16-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500" spc="3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unit</a:t>
            </a:r>
            <a:r>
              <a:rPr dirty="0" sz="1500" spc="3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(2</a:t>
            </a:r>
            <a:r>
              <a:rPr dirty="0" sz="1500" spc="3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bytes)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;</a:t>
            </a:r>
            <a:r>
              <a:rPr dirty="0" sz="1500" spc="3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dirty="0" sz="1500" spc="3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points</a:t>
            </a:r>
            <a:r>
              <a:rPr dirty="0" sz="1500" spc="3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above 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U+FFFF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need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two units:</a:t>
            </a:r>
            <a:r>
              <a:rPr dirty="0" sz="1500" spc="-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 </a:t>
            </a:r>
            <a:r>
              <a:rPr dirty="0" sz="1500" spc="-35" b="1">
                <a:solidFill>
                  <a:srgbClr val="FFFFFF"/>
                </a:solidFill>
                <a:latin typeface="Cambria"/>
                <a:cs typeface="Cambria"/>
              </a:rPr>
              <a:t>surrogate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 pair </a:t>
            </a:r>
            <a:r>
              <a:rPr dirty="0" sz="1500" spc="-45">
                <a:solidFill>
                  <a:srgbClr val="FFFFFF"/>
                </a:solidFill>
                <a:latin typeface="Cambria"/>
                <a:cs typeface="Cambria"/>
              </a:rPr>
              <a:t>(4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bytes).</a:t>
            </a:r>
            <a:endParaRPr sz="1500">
              <a:latin typeface="Cambria"/>
              <a:cs typeface="Cambria"/>
            </a:endParaRPr>
          </a:p>
          <a:p>
            <a:pPr marL="372110" marR="6985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Surrogates: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high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D800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DBFF,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then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low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DC00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DFFF;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these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ranges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are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reserved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never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appear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alone.</a:t>
            </a:r>
            <a:endParaRPr sz="1500">
              <a:latin typeface="Cambria"/>
              <a:cs typeface="Cambria"/>
            </a:endParaRPr>
          </a:p>
          <a:p>
            <a:pPr marL="372110" marR="8255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Comes</a:t>
            </a:r>
            <a:r>
              <a:rPr dirty="0" sz="1500" spc="20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2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UTF-16LE</a:t>
            </a:r>
            <a:r>
              <a:rPr dirty="0" sz="1500" spc="2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2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UTF-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16BE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;</a:t>
            </a:r>
            <a:r>
              <a:rPr dirty="0" sz="1500" spc="20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Windows</a:t>
            </a:r>
            <a:r>
              <a:rPr dirty="0" sz="1500" spc="2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2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UTF-16LE</a:t>
            </a:r>
            <a:r>
              <a:rPr dirty="0" sz="1500" spc="2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internally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500" spc="20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NTFS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file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names,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registry,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strings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RAM.</a:t>
            </a:r>
            <a:endParaRPr sz="1500">
              <a:latin typeface="Cambria"/>
              <a:cs typeface="Cambria"/>
            </a:endParaRPr>
          </a:p>
          <a:p>
            <a:pPr marL="372110" marR="7620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Latin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UTF-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16LE</a:t>
            </a:r>
            <a:r>
              <a:rPr dirty="0" sz="1500" spc="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alternates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with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zero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bytes: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'N'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'F'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'S'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'U'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becomes</a:t>
            </a:r>
            <a:r>
              <a:rPr dirty="0" sz="1500" spc="1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4E</a:t>
            </a:r>
            <a:r>
              <a:rPr dirty="0" sz="1500" spc="1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Cambria"/>
                <a:cs typeface="Cambria"/>
              </a:rPr>
              <a:t>00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46</a:t>
            </a:r>
            <a:r>
              <a:rPr dirty="0" sz="1500" spc="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00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0" b="1">
                <a:solidFill>
                  <a:srgbClr val="FFFFFF"/>
                </a:solidFill>
                <a:latin typeface="Cambria"/>
                <a:cs typeface="Cambria"/>
              </a:rPr>
              <a:t>53</a:t>
            </a:r>
            <a:r>
              <a:rPr dirty="0" sz="1500" spc="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00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55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Cambria"/>
                <a:cs typeface="Cambria"/>
              </a:rPr>
              <a:t>00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marL="372110" marR="5715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  <a:tab pos="1242060" algn="l"/>
                <a:tab pos="1903730" algn="l"/>
                <a:tab pos="2374265" algn="l"/>
                <a:tab pos="3889375" algn="l"/>
                <a:tab pos="4637405" algn="l"/>
                <a:tab pos="4911725" algn="l"/>
                <a:tab pos="5315585" algn="l"/>
                <a:tab pos="5963285" algn="l"/>
                <a:tab pos="6892925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-10" b="1">
                <a:solidFill>
                  <a:srgbClr val="FFDD41"/>
                </a:solidFill>
                <a:latin typeface="Cambria"/>
                <a:cs typeface="Cambria"/>
              </a:rPr>
              <a:t>Forensic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	</a:t>
            </a:r>
            <a:r>
              <a:rPr dirty="0" sz="1500" spc="-10" b="1">
                <a:solidFill>
                  <a:srgbClr val="FFDD41"/>
                </a:solidFill>
                <a:latin typeface="Cambria"/>
                <a:cs typeface="Cambria"/>
              </a:rPr>
              <a:t>angle: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	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	interleaved-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zero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pattern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visual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signature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Windows</a:t>
            </a:r>
            <a:r>
              <a:rPr dirty="0" sz="1500" spc="1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strings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1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hex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dump.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80"/>
              <a:t>UTF-</a:t>
            </a:r>
            <a:r>
              <a:rPr dirty="0" spc="-250"/>
              <a:t>16</a:t>
            </a:r>
            <a:r>
              <a:rPr dirty="0" spc="55"/>
              <a:t> </a:t>
            </a:r>
            <a:r>
              <a:rPr dirty="0"/>
              <a:t>Worked</a:t>
            </a:r>
            <a:r>
              <a:rPr dirty="0" spc="-35"/>
              <a:t> </a:t>
            </a:r>
            <a:r>
              <a:rPr dirty="0" spc="-10"/>
              <a:t>Examples</a:t>
            </a:r>
          </a:p>
        </p:txBody>
      </p:sp>
      <p:pic>
        <p:nvPicPr>
          <p:cNvPr id="3" name="object 3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32194" y="1547459"/>
          <a:ext cx="6363335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8789"/>
                <a:gridCol w="2166619"/>
                <a:gridCol w="666750"/>
                <a:gridCol w="388620"/>
                <a:gridCol w="1314450"/>
              </a:tblGrid>
              <a:tr h="223520">
                <a:tc>
                  <a:txBody>
                    <a:bodyPr/>
                    <a:lstStyle/>
                    <a:p>
                      <a:pPr marL="31750">
                        <a:lnSpc>
                          <a:spcPts val="1500"/>
                        </a:lnSpc>
                      </a:pP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BMP</a:t>
                      </a:r>
                      <a:r>
                        <a:rPr dirty="0" sz="14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characters: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500"/>
                        </a:lnSpc>
                      </a:pP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one</a:t>
                      </a:r>
                      <a:r>
                        <a:rPr dirty="0" sz="14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16-</a:t>
                      </a: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bit</a:t>
                      </a:r>
                      <a:r>
                        <a:rPr dirty="0" sz="14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unit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38760">
                <a:tc>
                  <a:txBody>
                    <a:bodyPr/>
                    <a:lstStyle/>
                    <a:p>
                      <a:pPr marL="254000">
                        <a:lnSpc>
                          <a:spcPts val="1620"/>
                        </a:lnSpc>
                      </a:pP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'A'</a:t>
                      </a:r>
                      <a:r>
                        <a:rPr dirty="0" sz="14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4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U+0041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620"/>
                        </a:lnSpc>
                      </a:pP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→</a:t>
                      </a:r>
                      <a:r>
                        <a:rPr dirty="0" sz="14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units</a:t>
                      </a:r>
                      <a:r>
                        <a:rPr dirty="0" sz="145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0041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7790">
                        <a:lnSpc>
                          <a:spcPts val="1620"/>
                        </a:lnSpc>
                      </a:pPr>
                      <a:r>
                        <a:rPr dirty="0" sz="14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→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1910">
                        <a:lnSpc>
                          <a:spcPts val="1620"/>
                        </a:lnSpc>
                      </a:pPr>
                      <a:r>
                        <a:rPr dirty="0" sz="14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LE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ts val="1620"/>
                        </a:lnSpc>
                      </a:pP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bytes</a:t>
                      </a:r>
                      <a:r>
                        <a:rPr dirty="0" sz="1450" spc="-3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41</a:t>
                      </a:r>
                      <a:r>
                        <a:rPr dirty="0" sz="1450" spc="-3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 spc="-2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00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23520">
                <a:tc>
                  <a:txBody>
                    <a:bodyPr/>
                    <a:lstStyle/>
                    <a:p>
                      <a:pPr marL="254000">
                        <a:lnSpc>
                          <a:spcPts val="1620"/>
                        </a:lnSpc>
                        <a:tabLst>
                          <a:tab pos="688340" algn="l"/>
                        </a:tabLst>
                      </a:pPr>
                      <a:r>
                        <a:rPr dirty="0" sz="1450" spc="-50">
                          <a:solidFill>
                            <a:srgbClr val="FFFFFF"/>
                          </a:solidFill>
                          <a:latin typeface="Nirmala UI"/>
                          <a:cs typeface="Nirmala UI"/>
                        </a:rPr>
                        <a:t>ह</a:t>
                      </a:r>
                      <a:r>
                        <a:rPr dirty="0" sz="1450">
                          <a:solidFill>
                            <a:srgbClr val="FFFFFF"/>
                          </a:solidFill>
                          <a:latin typeface="Nirmala UI"/>
                          <a:cs typeface="Nirmala UI"/>
                        </a:rPr>
                        <a:t>	</a:t>
                      </a: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45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U+0939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620"/>
                        </a:lnSpc>
                      </a:pP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→</a:t>
                      </a:r>
                      <a:r>
                        <a:rPr dirty="0" sz="14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units</a:t>
                      </a:r>
                      <a:r>
                        <a:rPr dirty="0" sz="14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0939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9220">
                        <a:lnSpc>
                          <a:spcPts val="1620"/>
                        </a:lnSpc>
                      </a:pPr>
                      <a:r>
                        <a:rPr dirty="0" sz="14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→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ts val="1620"/>
                        </a:lnSpc>
                      </a:pPr>
                      <a:r>
                        <a:rPr dirty="0" sz="14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LE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620"/>
                        </a:lnSpc>
                      </a:pP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bytes</a:t>
                      </a:r>
                      <a:r>
                        <a:rPr dirty="0" sz="1450" spc="-3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39</a:t>
                      </a:r>
                      <a:r>
                        <a:rPr dirty="0" sz="1450" spc="-2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09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51428" y="2459641"/>
            <a:ext cx="6693534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beyond</a:t>
            </a:r>
            <a:r>
              <a:rPr dirty="0" sz="1450" spc="-5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dirty="0" sz="1450" spc="-4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BMP:</a:t>
            </a:r>
            <a:r>
              <a:rPr dirty="0" sz="1450" spc="-5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surrogate</a:t>
            </a:r>
            <a:r>
              <a:rPr dirty="0" sz="1450" spc="-5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pair,</a:t>
            </a:r>
            <a:r>
              <a:rPr dirty="0" sz="1450" spc="-5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e.g.</a:t>
            </a:r>
            <a:r>
              <a:rPr dirty="0" sz="1450" spc="-4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U+1F600</a:t>
            </a:r>
            <a:r>
              <a:rPr dirty="0" sz="1450" spc="-4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>
                <a:solidFill>
                  <a:srgbClr val="FFFFFF"/>
                </a:solidFill>
                <a:latin typeface="Courier New"/>
                <a:cs typeface="Courier New"/>
              </a:rPr>
              <a:t>(grinning</a:t>
            </a:r>
            <a:r>
              <a:rPr dirty="0" sz="1450" spc="-6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Courier New"/>
                <a:cs typeface="Courier New"/>
              </a:rPr>
              <a:t>face)</a:t>
            </a:r>
            <a:endParaRPr sz="145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54401" y="2740922"/>
          <a:ext cx="6141720" cy="923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265"/>
                <a:gridCol w="330834"/>
                <a:gridCol w="1112520"/>
                <a:gridCol w="221614"/>
                <a:gridCol w="443865"/>
                <a:gridCol w="2976879"/>
              </a:tblGrid>
              <a:tr h="223520">
                <a:tc>
                  <a:txBody>
                    <a:bodyPr/>
                    <a:lstStyle/>
                    <a:p>
                      <a:pPr algn="ctr" marR="15875">
                        <a:lnSpc>
                          <a:spcPts val="1500"/>
                        </a:lnSpc>
                      </a:pPr>
                      <a:r>
                        <a:rPr dirty="0" sz="14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subtract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55244">
                        <a:lnSpc>
                          <a:spcPts val="1500"/>
                        </a:lnSpc>
                      </a:pPr>
                      <a:r>
                        <a:rPr dirty="0" sz="14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0x10000: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1500"/>
                        </a:lnSpc>
                      </a:pPr>
                      <a:r>
                        <a:rPr dirty="0" sz="14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0x0F600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23520">
                <a:tc>
                  <a:txBody>
                    <a:bodyPr/>
                    <a:lstStyle/>
                    <a:p>
                      <a:pPr algn="ctr" marR="15875">
                        <a:lnSpc>
                          <a:spcPts val="1620"/>
                        </a:lnSpc>
                      </a:pP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split</a:t>
                      </a:r>
                      <a:r>
                        <a:rPr dirty="0" sz="1450" spc="-3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20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55244">
                        <a:lnSpc>
                          <a:spcPts val="1620"/>
                        </a:lnSpc>
                      </a:pP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bits</a:t>
                      </a:r>
                      <a:r>
                        <a:rPr dirty="0" sz="1450" spc="-4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into</a:t>
                      </a:r>
                      <a:r>
                        <a:rPr dirty="0" sz="1450" spc="-3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620"/>
                        </a:lnSpc>
                      </a:pPr>
                      <a:r>
                        <a:rPr dirty="0" sz="14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620"/>
                        </a:lnSpc>
                      </a:pPr>
                      <a:r>
                        <a:rPr dirty="0" sz="14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10: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1620"/>
                        </a:lnSpc>
                      </a:pPr>
                      <a:r>
                        <a:rPr dirty="0" sz="145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0000111101</a:t>
                      </a:r>
                      <a:r>
                        <a:rPr dirty="0" sz="1450" spc="-4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/</a:t>
                      </a:r>
                      <a:r>
                        <a:rPr dirty="0" sz="1450" spc="-4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 spc="-10" b="1">
                          <a:solidFill>
                            <a:srgbClr val="FFDD41"/>
                          </a:solidFill>
                          <a:latin typeface="Courier New"/>
                          <a:cs typeface="Courier New"/>
                        </a:rPr>
                        <a:t>1000000000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52729">
                <a:tc gridSpan="2">
                  <a:txBody>
                    <a:bodyPr/>
                    <a:lstStyle/>
                    <a:p>
                      <a:pPr marL="31750">
                        <a:lnSpc>
                          <a:spcPts val="1725"/>
                        </a:lnSpc>
                      </a:pP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high</a:t>
                      </a:r>
                      <a:r>
                        <a:rPr dirty="0" sz="14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4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D800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725"/>
                        </a:lnSpc>
                      </a:pP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14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0x03D</a:t>
                      </a:r>
                      <a:r>
                        <a:rPr dirty="0" sz="14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 spc="-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55244">
                        <a:lnSpc>
                          <a:spcPts val="1725"/>
                        </a:lnSpc>
                      </a:pPr>
                      <a:r>
                        <a:rPr dirty="0" sz="1450" spc="-2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D83D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ts val="1725"/>
                        </a:lnSpc>
                      </a:pP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low</a:t>
                      </a:r>
                      <a:r>
                        <a:rPr dirty="0" sz="14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450" spc="-2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DC00</a:t>
                      </a:r>
                      <a:r>
                        <a:rPr dirty="0" sz="14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1450" spc="-1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0x200</a:t>
                      </a:r>
                      <a:r>
                        <a:rPr dirty="0" sz="14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4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 spc="-2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DE00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23520">
                <a:tc gridSpan="2">
                  <a:txBody>
                    <a:bodyPr/>
                    <a:lstStyle/>
                    <a:p>
                      <a:pPr marL="31750">
                        <a:lnSpc>
                          <a:spcPts val="1620"/>
                        </a:lnSpc>
                      </a:pP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LE</a:t>
                      </a:r>
                      <a:r>
                        <a:rPr dirty="0" sz="1450" spc="-3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bytes</a:t>
                      </a:r>
                      <a:r>
                        <a:rPr dirty="0" sz="1450" spc="-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on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45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disk:</a:t>
                      </a:r>
                      <a:r>
                        <a:rPr dirty="0" sz="1450" spc="-1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1450" spc="-2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3D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55244">
                        <a:lnSpc>
                          <a:spcPts val="1620"/>
                        </a:lnSpc>
                      </a:pPr>
                      <a:r>
                        <a:rPr dirty="0" sz="1450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D8</a:t>
                      </a:r>
                      <a:r>
                        <a:rPr dirty="0" sz="1450" spc="-2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00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1620"/>
                        </a:lnSpc>
                      </a:pPr>
                      <a:r>
                        <a:rPr dirty="0" sz="1450" spc="-25" b="1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DE</a:t>
                      </a:r>
                      <a:endParaRPr sz="1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351060" y="3890800"/>
            <a:ext cx="669417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b="1">
                <a:solidFill>
                  <a:srgbClr val="5FDEEE"/>
                </a:solidFill>
                <a:latin typeface="Courier New"/>
                <a:cs typeface="Courier New"/>
              </a:rPr>
              <a:t>emoji</a:t>
            </a:r>
            <a:r>
              <a:rPr dirty="0" sz="1450" spc="-4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450" b="1">
                <a:solidFill>
                  <a:srgbClr val="5FDEEE"/>
                </a:solidFill>
                <a:latin typeface="Courier New"/>
                <a:cs typeface="Courier New"/>
              </a:rPr>
              <a:t>in</a:t>
            </a:r>
            <a:r>
              <a:rPr dirty="0" sz="1450" spc="-3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450" b="1">
                <a:solidFill>
                  <a:srgbClr val="5FDEEE"/>
                </a:solidFill>
                <a:latin typeface="Courier New"/>
                <a:cs typeface="Courier New"/>
              </a:rPr>
              <a:t>chat</a:t>
            </a:r>
            <a:r>
              <a:rPr dirty="0" sz="1450" spc="-3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450" b="1">
                <a:solidFill>
                  <a:srgbClr val="5FDEEE"/>
                </a:solidFill>
                <a:latin typeface="Courier New"/>
                <a:cs typeface="Courier New"/>
              </a:rPr>
              <a:t>evidence</a:t>
            </a:r>
            <a:r>
              <a:rPr dirty="0" sz="1450" spc="-3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450" b="1">
                <a:solidFill>
                  <a:srgbClr val="5FDEEE"/>
                </a:solidFill>
                <a:latin typeface="Courier New"/>
                <a:cs typeface="Courier New"/>
              </a:rPr>
              <a:t>are</a:t>
            </a:r>
            <a:r>
              <a:rPr dirty="0" sz="1450" spc="-4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450" b="1">
                <a:solidFill>
                  <a:srgbClr val="5FDEEE"/>
                </a:solidFill>
                <a:latin typeface="Courier New"/>
                <a:cs typeface="Courier New"/>
              </a:rPr>
              <a:t>surrogate</a:t>
            </a:r>
            <a:r>
              <a:rPr dirty="0" sz="1450" spc="-30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450" b="1">
                <a:solidFill>
                  <a:srgbClr val="5FDEEE"/>
                </a:solidFill>
                <a:latin typeface="Courier New"/>
                <a:cs typeface="Courier New"/>
              </a:rPr>
              <a:t>pairs</a:t>
            </a:r>
            <a:r>
              <a:rPr dirty="0" sz="1450" spc="-3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450" b="1">
                <a:solidFill>
                  <a:srgbClr val="5FDEEE"/>
                </a:solidFill>
                <a:latin typeface="Courier New"/>
                <a:cs typeface="Courier New"/>
              </a:rPr>
              <a:t>in</a:t>
            </a:r>
            <a:r>
              <a:rPr dirty="0" sz="1450" spc="-3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450" spc="-10" b="1">
                <a:solidFill>
                  <a:srgbClr val="5FDEEE"/>
                </a:solidFill>
                <a:latin typeface="Courier New"/>
                <a:cs typeface="Courier New"/>
              </a:rPr>
              <a:t>UTF-</a:t>
            </a:r>
            <a:r>
              <a:rPr dirty="0" sz="1450" b="1">
                <a:solidFill>
                  <a:srgbClr val="5FDEEE"/>
                </a:solidFill>
                <a:latin typeface="Courier New"/>
                <a:cs typeface="Courier New"/>
              </a:rPr>
              <a:t>16</a:t>
            </a:r>
            <a:r>
              <a:rPr dirty="0" sz="1450" spc="-25" b="1">
                <a:solidFill>
                  <a:srgbClr val="5FDEEE"/>
                </a:solidFill>
                <a:latin typeface="Courier New"/>
                <a:cs typeface="Courier New"/>
              </a:rPr>
              <a:t> </a:t>
            </a:r>
            <a:r>
              <a:rPr dirty="0" sz="1450" spc="-10" b="1">
                <a:solidFill>
                  <a:srgbClr val="5FDEEE"/>
                </a:solidFill>
                <a:latin typeface="Courier New"/>
                <a:cs typeface="Courier New"/>
              </a:rPr>
              <a:t>exports</a:t>
            </a:r>
            <a:endParaRPr sz="14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0001" y="899999"/>
            <a:ext cx="9059989" cy="4719991"/>
          </a:xfrm>
          <a:prstGeom prst="rect">
            <a:avLst/>
          </a:prstGeom>
        </p:spPr>
      </p:pic>
      <p:pic>
        <p:nvPicPr>
          <p:cNvPr id="3" name="object 3" descr="talk-white-squar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9999" y="3560000"/>
            <a:ext cx="1577771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158739" y="1424063"/>
            <a:ext cx="1083310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75"/>
              <a:t>UTF-</a:t>
            </a:r>
            <a:r>
              <a:rPr dirty="0" sz="2500" spc="-200"/>
              <a:t>32</a:t>
            </a:r>
            <a:endParaRPr sz="2500"/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28843" y="2149303"/>
            <a:ext cx="7074534" cy="2311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 marR="7620" indent="-360045">
              <a:lnSpc>
                <a:spcPct val="100000"/>
              </a:lnSpc>
              <a:spcBef>
                <a:spcPts val="1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3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third</a:t>
            </a:r>
            <a:r>
              <a:rPr dirty="0" sz="1500" spc="2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encoding</a:t>
            </a:r>
            <a:r>
              <a:rPr dirty="0" sz="1500" spc="3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form:</a:t>
            </a:r>
            <a:r>
              <a:rPr dirty="0" sz="1500" spc="3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500" spc="3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dirty="0" sz="1500" spc="3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point</a:t>
            </a:r>
            <a:r>
              <a:rPr dirty="0" sz="1500" spc="3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becomes</a:t>
            </a:r>
            <a:r>
              <a:rPr dirty="0" sz="1500" spc="3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exactly</a:t>
            </a:r>
            <a:r>
              <a:rPr dirty="0" sz="1500" spc="3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one</a:t>
            </a:r>
            <a:r>
              <a:rPr dirty="0" sz="1500" spc="3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10" b="1">
                <a:solidFill>
                  <a:srgbClr val="FFFFFF"/>
                </a:solidFill>
                <a:latin typeface="Cambria"/>
                <a:cs typeface="Cambria"/>
              </a:rPr>
              <a:t>32-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500" spc="3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unit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,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four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bytes,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zero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padded.</a:t>
            </a:r>
            <a:endParaRPr sz="1500">
              <a:latin typeface="Cambria"/>
              <a:cs typeface="Cambria"/>
            </a:endParaRPr>
          </a:p>
          <a:p>
            <a:pPr marL="372110" marR="5080" indent="-360045">
              <a:lnSpc>
                <a:spcPct val="100000"/>
              </a:lnSpc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'A'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U+0041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stored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as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5" b="1">
                <a:solidFill>
                  <a:srgbClr val="FFFFFF"/>
                </a:solidFill>
                <a:latin typeface="Cambria"/>
                <a:cs typeface="Cambria"/>
              </a:rPr>
              <a:t>41</a:t>
            </a:r>
            <a:r>
              <a:rPr dirty="0" sz="1500" spc="11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5" b="1">
                <a:solidFill>
                  <a:srgbClr val="FFFFFF"/>
                </a:solidFill>
                <a:latin typeface="Cambria"/>
                <a:cs typeface="Cambria"/>
              </a:rPr>
              <a:t>00</a:t>
            </a:r>
            <a:r>
              <a:rPr dirty="0" sz="1500" spc="11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5" b="1">
                <a:solidFill>
                  <a:srgbClr val="FFFFFF"/>
                </a:solidFill>
                <a:latin typeface="Cambria"/>
                <a:cs typeface="Cambria"/>
              </a:rPr>
              <a:t>00</a:t>
            </a:r>
            <a:r>
              <a:rPr dirty="0" sz="1500" spc="11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5" b="1">
                <a:solidFill>
                  <a:srgbClr val="FFFFFF"/>
                </a:solidFill>
                <a:latin typeface="Cambria"/>
                <a:cs typeface="Cambria"/>
              </a:rPr>
              <a:t>00</a:t>
            </a:r>
            <a:r>
              <a:rPr dirty="0" sz="1500" spc="11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UTF-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32LE: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point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value,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with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surrogates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length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rules.</a:t>
            </a:r>
            <a:endParaRPr sz="1500">
              <a:latin typeface="Cambria"/>
              <a:cs typeface="Cambria"/>
            </a:endParaRPr>
          </a:p>
          <a:p>
            <a:pPr marL="372110" marR="5715" indent="-360045">
              <a:lnSpc>
                <a:spcPct val="100000"/>
              </a:lnSpc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Fixed</a:t>
            </a:r>
            <a:r>
              <a:rPr dirty="0" sz="1500" spc="2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width</a:t>
            </a:r>
            <a:r>
              <a:rPr dirty="0" sz="1500" spc="2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makes</a:t>
            </a:r>
            <a:r>
              <a:rPr dirty="0" sz="1500" spc="25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indexing</a:t>
            </a:r>
            <a:r>
              <a:rPr dirty="0" sz="1500" spc="25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trivial</a:t>
            </a:r>
            <a:r>
              <a:rPr dirty="0" sz="1500" spc="2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but</a:t>
            </a:r>
            <a:r>
              <a:rPr dirty="0" sz="1500" spc="25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storage</a:t>
            </a:r>
            <a:r>
              <a:rPr dirty="0" sz="1500" spc="25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heavy:</a:t>
            </a:r>
            <a:r>
              <a:rPr dirty="0" sz="1500" spc="2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plain</a:t>
            </a:r>
            <a:r>
              <a:rPr dirty="0" sz="1500" spc="25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ASCII</a:t>
            </a:r>
            <a:r>
              <a:rPr dirty="0" sz="1500" spc="2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dirty="0" sz="1500" spc="2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grows four-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fold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so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files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disk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rarely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use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it.</a:t>
            </a:r>
            <a:endParaRPr sz="1500">
              <a:latin typeface="Cambria"/>
              <a:cs typeface="Cambria"/>
            </a:endParaRPr>
          </a:p>
          <a:p>
            <a:pPr marL="372110" marR="8255" indent="-360045">
              <a:lnSpc>
                <a:spcPct val="100000"/>
              </a:lnSpc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BOMs:</a:t>
            </a:r>
            <a:r>
              <a:rPr dirty="0" sz="1500" spc="2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0" b="1">
                <a:solidFill>
                  <a:srgbClr val="FFFFFF"/>
                </a:solidFill>
                <a:latin typeface="Cambria"/>
                <a:cs typeface="Cambria"/>
              </a:rPr>
              <a:t>00</a:t>
            </a:r>
            <a:r>
              <a:rPr dirty="0" sz="1500" spc="3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0" b="1">
                <a:solidFill>
                  <a:srgbClr val="FFFFFF"/>
                </a:solidFill>
                <a:latin typeface="Cambria"/>
                <a:cs typeface="Cambria"/>
              </a:rPr>
              <a:t>00</a:t>
            </a:r>
            <a:r>
              <a:rPr dirty="0" sz="1500" spc="3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FE</a:t>
            </a:r>
            <a:r>
              <a:rPr dirty="0" sz="1500" spc="28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FF</a:t>
            </a:r>
            <a:r>
              <a:rPr dirty="0" sz="1500" spc="3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big-endian,</a:t>
            </a:r>
            <a:r>
              <a:rPr dirty="0" sz="1500" spc="2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FF</a:t>
            </a:r>
            <a:r>
              <a:rPr dirty="0" sz="1500" spc="2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FE</a:t>
            </a:r>
            <a:r>
              <a:rPr dirty="0" sz="1500" spc="2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0" b="1">
                <a:solidFill>
                  <a:srgbClr val="FFFFFF"/>
                </a:solidFill>
                <a:latin typeface="Cambria"/>
                <a:cs typeface="Cambria"/>
              </a:rPr>
              <a:t>00</a:t>
            </a:r>
            <a:r>
              <a:rPr dirty="0" sz="1500" spc="3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0" b="1">
                <a:solidFill>
                  <a:srgbClr val="FFFFFF"/>
                </a:solidFill>
                <a:latin typeface="Cambria"/>
                <a:cs typeface="Cambria"/>
              </a:rPr>
              <a:t>00</a:t>
            </a:r>
            <a:r>
              <a:rPr dirty="0" sz="1500" spc="3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little-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endian;</a:t>
            </a:r>
            <a:r>
              <a:rPr dirty="0" sz="1500" spc="3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you</a:t>
            </a:r>
            <a:r>
              <a:rPr dirty="0" sz="1500" spc="2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meet</a:t>
            </a:r>
            <a:r>
              <a:rPr dirty="0" sz="1500" spc="3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UTF-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32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mostly</a:t>
            </a:r>
            <a:r>
              <a:rPr dirty="0" sz="1500" spc="1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1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memory</a:t>
            </a:r>
            <a:r>
              <a:rPr dirty="0" sz="1500" spc="1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(Python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strings,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Linux</a:t>
            </a:r>
            <a:r>
              <a:rPr dirty="0" sz="1500" spc="1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wchar_t)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tool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exports.</a:t>
            </a:r>
            <a:endParaRPr sz="1500">
              <a:latin typeface="Cambria"/>
              <a:cs typeface="Cambria"/>
            </a:endParaRPr>
          </a:p>
          <a:p>
            <a:pPr marL="372110" marR="8255" indent="-360045">
              <a:lnSpc>
                <a:spcPct val="100000"/>
              </a:lnSpc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-10" b="1">
                <a:solidFill>
                  <a:srgbClr val="FFDD41"/>
                </a:solidFill>
                <a:latin typeface="Cambria"/>
                <a:cs typeface="Cambria"/>
              </a:rPr>
              <a:t>Forensic</a:t>
            </a:r>
            <a:r>
              <a:rPr dirty="0" sz="1500" spc="130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angle:</a:t>
            </a:r>
            <a:r>
              <a:rPr dirty="0" sz="1500" spc="135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search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tuned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UTF-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UTF-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misses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UTF-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32</a:t>
            </a:r>
            <a:r>
              <a:rPr dirty="0" sz="15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text;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the 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giveaway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three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zero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per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Latin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character.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17:40:23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One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slide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of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completeness: </a:t>
            </a:r>
            <a:r>
              <a:rPr dirty="0" sz="1000">
                <a:latin typeface="Microsoft Sans Serif"/>
                <a:cs typeface="Microsoft Sans Serif"/>
              </a:rPr>
              <a:t>students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should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know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third </a:t>
            </a:r>
            <a:r>
              <a:rPr dirty="0" sz="1000">
                <a:latin typeface="Microsoft Sans Serif"/>
                <a:cs typeface="Microsoft Sans Serif"/>
              </a:rPr>
              <a:t>encoding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form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exists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why </a:t>
            </a:r>
            <a:r>
              <a:rPr dirty="0" sz="1000">
                <a:latin typeface="Microsoft Sans Serif"/>
                <a:cs typeface="Microsoft Sans Serif"/>
              </a:rPr>
              <a:t>they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will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rarely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see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disk.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value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code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point,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which </a:t>
            </a:r>
            <a:r>
              <a:rPr dirty="0" sz="1000">
                <a:latin typeface="Microsoft Sans Serif"/>
                <a:cs typeface="Microsoft Sans Serif"/>
              </a:rPr>
              <a:t>makes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easiest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form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to </a:t>
            </a:r>
            <a:r>
              <a:rPr dirty="0" sz="1000">
                <a:latin typeface="Microsoft Sans Serif"/>
                <a:cs typeface="Microsoft Sans Serif"/>
              </a:rPr>
              <a:t>decode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hand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most </a:t>
            </a:r>
            <a:r>
              <a:rPr dirty="0" sz="1000">
                <a:latin typeface="Microsoft Sans Serif"/>
                <a:cs typeface="Microsoft Sans Serif"/>
              </a:rPr>
              <a:t>wasteful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store.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Show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three </a:t>
            </a:r>
            <a:r>
              <a:rPr dirty="0" sz="1000">
                <a:latin typeface="Microsoft Sans Serif"/>
                <a:cs typeface="Microsoft Sans Serif"/>
              </a:rPr>
              <a:t>zero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bytes: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pattern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 </a:t>
            </a:r>
            <a:r>
              <a:rPr dirty="0" sz="1000">
                <a:latin typeface="Microsoft Sans Serif"/>
                <a:cs typeface="Microsoft Sans Serif"/>
              </a:rPr>
              <a:t>memory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dump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usually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means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an </a:t>
            </a:r>
            <a:r>
              <a:rPr dirty="0" sz="1000">
                <a:latin typeface="Microsoft Sans Serif"/>
                <a:cs typeface="Microsoft Sans Serif"/>
              </a:rPr>
              <a:t>application's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internal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string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buffer </a:t>
            </a:r>
            <a:r>
              <a:rPr dirty="0" sz="1000">
                <a:latin typeface="Microsoft Sans Serif"/>
                <a:cs typeface="Microsoft Sans Serif"/>
              </a:rPr>
              <a:t>rather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file.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Search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tools </a:t>
            </a:r>
            <a:r>
              <a:rPr dirty="0" sz="1000">
                <a:latin typeface="Microsoft Sans Serif"/>
                <a:cs typeface="Microsoft Sans Serif"/>
              </a:rPr>
              <a:t>default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UTF-8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UTF-16,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so </a:t>
            </a:r>
            <a:r>
              <a:rPr dirty="0" sz="1000">
                <a:latin typeface="Microsoft Sans Serif"/>
                <a:cs typeface="Microsoft Sans Serif"/>
              </a:rPr>
              <a:t>UTF-32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content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must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be </a:t>
            </a:r>
            <a:r>
              <a:rPr dirty="0" sz="1000">
                <a:latin typeface="Microsoft Sans Serif"/>
                <a:cs typeface="Microsoft Sans Serif"/>
              </a:rPr>
              <a:t>requested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explicitly.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87722" y="361016"/>
            <a:ext cx="4015104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Byte</a:t>
            </a:r>
            <a:r>
              <a:rPr dirty="0" sz="2700" spc="35"/>
              <a:t> </a:t>
            </a:r>
            <a:r>
              <a:rPr dirty="0" sz="2700"/>
              <a:t>Order</a:t>
            </a:r>
            <a:r>
              <a:rPr dirty="0" sz="2700" spc="35"/>
              <a:t> </a:t>
            </a:r>
            <a:r>
              <a:rPr dirty="0" sz="2700"/>
              <a:t>Marks</a:t>
            </a:r>
            <a:r>
              <a:rPr dirty="0" sz="2700" spc="20"/>
              <a:t> </a:t>
            </a:r>
            <a:r>
              <a:rPr dirty="0" sz="2700" spc="65"/>
              <a:t>(BOM)</a:t>
            </a:r>
            <a:endParaRPr sz="27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91084" y="1355237"/>
          <a:ext cx="10885805" cy="2658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4575"/>
                <a:gridCol w="3086100"/>
                <a:gridCol w="5400675"/>
              </a:tblGrid>
              <a:tr h="429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5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Encoding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9017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50" spc="14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BOM</a:t>
                      </a:r>
                      <a:r>
                        <a:rPr dirty="0" sz="1450" spc="5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bytes</a:t>
                      </a:r>
                      <a:r>
                        <a:rPr dirty="0" sz="1450" spc="2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at</a:t>
                      </a:r>
                      <a:r>
                        <a:rPr dirty="0" sz="1450" spc="3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file</a:t>
                      </a:r>
                      <a:r>
                        <a:rPr dirty="0" sz="1450" spc="25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5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start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9017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1450" spc="-10" b="1">
                          <a:solidFill>
                            <a:srgbClr val="FFDD41"/>
                          </a:solidFill>
                          <a:latin typeface="Cambria"/>
                          <a:cs typeface="Cambria"/>
                        </a:rPr>
                        <a:t>Meaning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9017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2A392C">
                        <a:alpha val="78039"/>
                      </a:srgbClr>
                    </a:solidFill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 spc="5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UTF-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8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EF</a:t>
                      </a:r>
                      <a:r>
                        <a:rPr dirty="0" sz="1400" spc="6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BB</a:t>
                      </a:r>
                      <a:r>
                        <a:rPr dirty="0" sz="1400" spc="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optional</a:t>
                      </a:r>
                      <a:r>
                        <a:rPr dirty="0" sz="1400" spc="15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signature,</a:t>
                      </a:r>
                      <a:r>
                        <a:rPr dirty="0" sz="1400" spc="15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order</a:t>
                      </a:r>
                      <a:r>
                        <a:rPr dirty="0" sz="1400" spc="17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fixed</a:t>
                      </a:r>
                      <a:r>
                        <a:rPr dirty="0" sz="1400" spc="16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anyway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 spc="5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UTF-</a:t>
                      </a:r>
                      <a:r>
                        <a:rPr dirty="0" sz="1400" spc="-7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16</a:t>
                      </a:r>
                      <a:r>
                        <a:rPr dirty="0" sz="1400" spc="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LE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FF</a:t>
                      </a:r>
                      <a:r>
                        <a:rPr dirty="0" sz="1400" spc="8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FE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units</a:t>
                      </a:r>
                      <a:r>
                        <a:rPr dirty="0" sz="1400" spc="1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are</a:t>
                      </a:r>
                      <a:r>
                        <a:rPr dirty="0" sz="1400" spc="13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little-endian</a:t>
                      </a:r>
                      <a:r>
                        <a:rPr dirty="0" sz="1400" spc="18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(Windows</a:t>
                      </a:r>
                      <a:r>
                        <a:rPr dirty="0" sz="1400" spc="9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default)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 spc="5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UTF-</a:t>
                      </a:r>
                      <a:r>
                        <a:rPr dirty="0" sz="1400" spc="-7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16</a:t>
                      </a:r>
                      <a:r>
                        <a:rPr dirty="0" sz="1400" spc="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FE</a:t>
                      </a:r>
                      <a:r>
                        <a:rPr dirty="0" sz="1400" spc="1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units</a:t>
                      </a:r>
                      <a:r>
                        <a:rPr dirty="0" sz="1400" spc="1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are</a:t>
                      </a:r>
                      <a:r>
                        <a:rPr dirty="0" sz="1400" spc="1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big-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endian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 spc="5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UTF-</a:t>
                      </a:r>
                      <a:r>
                        <a:rPr dirty="0" sz="1400" spc="-7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32</a:t>
                      </a:r>
                      <a:r>
                        <a:rPr dirty="0" sz="1400" spc="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LE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FF</a:t>
                      </a:r>
                      <a:r>
                        <a:rPr dirty="0" sz="1400" spc="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FE</a:t>
                      </a:r>
                      <a:r>
                        <a:rPr dirty="0" sz="1400" spc="5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00</a:t>
                      </a:r>
                      <a:r>
                        <a:rPr dirty="0" sz="1400" spc="5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00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rare,</a:t>
                      </a:r>
                      <a:r>
                        <a:rPr dirty="0" sz="1400" spc="6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4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4-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byte</a:t>
                      </a:r>
                      <a:r>
                        <a:rPr dirty="0" sz="1400" spc="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units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 spc="5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UTF-</a:t>
                      </a:r>
                      <a:r>
                        <a:rPr dirty="0" sz="1400" spc="-7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32</a:t>
                      </a:r>
                      <a:r>
                        <a:rPr dirty="0" sz="1400" spc="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00</a:t>
                      </a:r>
                      <a:r>
                        <a:rPr dirty="0" sz="1400" spc="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5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00</a:t>
                      </a:r>
                      <a:r>
                        <a:rPr dirty="0" sz="1400" spc="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FE</a:t>
                      </a:r>
                      <a:r>
                        <a:rPr dirty="0" sz="1400" spc="1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2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FF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big-endian,</a:t>
                      </a:r>
                      <a:r>
                        <a:rPr dirty="0" sz="1400" spc="19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4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4-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byte</a:t>
                      </a:r>
                      <a:r>
                        <a:rPr dirty="0" sz="1400" spc="19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400" spc="-2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units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 marT="92710">
                    <a:lnL w="9525">
                      <a:solidFill>
                        <a:srgbClr val="7B897D"/>
                      </a:solidFill>
                      <a:prstDash val="solid"/>
                    </a:lnL>
                    <a:lnR w="9525">
                      <a:solidFill>
                        <a:srgbClr val="7B897D"/>
                      </a:solidFill>
                      <a:prstDash val="solid"/>
                    </a:lnR>
                    <a:lnT w="9525">
                      <a:solidFill>
                        <a:srgbClr val="7B897D"/>
                      </a:solidFill>
                      <a:prstDash val="solid"/>
                    </a:lnT>
                    <a:lnB w="9525">
                      <a:solidFill>
                        <a:srgbClr val="7B897D"/>
                      </a:solidFill>
                      <a:prstDash val="solid"/>
                    </a:lnB>
                    <a:solidFill>
                      <a:srgbClr val="15281F">
                        <a:alpha val="54901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" name="object 4" descr="smile-white-squar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6773" y="5859999"/>
            <a:ext cx="493049" cy="849994"/>
          </a:xfrm>
          <a:prstGeom prst="rect">
            <a:avLst/>
          </a:prstGeom>
        </p:spPr>
      </p:pic>
      <p:pic>
        <p:nvPicPr>
          <p:cNvPr id="5" name="object 5" descr="talk-blue-circl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44831" y="5859999"/>
            <a:ext cx="690079" cy="84999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17:40:24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1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BOM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at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offset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0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of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1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carved </a:t>
            </a:r>
            <a:r>
              <a:rPr dirty="0" sz="1000">
                <a:latin typeface="Microsoft Sans Serif"/>
                <a:cs typeface="Microsoft Sans Serif"/>
              </a:rPr>
              <a:t>fragment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identifies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text </a:t>
            </a:r>
            <a:r>
              <a:rPr dirty="0" sz="1000">
                <a:latin typeface="Microsoft Sans Serif"/>
                <a:cs typeface="Microsoft Sans Serif"/>
              </a:rPr>
              <a:t>encoding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instantly: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endianness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encoding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glance.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720001"/>
            <a:ext cx="11429996" cy="4817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739" y="1082540"/>
            <a:ext cx="6924040" cy="42227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DD41"/>
                </a:solidFill>
              </a:rPr>
              <a:t>Normalization:</a:t>
            </a:r>
            <a:r>
              <a:rPr dirty="0" spc="35">
                <a:solidFill>
                  <a:srgbClr val="FFDD41"/>
                </a:solidFill>
              </a:rPr>
              <a:t> </a:t>
            </a:r>
            <a:r>
              <a:rPr dirty="0" spc="95">
                <a:solidFill>
                  <a:srgbClr val="FFDD41"/>
                </a:solidFill>
              </a:rPr>
              <a:t>One</a:t>
            </a:r>
            <a:r>
              <a:rPr dirty="0" spc="60">
                <a:solidFill>
                  <a:srgbClr val="FFDD41"/>
                </a:solidFill>
              </a:rPr>
              <a:t> </a:t>
            </a:r>
            <a:r>
              <a:rPr dirty="0" spc="-25">
                <a:solidFill>
                  <a:srgbClr val="FFDD41"/>
                </a:solidFill>
              </a:rPr>
              <a:t>Character,</a:t>
            </a:r>
            <a:r>
              <a:rPr dirty="0" spc="40">
                <a:solidFill>
                  <a:srgbClr val="FFDD41"/>
                </a:solidFill>
              </a:rPr>
              <a:t> </a:t>
            </a:r>
            <a:r>
              <a:rPr dirty="0">
                <a:solidFill>
                  <a:srgbClr val="FFDD41"/>
                </a:solidFill>
              </a:rPr>
              <a:t>Two</a:t>
            </a:r>
            <a:r>
              <a:rPr dirty="0" spc="70">
                <a:solidFill>
                  <a:srgbClr val="FFDD41"/>
                </a:solidFill>
              </a:rPr>
              <a:t> </a:t>
            </a:r>
            <a:r>
              <a:rPr dirty="0" spc="35">
                <a:solidFill>
                  <a:srgbClr val="FFDD41"/>
                </a:solidFill>
              </a:rPr>
              <a:t>Spellings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843" y="1779304"/>
            <a:ext cx="10223500" cy="2311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Unicode</a:t>
            </a:r>
            <a:r>
              <a:rPr dirty="0" sz="1500" spc="3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dirty="0" sz="1500" spc="3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write</a:t>
            </a:r>
            <a:r>
              <a:rPr dirty="0" sz="1500" spc="3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one</a:t>
            </a:r>
            <a:r>
              <a:rPr dirty="0" sz="1500" spc="3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visible</a:t>
            </a:r>
            <a:r>
              <a:rPr dirty="0" sz="1500" spc="3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character</a:t>
            </a:r>
            <a:r>
              <a:rPr dirty="0" sz="1500" spc="3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two</a:t>
            </a:r>
            <a:r>
              <a:rPr dirty="0" sz="1500" spc="3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ways:</a:t>
            </a:r>
            <a:r>
              <a:rPr dirty="0" sz="1500" spc="3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é</a:t>
            </a:r>
            <a:r>
              <a:rPr dirty="0" sz="1500" spc="4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3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U+00E9</a:t>
            </a:r>
            <a:r>
              <a:rPr dirty="0" sz="1500" spc="4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precomposed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3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3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</a:t>
            </a:r>
            <a:r>
              <a:rPr dirty="0" sz="1500" spc="4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(U+0065)</a:t>
            </a:r>
            <a:r>
              <a:rPr dirty="0" sz="1500" spc="3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followed</a:t>
            </a:r>
            <a:r>
              <a:rPr dirty="0" sz="1500" spc="3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</a:t>
            </a:r>
            <a:r>
              <a:rPr dirty="0" sz="1500" spc="3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endParaRPr sz="1500">
              <a:latin typeface="Cambria"/>
              <a:cs typeface="Cambria"/>
            </a:endParaRPr>
          </a:p>
          <a:p>
            <a:pPr marL="372110">
              <a:lnSpc>
                <a:spcPct val="100000"/>
              </a:lnSpc>
            </a:pP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combining</a:t>
            </a:r>
            <a:r>
              <a:rPr dirty="0" sz="1500" spc="3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0" b="1">
                <a:solidFill>
                  <a:srgbClr val="FFFFFF"/>
                </a:solidFill>
                <a:latin typeface="Cambria"/>
                <a:cs typeface="Cambria"/>
              </a:rPr>
              <a:t>accent</a:t>
            </a:r>
            <a:r>
              <a:rPr dirty="0" sz="1500" spc="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U+0301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UTF-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those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become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C3</a:t>
            </a:r>
            <a:r>
              <a:rPr dirty="0" sz="1500" spc="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A9</a:t>
            </a:r>
            <a:r>
              <a:rPr dirty="0" sz="1500" spc="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versus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5" b="1">
                <a:solidFill>
                  <a:srgbClr val="FFFFFF"/>
                </a:solidFill>
                <a:latin typeface="Cambria"/>
                <a:cs typeface="Cambria"/>
              </a:rPr>
              <a:t>65</a:t>
            </a:r>
            <a:r>
              <a:rPr dirty="0" sz="1500" spc="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210" b="1">
                <a:solidFill>
                  <a:srgbClr val="FFFFFF"/>
                </a:solidFill>
                <a:latin typeface="Cambria"/>
                <a:cs typeface="Cambria"/>
              </a:rPr>
              <a:t>CC</a:t>
            </a:r>
            <a:r>
              <a:rPr dirty="0" sz="1500" spc="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5" b="1">
                <a:solidFill>
                  <a:srgbClr val="FFFFFF"/>
                </a:solidFill>
                <a:latin typeface="Cambria"/>
                <a:cs typeface="Cambria"/>
              </a:rPr>
              <a:t>81</a:t>
            </a:r>
            <a:r>
              <a:rPr dirty="0" sz="1500" spc="-105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different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bytes,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identical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rendering.</a:t>
            </a:r>
            <a:endParaRPr sz="1500">
              <a:latin typeface="Cambria"/>
              <a:cs typeface="Cambria"/>
            </a:endParaRPr>
          </a:p>
          <a:p>
            <a:pPr marL="372110" marR="5080" indent="-360045">
              <a:lnSpc>
                <a:spcPct val="100000"/>
              </a:lnSpc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standard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defines</a:t>
            </a:r>
            <a:r>
              <a:rPr dirty="0" sz="1500" spc="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normalization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forms</a:t>
            </a:r>
            <a:r>
              <a:rPr dirty="0" sz="1500" spc="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reconcile</a:t>
            </a:r>
            <a:r>
              <a:rPr dirty="0" sz="1500" spc="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them: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45" b="1">
                <a:solidFill>
                  <a:srgbClr val="FFFFFF"/>
                </a:solidFill>
                <a:latin typeface="Cambria"/>
                <a:cs typeface="Cambria"/>
              </a:rPr>
              <a:t>NFC</a:t>
            </a:r>
            <a:r>
              <a:rPr dirty="0" sz="1500" spc="1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composes,</a:t>
            </a:r>
            <a:r>
              <a:rPr dirty="0" sz="1500" spc="1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30" b="1">
                <a:solidFill>
                  <a:srgbClr val="FFFFFF"/>
                </a:solidFill>
                <a:latin typeface="Cambria"/>
                <a:cs typeface="Cambria"/>
              </a:rPr>
              <a:t>NFD</a:t>
            </a:r>
            <a:r>
              <a:rPr dirty="0" sz="1500" spc="1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decomposes</a:t>
            </a:r>
            <a:r>
              <a:rPr dirty="0" sz="1500" spc="1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(Unicode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Standard 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Annex</a:t>
            </a:r>
            <a:r>
              <a:rPr dirty="0" sz="1500" spc="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#15,</a:t>
            </a:r>
            <a:r>
              <a:rPr dirty="0" sz="1500" spc="-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unicode.org).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Windows</a:t>
            </a:r>
            <a:r>
              <a:rPr dirty="0" sz="1500" spc="2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keeps</a:t>
            </a:r>
            <a:r>
              <a:rPr dirty="0" sz="1500" spc="20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file</a:t>
            </a:r>
            <a:r>
              <a:rPr dirty="0" sz="1500" spc="20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names</a:t>
            </a:r>
            <a:r>
              <a:rPr dirty="0" sz="1500" spc="20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as</a:t>
            </a:r>
            <a:r>
              <a:rPr dirty="0" sz="1500" spc="20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typed;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macOS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historically</a:t>
            </a:r>
            <a:r>
              <a:rPr dirty="0" sz="1500" spc="2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decomposes</a:t>
            </a:r>
            <a:r>
              <a:rPr dirty="0" sz="1500" spc="20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them,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so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one</a:t>
            </a:r>
            <a:r>
              <a:rPr dirty="0" sz="1500" spc="20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name</a:t>
            </a:r>
            <a:r>
              <a:rPr dirty="0" sz="1500" spc="20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copied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across</a:t>
            </a:r>
            <a:r>
              <a:rPr dirty="0" sz="1500" spc="20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systems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endParaRPr sz="1500">
              <a:latin typeface="Cambria"/>
              <a:cs typeface="Cambria"/>
            </a:endParaRPr>
          </a:p>
          <a:p>
            <a:pPr marL="372110">
              <a:lnSpc>
                <a:spcPct val="100000"/>
              </a:lnSpc>
            </a:pP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change</a:t>
            </a:r>
            <a:r>
              <a:rPr dirty="0" sz="1500" spc="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500" spc="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without</a:t>
            </a:r>
            <a:r>
              <a:rPr dirty="0" sz="1500" spc="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changing</a:t>
            </a:r>
            <a:r>
              <a:rPr dirty="0" sz="1500" spc="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looks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Un-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normalized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comparison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therefore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breaks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keyword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hits,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deduplication</a:t>
            </a:r>
            <a:r>
              <a:rPr dirty="0" sz="1500" spc="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string</a:t>
            </a:r>
            <a:r>
              <a:rPr dirty="0" sz="1500" spc="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hashes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endParaRPr sz="1500">
              <a:latin typeface="Cambria"/>
              <a:cs typeface="Cambria"/>
            </a:endParaRPr>
          </a:p>
          <a:p>
            <a:pPr marL="372110" marR="6985" indent="-360045">
              <a:lnSpc>
                <a:spcPct val="100000"/>
              </a:lnSpc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-10" b="1">
                <a:solidFill>
                  <a:srgbClr val="FFDD41"/>
                </a:solidFill>
                <a:latin typeface="Cambria"/>
                <a:cs typeface="Cambria"/>
              </a:rPr>
              <a:t>Forensic</a:t>
            </a:r>
            <a:r>
              <a:rPr dirty="0" sz="1500" spc="250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DD41"/>
                </a:solidFill>
                <a:latin typeface="Cambria"/>
                <a:cs typeface="Cambria"/>
              </a:rPr>
              <a:t>angle:</a:t>
            </a:r>
            <a:r>
              <a:rPr dirty="0" sz="1500" spc="250" b="1">
                <a:solidFill>
                  <a:srgbClr val="FFDD41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normalize</a:t>
            </a:r>
            <a:r>
              <a:rPr dirty="0" sz="1500" spc="25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before</a:t>
            </a:r>
            <a:r>
              <a:rPr dirty="0" sz="1500" spc="25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comparing</a:t>
            </a:r>
            <a:r>
              <a:rPr dirty="0" sz="1500" spc="2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names</a:t>
            </a:r>
            <a:r>
              <a:rPr dirty="0" sz="1500" spc="2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2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hashing</a:t>
            </a:r>
            <a:r>
              <a:rPr dirty="0" sz="1500" spc="2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strings,</a:t>
            </a:r>
            <a:r>
              <a:rPr dirty="0" sz="1500" spc="2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2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state</a:t>
            </a:r>
            <a:r>
              <a:rPr dirty="0" sz="1500" spc="2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25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form</a:t>
            </a:r>
            <a:r>
              <a:rPr dirty="0" sz="1500" spc="2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(NFC</a:t>
            </a:r>
            <a:r>
              <a:rPr dirty="0" sz="1500" spc="2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2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NFD)</a:t>
            </a:r>
            <a:r>
              <a:rPr dirty="0" sz="1500" spc="2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25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your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report.</a:t>
            </a:r>
            <a:endParaRPr sz="1500">
              <a:latin typeface="Cambria"/>
              <a:cs typeface="Cambria"/>
            </a:endParaRPr>
          </a:p>
        </p:txBody>
      </p:sp>
      <p:pic>
        <p:nvPicPr>
          <p:cNvPr id="5" name="object 5" descr="smile-cyan-diamon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3421" y="5759999"/>
            <a:ext cx="721264" cy="919997"/>
          </a:xfrm>
          <a:prstGeom prst="rect">
            <a:avLst/>
          </a:prstGeom>
        </p:spPr>
      </p:pic>
      <p:pic>
        <p:nvPicPr>
          <p:cNvPr id="6" name="object 6" descr="wow-sand-tri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89688" y="5759999"/>
            <a:ext cx="743470" cy="919997"/>
          </a:xfrm>
          <a:prstGeom prst="rect">
            <a:avLst/>
          </a:prstGeom>
        </p:spPr>
      </p:pic>
      <p:pic>
        <p:nvPicPr>
          <p:cNvPr id="7" name="object 7" descr="smile-yellow-trap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28168" y="5759999"/>
            <a:ext cx="790105" cy="91999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17:40:26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This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slide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explains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class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of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false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negatives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nobody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suspects. </a:t>
            </a:r>
            <a:r>
              <a:rPr dirty="0" sz="1000">
                <a:latin typeface="Microsoft Sans Serif"/>
                <a:cs typeface="Microsoft Sans Serif"/>
              </a:rPr>
              <a:t>Two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sequences,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glyph: </a:t>
            </a:r>
            <a:r>
              <a:rPr dirty="0" sz="1000">
                <a:latin typeface="Microsoft Sans Serif"/>
                <a:cs typeface="Microsoft Sans Serif"/>
              </a:rPr>
              <a:t>e-acute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precomposed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versus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e </a:t>
            </a:r>
            <a:r>
              <a:rPr dirty="0" sz="1000">
                <a:latin typeface="Microsoft Sans Serif"/>
                <a:cs typeface="Microsoft Sans Serif"/>
              </a:rPr>
              <a:t>plus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combining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acute.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keyword </a:t>
            </a:r>
            <a:r>
              <a:rPr dirty="0" sz="1000">
                <a:latin typeface="Microsoft Sans Serif"/>
                <a:cs typeface="Microsoft Sans Serif"/>
              </a:rPr>
              <a:t>search,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file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name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comparison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string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hash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all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operate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on </a:t>
            </a:r>
            <a:r>
              <a:rPr dirty="0" sz="1000">
                <a:latin typeface="Microsoft Sans Serif"/>
                <a:cs typeface="Microsoft Sans Serif"/>
              </a:rPr>
              <a:t>bytes,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so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NFC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NFD </a:t>
            </a:r>
            <a:r>
              <a:rPr dirty="0" sz="1000">
                <a:latin typeface="Microsoft Sans Serif"/>
                <a:cs typeface="Microsoft Sans Serif"/>
              </a:rPr>
              <a:t>versions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of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word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simply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miss </a:t>
            </a:r>
            <a:r>
              <a:rPr dirty="0" sz="1000">
                <a:latin typeface="Microsoft Sans Serif"/>
                <a:cs typeface="Microsoft Sans Serif"/>
              </a:rPr>
              <a:t>each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other.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macOS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historically </a:t>
            </a:r>
            <a:r>
              <a:rPr dirty="0" sz="1000">
                <a:latin typeface="Microsoft Sans Serif"/>
                <a:cs typeface="Microsoft Sans Serif"/>
              </a:rPr>
              <a:t>writes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decomposed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names; </a:t>
            </a:r>
            <a:r>
              <a:rPr dirty="0" sz="1000">
                <a:latin typeface="Microsoft Sans Serif"/>
                <a:cs typeface="Microsoft Sans Serif"/>
              </a:rPr>
              <a:t>Windows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stores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what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given.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discipline: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normalize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both </a:t>
            </a:r>
            <a:r>
              <a:rPr dirty="0" sz="1000">
                <a:latin typeface="Microsoft Sans Serif"/>
                <a:cs typeface="Microsoft Sans Serif"/>
              </a:rPr>
              <a:t>sides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before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comparing,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and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write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chosen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form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into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report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so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comparison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 </a:t>
            </a:r>
            <a:r>
              <a:rPr dirty="0" sz="1000" spc="-10">
                <a:latin typeface="Microsoft Sans Serif"/>
                <a:cs typeface="Microsoft Sans Serif"/>
              </a:rPr>
              <a:t>reproducible.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r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999" y="899999"/>
            <a:ext cx="9059999" cy="4719991"/>
          </a:xfrm>
          <a:prstGeom prst="rect">
            <a:avLst/>
          </a:prstGeom>
        </p:spPr>
      </p:pic>
      <p:pic>
        <p:nvPicPr>
          <p:cNvPr id="3" name="object 3" descr="talk-coral-trap-L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59999" y="3560000"/>
            <a:ext cx="2335988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38739" y="1424063"/>
            <a:ext cx="5854065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25">
                <a:solidFill>
                  <a:srgbClr val="FFDD41"/>
                </a:solidFill>
              </a:rPr>
              <a:t>Character</a:t>
            </a:r>
            <a:r>
              <a:rPr dirty="0" sz="2500" spc="25">
                <a:solidFill>
                  <a:srgbClr val="FFDD41"/>
                </a:solidFill>
              </a:rPr>
              <a:t> </a:t>
            </a:r>
            <a:r>
              <a:rPr dirty="0" sz="2500">
                <a:solidFill>
                  <a:srgbClr val="FFDD41"/>
                </a:solidFill>
              </a:rPr>
              <a:t>Encoding:</a:t>
            </a:r>
            <a:r>
              <a:rPr dirty="0" sz="2500" spc="10">
                <a:solidFill>
                  <a:srgbClr val="FFDD41"/>
                </a:solidFill>
              </a:rPr>
              <a:t> </a:t>
            </a:r>
            <a:r>
              <a:rPr dirty="0" sz="2500">
                <a:solidFill>
                  <a:srgbClr val="FFDD41"/>
                </a:solidFill>
              </a:rPr>
              <a:t>The</a:t>
            </a:r>
            <a:r>
              <a:rPr dirty="0" sz="2500" spc="-5">
                <a:solidFill>
                  <a:srgbClr val="FFDD41"/>
                </a:solidFill>
              </a:rPr>
              <a:t> </a:t>
            </a:r>
            <a:r>
              <a:rPr dirty="0" sz="2500" spc="-30">
                <a:solidFill>
                  <a:srgbClr val="FFDD41"/>
                </a:solidFill>
              </a:rPr>
              <a:t>Forensic</a:t>
            </a:r>
            <a:r>
              <a:rPr dirty="0" sz="2500" spc="15">
                <a:solidFill>
                  <a:srgbClr val="FFDD41"/>
                </a:solidFill>
              </a:rPr>
              <a:t> </a:t>
            </a:r>
            <a:r>
              <a:rPr dirty="0" sz="2500" spc="50">
                <a:solidFill>
                  <a:srgbClr val="FFDD41"/>
                </a:solidFill>
              </a:rPr>
              <a:t>Angle</a:t>
            </a:r>
            <a:endParaRPr sz="2500"/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8843" y="2149303"/>
            <a:ext cx="7073265" cy="2616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 marR="5080" indent="-360045">
              <a:lnSpc>
                <a:spcPct val="100000"/>
              </a:lnSpc>
              <a:spcBef>
                <a:spcPts val="1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3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keyword</a:t>
            </a:r>
            <a:r>
              <a:rPr dirty="0" sz="1500" spc="3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search</a:t>
            </a:r>
            <a:r>
              <a:rPr dirty="0" sz="1500" spc="3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dirty="0" sz="1500" spc="3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only</a:t>
            </a:r>
            <a:r>
              <a:rPr dirty="0" sz="1500" spc="3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tries</a:t>
            </a:r>
            <a:r>
              <a:rPr dirty="0" sz="1500" spc="3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ASCII</a:t>
            </a:r>
            <a:r>
              <a:rPr dirty="0" sz="1500" spc="3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dirty="0" sz="1500" spc="3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UTF-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dirty="0" sz="1500" spc="3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misses</a:t>
            </a:r>
            <a:r>
              <a:rPr dirty="0" sz="1500" spc="3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UTF-16LE</a:t>
            </a:r>
            <a:r>
              <a:rPr dirty="0" sz="1500" spc="3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hits</a:t>
            </a:r>
            <a:r>
              <a:rPr dirty="0" sz="1500" spc="3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in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registry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hives,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$MFT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names,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lnk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files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memory: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search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both.</a:t>
            </a:r>
            <a:endParaRPr sz="1500">
              <a:latin typeface="Cambria"/>
              <a:cs typeface="Cambria"/>
            </a:endParaRPr>
          </a:p>
          <a:p>
            <a:pPr marL="372110" marR="5080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4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classic</a:t>
            </a:r>
            <a:r>
              <a:rPr dirty="0" sz="1500" spc="4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strings</a:t>
            </a:r>
            <a:r>
              <a:rPr dirty="0" sz="1500" spc="40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utility</a:t>
            </a:r>
            <a:r>
              <a:rPr dirty="0" sz="1500" spc="40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needs</a:t>
            </a:r>
            <a:r>
              <a:rPr dirty="0" sz="1500" spc="40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e</a:t>
            </a:r>
            <a:r>
              <a:rPr dirty="0" sz="1500" spc="4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l</a:t>
            </a:r>
            <a:r>
              <a:rPr dirty="0" sz="1500" spc="41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4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surface</a:t>
            </a:r>
            <a:r>
              <a:rPr dirty="0" sz="1500" spc="40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UTF-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16LE</a:t>
            </a:r>
            <a:r>
              <a:rPr dirty="0" sz="1500" spc="4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dirty="0" sz="1500" spc="40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('strings</a:t>
            </a:r>
            <a:r>
              <a:rPr dirty="0" sz="1500" spc="4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</a:t>
            </a:r>
            <a:r>
              <a:rPr dirty="0" sz="1500" spc="40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Cambria"/>
                <a:cs typeface="Cambria"/>
              </a:rPr>
              <a:t>l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memory.dmp').</a:t>
            </a:r>
            <a:endParaRPr sz="1500">
              <a:latin typeface="Cambria"/>
              <a:cs typeface="Cambria"/>
            </a:endParaRPr>
          </a:p>
          <a:p>
            <a:pPr marL="372110" marR="6350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Chat</a:t>
            </a:r>
            <a:r>
              <a:rPr dirty="0" sz="1500" spc="16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15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browser</a:t>
            </a:r>
            <a:r>
              <a:rPr dirty="0" sz="1500" spc="16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databases</a:t>
            </a:r>
            <a:r>
              <a:rPr dirty="0" sz="1500" spc="16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(WhatsApp,</a:t>
            </a:r>
            <a:r>
              <a:rPr dirty="0" sz="1500" spc="16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Telegram,</a:t>
            </a:r>
            <a:r>
              <a:rPr dirty="0" sz="1500" spc="16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Chrome)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15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spc="40" b="1">
                <a:solidFill>
                  <a:srgbClr val="FFFFFF"/>
                </a:solidFill>
                <a:latin typeface="Cambria"/>
                <a:cs typeface="Cambria"/>
              </a:rPr>
              <a:t>SQLite,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usually</a:t>
            </a:r>
            <a:r>
              <a:rPr dirty="0" sz="1500" spc="1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UTF-8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emoji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included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as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multi-byte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sequences.</a:t>
            </a:r>
            <a:endParaRPr sz="1500">
              <a:latin typeface="Cambria"/>
              <a:cs typeface="Cambria"/>
            </a:endParaRPr>
          </a:p>
          <a:p>
            <a:pPr marL="372110" marR="7620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File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names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1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00" b="1">
                <a:solidFill>
                  <a:srgbClr val="FFFFFF"/>
                </a:solidFill>
                <a:latin typeface="Cambria"/>
                <a:cs typeface="Cambria"/>
              </a:rPr>
              <a:t>NTFS</a:t>
            </a:r>
            <a:r>
              <a:rPr dirty="0" sz="1500" spc="1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0" b="1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1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UTF-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16LE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;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same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name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carved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from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FAT</a:t>
            </a:r>
            <a:r>
              <a:rPr dirty="0" sz="15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volume 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may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be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8.3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ASCII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plus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UTF-</a:t>
            </a:r>
            <a:r>
              <a:rPr dirty="0" sz="1500" spc="-5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long-name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entry.</a:t>
            </a:r>
            <a:endParaRPr sz="1500">
              <a:latin typeface="Cambria"/>
              <a:cs typeface="Cambria"/>
            </a:endParaRPr>
          </a:p>
          <a:p>
            <a:pPr marL="372110" marR="5715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When</a:t>
            </a:r>
            <a:r>
              <a:rPr dirty="0" sz="1500" spc="3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dirty="0" sz="1500" spc="3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looks</a:t>
            </a:r>
            <a:r>
              <a:rPr dirty="0" sz="1500" spc="3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like</a:t>
            </a:r>
            <a:r>
              <a:rPr dirty="0" sz="1500" spc="3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garbage,</a:t>
            </a:r>
            <a:r>
              <a:rPr dirty="0" sz="1500" spc="2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suspect</a:t>
            </a:r>
            <a:r>
              <a:rPr dirty="0" sz="1500" spc="3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3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decoder,</a:t>
            </a:r>
            <a:r>
              <a:rPr dirty="0" sz="1500" spc="3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not</a:t>
            </a:r>
            <a:r>
              <a:rPr dirty="0" sz="1500" spc="3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3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data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500" spc="2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retry</a:t>
            </a:r>
            <a:r>
              <a:rPr dirty="0" sz="1500" spc="3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with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another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encoding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page.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17:40:26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Live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demo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idea: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run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strings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and </a:t>
            </a:r>
            <a:r>
              <a:rPr dirty="0" sz="1000">
                <a:latin typeface="Microsoft Sans Serif"/>
                <a:cs typeface="Microsoft Sans Serif"/>
              </a:rPr>
              <a:t>strings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-e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small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registry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hive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compare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hit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counts.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r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999" y="899999"/>
            <a:ext cx="9059999" cy="4719991"/>
          </a:xfrm>
          <a:prstGeom prst="rect">
            <a:avLst/>
          </a:prstGeom>
        </p:spPr>
      </p:pic>
      <p:pic>
        <p:nvPicPr>
          <p:cNvPr id="3" name="object 3" descr="talk-coral-trap-L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59999" y="3560000"/>
            <a:ext cx="2335988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38739" y="1424063"/>
            <a:ext cx="5658485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10"/>
              <a:t>unicode.org:</a:t>
            </a:r>
            <a:r>
              <a:rPr dirty="0" sz="2500" spc="-30"/>
              <a:t> </a:t>
            </a:r>
            <a:r>
              <a:rPr dirty="0" sz="2500"/>
              <a:t>The</a:t>
            </a:r>
            <a:r>
              <a:rPr dirty="0" sz="2500" spc="-40"/>
              <a:t> </a:t>
            </a:r>
            <a:r>
              <a:rPr dirty="0" sz="2500" spc="-30"/>
              <a:t>Examiner's</a:t>
            </a:r>
            <a:r>
              <a:rPr dirty="0" sz="2500" spc="-10"/>
              <a:t> Reference</a:t>
            </a:r>
            <a:endParaRPr sz="2500"/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8843" y="2149303"/>
            <a:ext cx="7073900" cy="2311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 marR="5715" indent="-360045">
              <a:lnSpc>
                <a:spcPct val="100000"/>
              </a:lnSpc>
              <a:spcBef>
                <a:spcPts val="1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dirty="0" sz="1500" spc="90" b="1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charts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PDF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chart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block,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fastest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way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identify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an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unfamiliar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glyph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name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document.</a:t>
            </a:r>
            <a:endParaRPr sz="1500">
              <a:latin typeface="Cambria"/>
              <a:cs typeface="Cambria"/>
            </a:endParaRPr>
          </a:p>
          <a:p>
            <a:pPr marL="372110" marR="7620" indent="-360045">
              <a:lnSpc>
                <a:spcPct val="100000"/>
              </a:lnSpc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Unicode</a:t>
            </a:r>
            <a:r>
              <a:rPr dirty="0" sz="1500" spc="1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Character</a:t>
            </a:r>
            <a:r>
              <a:rPr dirty="0" sz="1500" spc="1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Database</a:t>
            </a:r>
            <a:r>
              <a:rPr dirty="0" sz="1500" spc="1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records</a:t>
            </a:r>
            <a:r>
              <a:rPr dirty="0" sz="1500" spc="1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character's</a:t>
            </a:r>
            <a:r>
              <a:rPr dirty="0" sz="1500" spc="1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properties: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script,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category,</a:t>
            </a:r>
            <a:r>
              <a:rPr dirty="0" sz="1500" spc="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numeric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value,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bidirectional</a:t>
            </a:r>
            <a:r>
              <a:rPr dirty="0" sz="1500" spc="1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class.</a:t>
            </a:r>
            <a:endParaRPr sz="1500">
              <a:latin typeface="Cambria"/>
              <a:cs typeface="Cambria"/>
            </a:endParaRPr>
          </a:p>
          <a:p>
            <a:pPr marL="372110" marR="7620" indent="-360045">
              <a:lnSpc>
                <a:spcPct val="100000"/>
              </a:lnSpc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Where</a:t>
            </a:r>
            <a:r>
              <a:rPr dirty="0" sz="1500" spc="1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9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my</a:t>
            </a:r>
            <a:r>
              <a:rPr dirty="0" sz="1500" spc="1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Character?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glossary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UTF-8/UTF-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50">
                <a:solidFill>
                  <a:srgbClr val="FFFFFF"/>
                </a:solidFill>
                <a:latin typeface="Cambria"/>
                <a:cs typeface="Cambria"/>
              </a:rPr>
              <a:t>FAQ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answer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the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practical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questions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this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session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raised.</a:t>
            </a:r>
            <a:endParaRPr sz="1500">
              <a:latin typeface="Cambria"/>
              <a:cs typeface="Cambria"/>
            </a:endParaRPr>
          </a:p>
          <a:p>
            <a:pPr marL="372110" marR="5080" indent="-360045">
              <a:lnSpc>
                <a:spcPct val="100000"/>
              </a:lnSpc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105" b="1">
                <a:solidFill>
                  <a:srgbClr val="FFFFFF"/>
                </a:solidFill>
                <a:latin typeface="Cambria"/>
                <a:cs typeface="Cambria"/>
              </a:rPr>
              <a:t>UTS</a:t>
            </a:r>
            <a:r>
              <a:rPr dirty="0" sz="1500" spc="12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0" b="1">
                <a:solidFill>
                  <a:srgbClr val="FFFFFF"/>
                </a:solidFill>
                <a:latin typeface="Cambria"/>
                <a:cs typeface="Cambria"/>
              </a:rPr>
              <a:t>#39,</a:t>
            </a:r>
            <a:r>
              <a:rPr dirty="0" sz="1500" spc="1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Unicode</a:t>
            </a:r>
            <a:r>
              <a:rPr dirty="0" sz="1500" spc="1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Security</a:t>
            </a:r>
            <a:r>
              <a:rPr dirty="0" sz="1500" spc="1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Mechanisms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catalogues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confusable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characters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behind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lookalike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names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next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slide.</a:t>
            </a:r>
            <a:endParaRPr sz="1500">
              <a:latin typeface="Cambria"/>
              <a:cs typeface="Cambria"/>
            </a:endParaRPr>
          </a:p>
          <a:p>
            <a:pPr marL="372110" marR="5715" indent="-360045">
              <a:lnSpc>
                <a:spcPct val="100000"/>
              </a:lnSpc>
              <a:tabLst>
                <a:tab pos="372110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Findings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rest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character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property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should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cite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1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Cambria"/>
                <a:cs typeface="Cambria"/>
              </a:rPr>
              <a:t>exact</a:t>
            </a:r>
            <a:r>
              <a:rPr dirty="0" sz="1500" spc="12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version,</a:t>
            </a:r>
            <a:r>
              <a:rPr dirty="0" sz="1500" spc="11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0" b="1">
                <a:solidFill>
                  <a:srgbClr val="FFFFFF"/>
                </a:solidFill>
                <a:latin typeface="Cambria"/>
                <a:cs typeface="Cambria"/>
              </a:rPr>
              <a:t>17.0.0</a:t>
            </a:r>
            <a:r>
              <a:rPr dirty="0" sz="1500" spc="-30">
                <a:solidFill>
                  <a:srgbClr val="FFFFFF"/>
                </a:solidFill>
                <a:latin typeface="Cambria"/>
                <a:cs typeface="Cambria"/>
              </a:rPr>
              <a:t>;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archived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versions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keep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those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citations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checkable.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17:40:28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Close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loop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where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authority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lives.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When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an </a:t>
            </a:r>
            <a:r>
              <a:rPr dirty="0" sz="1000">
                <a:latin typeface="Microsoft Sans Serif"/>
                <a:cs typeface="Microsoft Sans Serif"/>
              </a:rPr>
              <a:t>unfamiliar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glyph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appears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file </a:t>
            </a:r>
            <a:r>
              <a:rPr dirty="0" sz="1000">
                <a:latin typeface="Microsoft Sans Serif"/>
                <a:cs typeface="Microsoft Sans Serif"/>
              </a:rPr>
              <a:t>name,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code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charts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identify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it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minute.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When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lookalike </a:t>
            </a:r>
            <a:r>
              <a:rPr dirty="0" sz="1000">
                <a:latin typeface="Microsoft Sans Serif"/>
                <a:cs typeface="Microsoft Sans Serif"/>
              </a:rPr>
              <a:t>attack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suspected,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UTS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#39's </a:t>
            </a:r>
            <a:r>
              <a:rPr dirty="0" sz="1000">
                <a:latin typeface="Microsoft Sans Serif"/>
                <a:cs typeface="Microsoft Sans Serif"/>
              </a:rPr>
              <a:t>confusables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data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citable </a:t>
            </a:r>
            <a:r>
              <a:rPr dirty="0" sz="1000">
                <a:latin typeface="Microsoft Sans Serif"/>
                <a:cs typeface="Microsoft Sans Serif"/>
              </a:rPr>
              <a:t>source,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'it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looked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similar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35">
                <a:latin typeface="Microsoft Sans Serif"/>
                <a:cs typeface="Microsoft Sans Serif"/>
              </a:rPr>
              <a:t>to </a:t>
            </a:r>
            <a:r>
              <a:rPr dirty="0" sz="1000">
                <a:latin typeface="Microsoft Sans Serif"/>
                <a:cs typeface="Microsoft Sans Serif"/>
              </a:rPr>
              <a:t>me'.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when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finding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depends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character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property,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cite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version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of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standard,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because </a:t>
            </a:r>
            <a:r>
              <a:rPr dirty="0" sz="1000">
                <a:latin typeface="Microsoft Sans Serif"/>
                <a:cs typeface="Microsoft Sans Serif"/>
              </a:rPr>
              <a:t>properties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can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refined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between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versions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even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though </a:t>
            </a:r>
            <a:r>
              <a:rPr dirty="0" sz="1000">
                <a:latin typeface="Microsoft Sans Serif"/>
                <a:cs typeface="Microsoft Sans Serif"/>
              </a:rPr>
              <a:t>code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points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never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move.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When</a:t>
            </a:r>
            <a:r>
              <a:rPr dirty="0" spc="175"/>
              <a:t> </a:t>
            </a:r>
            <a:r>
              <a:rPr dirty="0"/>
              <a:t>Two</a:t>
            </a:r>
            <a:r>
              <a:rPr dirty="0" spc="190"/>
              <a:t> </a:t>
            </a:r>
            <a:r>
              <a:rPr dirty="0"/>
              <a:t>Names</a:t>
            </a:r>
            <a:r>
              <a:rPr dirty="0" spc="155"/>
              <a:t> </a:t>
            </a:r>
            <a:r>
              <a:rPr dirty="0"/>
              <a:t>Look</a:t>
            </a:r>
            <a:r>
              <a:rPr dirty="0" spc="185"/>
              <a:t> </a:t>
            </a:r>
            <a:r>
              <a:rPr dirty="0" spc="-10"/>
              <a:t>Identical</a:t>
            </a:r>
          </a:p>
        </p:txBody>
      </p:sp>
      <p:pic>
        <p:nvPicPr>
          <p:cNvPr id="3" name="object 3" descr="u1_unicode_risk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828" y="1240002"/>
            <a:ext cx="10310037" cy="44439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12444" y="5768716"/>
            <a:ext cx="51676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80">
                <a:solidFill>
                  <a:srgbClr val="B89E87"/>
                </a:solidFill>
                <a:latin typeface="Cambria"/>
                <a:cs typeface="Cambria"/>
              </a:rPr>
              <a:t>A</a:t>
            </a:r>
            <a:r>
              <a:rPr dirty="0" sz="1200" spc="13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Cyrillic</a:t>
            </a:r>
            <a:r>
              <a:rPr dirty="0" sz="1200" spc="13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lookalike,</a:t>
            </a:r>
            <a:r>
              <a:rPr dirty="0" sz="1200" spc="8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a</a:t>
            </a:r>
            <a:r>
              <a:rPr dirty="0" sz="1200" spc="13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right-</a:t>
            </a:r>
            <a:r>
              <a:rPr dirty="0" sz="1200" spc="-10">
                <a:solidFill>
                  <a:srgbClr val="B89E87"/>
                </a:solidFill>
                <a:latin typeface="Cambria"/>
                <a:cs typeface="Cambria"/>
              </a:rPr>
              <a:t>to-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left</a:t>
            </a:r>
            <a:r>
              <a:rPr dirty="0" sz="1200" spc="114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override,</a:t>
            </a:r>
            <a:r>
              <a:rPr dirty="0" sz="1200" spc="10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and</a:t>
            </a:r>
            <a:r>
              <a:rPr dirty="0" sz="1200" spc="15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two</a:t>
            </a:r>
            <a:r>
              <a:rPr dirty="0" sz="1200" spc="11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encodings</a:t>
            </a:r>
            <a:r>
              <a:rPr dirty="0" sz="1200" spc="17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of</a:t>
            </a:r>
            <a:r>
              <a:rPr dirty="0" sz="1200" spc="114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B89E87"/>
                </a:solidFill>
                <a:latin typeface="Cambria"/>
                <a:cs typeface="Cambria"/>
              </a:rPr>
              <a:t>one</a:t>
            </a:r>
            <a:r>
              <a:rPr dirty="0" sz="1200" spc="12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200" spc="-10">
                <a:solidFill>
                  <a:srgbClr val="B89E87"/>
                </a:solidFill>
                <a:latin typeface="Cambria"/>
                <a:cs typeface="Cambria"/>
              </a:rPr>
              <a:t>word.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17:40:28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All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three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rows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are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live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attacker </a:t>
            </a:r>
            <a:r>
              <a:rPr dirty="0" sz="1000">
                <a:latin typeface="Microsoft Sans Serif"/>
                <a:cs typeface="Microsoft Sans Serif"/>
              </a:rPr>
              <a:t>techniques.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middle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nastiest: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U+202E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reverses </a:t>
            </a:r>
            <a:r>
              <a:rPr dirty="0" sz="1000">
                <a:latin typeface="Microsoft Sans Serif"/>
                <a:cs typeface="Microsoft Sans Serif"/>
              </a:rPr>
              <a:t>everything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after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it,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so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file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really </a:t>
            </a:r>
            <a:r>
              <a:rPr dirty="0" sz="1000">
                <a:latin typeface="Microsoft Sans Serif"/>
                <a:cs typeface="Microsoft Sans Serif"/>
              </a:rPr>
              <a:t>named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report&lt;U+202E&gt;fdp.exe </a:t>
            </a:r>
            <a:r>
              <a:rPr dirty="0" sz="1000">
                <a:latin typeface="Microsoft Sans Serif"/>
                <a:cs typeface="Microsoft Sans Serif"/>
              </a:rPr>
              <a:t>shows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Explorer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as </a:t>
            </a:r>
            <a:r>
              <a:rPr dirty="0" sz="1000">
                <a:latin typeface="Microsoft Sans Serif"/>
                <a:cs typeface="Microsoft Sans Serif"/>
              </a:rPr>
              <a:t>reportexe.pdf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while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Windows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still </a:t>
            </a:r>
            <a:r>
              <a:rPr dirty="0" sz="1000">
                <a:latin typeface="Microsoft Sans Serif"/>
                <a:cs typeface="Microsoft Sans Serif"/>
              </a:rPr>
              <a:t>runs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as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executable.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third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row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subtle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one: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cafe </a:t>
            </a:r>
            <a:r>
              <a:rPr dirty="0" sz="1000">
                <a:latin typeface="Microsoft Sans Serif"/>
                <a:cs typeface="Microsoft Sans Serif"/>
              </a:rPr>
              <a:t>with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acute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accent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C3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A9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in </a:t>
            </a:r>
            <a:r>
              <a:rPr dirty="0" sz="1000">
                <a:latin typeface="Microsoft Sans Serif"/>
                <a:cs typeface="Microsoft Sans Serif"/>
              </a:rPr>
              <a:t>NFC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but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65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CC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81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NFD,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so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two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identical-looking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filenames </a:t>
            </a:r>
            <a:r>
              <a:rPr dirty="0" sz="1000">
                <a:latin typeface="Microsoft Sans Serif"/>
                <a:cs typeface="Microsoft Sans Serif"/>
              </a:rPr>
              <a:t>differ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bytes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hash.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Bottom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line: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hash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bytes,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never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name. 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NFC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vs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NFD: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these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are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two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Unicode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normalization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forms,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both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are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legal </a:t>
            </a:r>
            <a:r>
              <a:rPr dirty="0" sz="1000">
                <a:latin typeface="Microsoft Sans Serif"/>
                <a:cs typeface="Microsoft Sans Serif"/>
              </a:rPr>
              <a:t>encodings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of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same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visible </a:t>
            </a:r>
            <a:r>
              <a:rPr dirty="0" sz="1000">
                <a:latin typeface="Microsoft Sans Serif"/>
                <a:cs typeface="Microsoft Sans Serif"/>
              </a:rPr>
              <a:t>text.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NFC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composed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—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é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 </a:t>
            </a:r>
            <a:r>
              <a:rPr dirty="0" sz="1000">
                <a:latin typeface="Microsoft Sans Serif"/>
                <a:cs typeface="Microsoft Sans Serif"/>
              </a:rPr>
              <a:t>stored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as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one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code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point, </a:t>
            </a:r>
            <a:r>
              <a:rPr dirty="0" sz="1000">
                <a:latin typeface="Microsoft Sans Serif"/>
                <a:cs typeface="Microsoft Sans Serif"/>
              </a:rPr>
              <a:t>U+00E9, which is C3 A9 in </a:t>
            </a:r>
            <a:r>
              <a:rPr dirty="0" sz="1000" spc="-20">
                <a:latin typeface="Microsoft Sans Serif"/>
                <a:cs typeface="Microsoft Sans Serif"/>
              </a:rPr>
              <a:t>UTF-</a:t>
            </a:r>
            <a:r>
              <a:rPr dirty="0" sz="1000">
                <a:latin typeface="Microsoft Sans Serif"/>
                <a:cs typeface="Microsoft Sans Serif"/>
              </a:rPr>
              <a:t>8.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NFD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decomposed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—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same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character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base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letter </a:t>
            </a:r>
            <a:r>
              <a:rPr dirty="0" sz="1000">
                <a:latin typeface="Microsoft Sans Serif"/>
                <a:cs typeface="Microsoft Sans Serif"/>
              </a:rPr>
              <a:t>plus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combining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mark,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e </a:t>
            </a:r>
            <a:r>
              <a:rPr dirty="0" sz="1000">
                <a:latin typeface="Microsoft Sans Serif"/>
                <a:cs typeface="Microsoft Sans Serif"/>
              </a:rPr>
              <a:t>(U+0065)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plus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combining</a:t>
            </a:r>
            <a:r>
              <a:rPr dirty="0" sz="1000" spc="7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acute </a:t>
            </a:r>
            <a:r>
              <a:rPr dirty="0" sz="1000">
                <a:latin typeface="Microsoft Sans Serif"/>
                <a:cs typeface="Microsoft Sans Serif"/>
              </a:rPr>
              <a:t>(U+0301),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which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65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CC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81. </a:t>
            </a:r>
            <a:r>
              <a:rPr dirty="0" sz="1000">
                <a:latin typeface="Microsoft Sans Serif"/>
                <a:cs typeface="Microsoft Sans Serif"/>
              </a:rPr>
              <a:t>Same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glyph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screen,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different </a:t>
            </a:r>
            <a:r>
              <a:rPr dirty="0" sz="1000">
                <a:latin typeface="Microsoft Sans Serif"/>
                <a:cs typeface="Microsoft Sans Serif"/>
              </a:rPr>
              <a:t>bytes,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different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hash,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failed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byte-for-byte</a:t>
            </a:r>
            <a:r>
              <a:rPr dirty="0" sz="1000" spc="8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string </a:t>
            </a:r>
            <a:r>
              <a:rPr dirty="0" sz="1000">
                <a:latin typeface="Microsoft Sans Serif"/>
                <a:cs typeface="Microsoft Sans Serif"/>
              </a:rPr>
              <a:t>comparison.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Why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this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bites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in </a:t>
            </a:r>
            <a:r>
              <a:rPr dirty="0" sz="1000">
                <a:latin typeface="Microsoft Sans Serif"/>
                <a:cs typeface="Microsoft Sans Serif"/>
              </a:rPr>
              <a:t>practice:</a:t>
            </a:r>
            <a:r>
              <a:rPr dirty="0" sz="1000" spc="8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platforms</a:t>
            </a:r>
            <a:r>
              <a:rPr dirty="0" sz="1000" spc="8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disagree. </a:t>
            </a:r>
            <a:r>
              <a:rPr dirty="0" sz="1000">
                <a:latin typeface="Microsoft Sans Serif"/>
                <a:cs typeface="Microsoft Sans Serif"/>
              </a:rPr>
              <a:t>macOS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has</a:t>
            </a:r>
            <a:r>
              <a:rPr dirty="0" sz="1000" spc="7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historically</a:t>
            </a:r>
            <a:r>
              <a:rPr dirty="0" sz="1000" spc="7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stored </a:t>
            </a:r>
            <a:r>
              <a:rPr dirty="0" sz="1000">
                <a:latin typeface="Microsoft Sans Serif"/>
                <a:cs typeface="Microsoft Sans Serif"/>
              </a:rPr>
              <a:t>filenames</a:t>
            </a:r>
            <a:r>
              <a:rPr dirty="0" sz="1000" spc="10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decomposed,</a:t>
            </a:r>
            <a:r>
              <a:rPr dirty="0" sz="1000" spc="11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while </a:t>
            </a:r>
            <a:r>
              <a:rPr dirty="0" sz="1000">
                <a:latin typeface="Microsoft Sans Serif"/>
                <a:cs typeface="Microsoft Sans Serif"/>
              </a:rPr>
              <a:t>Windows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Linux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typically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pass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composed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input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straight </a:t>
            </a:r>
            <a:r>
              <a:rPr dirty="0" sz="1000">
                <a:latin typeface="Microsoft Sans Serif"/>
                <a:cs typeface="Microsoft Sans Serif"/>
              </a:rPr>
              <a:t>through.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So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same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file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copied </a:t>
            </a:r>
            <a:r>
              <a:rPr dirty="0" sz="1000">
                <a:latin typeface="Microsoft Sans Serif"/>
                <a:cs typeface="Microsoft Sans Serif"/>
              </a:rPr>
              <a:t>across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systems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can</a:t>
            </a:r>
            <a:r>
              <a:rPr dirty="0" sz="1000" spc="6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change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its </a:t>
            </a:r>
            <a:r>
              <a:rPr dirty="0" sz="1000">
                <a:latin typeface="Microsoft Sans Serif"/>
                <a:cs typeface="Microsoft Sans Serif"/>
              </a:rPr>
              <a:t>bytes</a:t>
            </a:r>
            <a:r>
              <a:rPr dirty="0" sz="1000" spc="6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without</a:t>
            </a:r>
            <a:r>
              <a:rPr dirty="0" sz="1000" spc="7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changing</a:t>
            </a:r>
            <a:r>
              <a:rPr dirty="0" sz="1000" spc="7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its </a:t>
            </a:r>
            <a:r>
              <a:rPr dirty="0" sz="1000">
                <a:latin typeface="Microsoft Sans Serif"/>
                <a:cs typeface="Microsoft Sans Serif"/>
              </a:rPr>
              <a:t>appearance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—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4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hash </a:t>
            </a:r>
            <a:r>
              <a:rPr dirty="0" sz="1000">
                <a:latin typeface="Microsoft Sans Serif"/>
                <a:cs typeface="Microsoft Sans Serif"/>
              </a:rPr>
              <a:t>mismatch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two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visually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identical</a:t>
            </a:r>
            <a:r>
              <a:rPr dirty="0" sz="1000" spc="5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names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normalization</a:t>
            </a:r>
            <a:r>
              <a:rPr dirty="0" sz="1000" spc="8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question</a:t>
            </a:r>
            <a:r>
              <a:rPr dirty="0" sz="1000" spc="9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before</a:t>
            </a:r>
            <a:r>
              <a:rPr dirty="0" sz="1000" spc="9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it's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tampering</a:t>
            </a:r>
            <a:r>
              <a:rPr dirty="0" sz="1000" spc="5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question.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working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rule: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normalize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 </a:t>
            </a:r>
            <a:r>
              <a:rPr dirty="0" sz="1000">
                <a:latin typeface="Microsoft Sans Serif"/>
                <a:cs typeface="Microsoft Sans Serif"/>
              </a:rPr>
              <a:t>single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form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before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comparing, </a:t>
            </a:r>
            <a:r>
              <a:rPr dirty="0" sz="1000">
                <a:latin typeface="Microsoft Sans Serif"/>
                <a:cs typeface="Microsoft Sans Serif"/>
              </a:rPr>
              <a:t>deduplicating,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or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indexing,</a:t>
            </a:r>
            <a:r>
              <a:rPr dirty="0" sz="1000" spc="4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and </a:t>
            </a:r>
            <a:r>
              <a:rPr dirty="0" sz="1000">
                <a:latin typeface="Microsoft Sans Serif"/>
                <a:cs typeface="Microsoft Sans Serif"/>
              </a:rPr>
              <a:t>hash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byte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stream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rather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than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filename.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Seeing</a:t>
            </a:r>
            <a:r>
              <a:rPr dirty="0" spc="160"/>
              <a:t> </a:t>
            </a:r>
            <a:r>
              <a:rPr dirty="0"/>
              <a:t>It</a:t>
            </a:r>
            <a:r>
              <a:rPr dirty="0" spc="204"/>
              <a:t> </a:t>
            </a:r>
            <a:r>
              <a:rPr dirty="0" spc="-10"/>
              <a:t>Yourself</a:t>
            </a:r>
          </a:p>
        </p:txBody>
      </p:sp>
      <p:pic>
        <p:nvPicPr>
          <p:cNvPr id="3" name="object 3" descr="imag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1179999"/>
            <a:ext cx="11429996" cy="48179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48844" y="1499303"/>
            <a:ext cx="771588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110" algn="l"/>
              </a:tabLst>
            </a:pPr>
            <a:r>
              <a:rPr dirty="0" sz="160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60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600">
                <a:solidFill>
                  <a:srgbClr val="FFFFFF"/>
                </a:solidFill>
                <a:latin typeface="Cambria"/>
                <a:cs typeface="Cambria"/>
              </a:rPr>
              <a:t>Five</a:t>
            </a:r>
            <a:r>
              <a:rPr dirty="0" sz="16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00">
                <a:solidFill>
                  <a:srgbClr val="FFFFFF"/>
                </a:solidFill>
                <a:latin typeface="Cambria"/>
                <a:cs typeface="Cambria"/>
              </a:rPr>
              <a:t>commands</a:t>
            </a:r>
            <a:r>
              <a:rPr dirty="0" sz="1600" spc="1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0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dirty="0" sz="16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00">
                <a:solidFill>
                  <a:srgbClr val="FFFFFF"/>
                </a:solidFill>
                <a:latin typeface="Cambria"/>
                <a:cs typeface="Cambria"/>
              </a:rPr>
              <a:t>turn</a:t>
            </a:r>
            <a:r>
              <a:rPr dirty="0" sz="1600" spc="1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00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dirty="0" sz="16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00">
                <a:solidFill>
                  <a:srgbClr val="FFFFFF"/>
                </a:solidFill>
                <a:latin typeface="Cambria"/>
                <a:cs typeface="Cambria"/>
              </a:rPr>
              <a:t>idea</a:t>
            </a:r>
            <a:r>
              <a:rPr dirty="0" sz="16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6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00">
                <a:solidFill>
                  <a:srgbClr val="FFFFFF"/>
                </a:solidFill>
                <a:latin typeface="Cambria"/>
                <a:cs typeface="Cambria"/>
              </a:rPr>
              <a:t>this</a:t>
            </a:r>
            <a:r>
              <a:rPr dirty="0" sz="16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00">
                <a:solidFill>
                  <a:srgbClr val="FFFFFF"/>
                </a:solidFill>
                <a:latin typeface="Cambria"/>
                <a:cs typeface="Cambria"/>
              </a:rPr>
              <a:t>session</a:t>
            </a:r>
            <a:r>
              <a:rPr dirty="0" sz="16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00">
                <a:solidFill>
                  <a:srgbClr val="FFFFFF"/>
                </a:solidFill>
                <a:latin typeface="Cambria"/>
                <a:cs typeface="Cambria"/>
              </a:rPr>
              <a:t>into</a:t>
            </a:r>
            <a:r>
              <a:rPr dirty="0" sz="16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00">
                <a:solidFill>
                  <a:srgbClr val="FFFFFF"/>
                </a:solidFill>
                <a:latin typeface="Cambria"/>
                <a:cs typeface="Cambria"/>
              </a:rPr>
              <a:t>something</a:t>
            </a:r>
            <a:r>
              <a:rPr dirty="0" sz="1600" spc="1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00" spc="50">
                <a:solidFill>
                  <a:srgbClr val="FFFFFF"/>
                </a:solidFill>
                <a:latin typeface="Cambria"/>
                <a:cs typeface="Cambria"/>
              </a:rPr>
              <a:t>you</a:t>
            </a:r>
            <a:r>
              <a:rPr dirty="0" sz="16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0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dirty="0" sz="16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mbria"/>
                <a:cs typeface="Cambria"/>
              </a:rPr>
              <a:t>check: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28740" y="2250159"/>
            <a:ext cx="6749415" cy="279146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r>
              <a:rPr dirty="0" sz="12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xxd</a:t>
            </a:r>
            <a:r>
              <a:rPr dirty="0" sz="1200" spc="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l 64</a:t>
            </a:r>
            <a:r>
              <a:rPr dirty="0" sz="1200" spc="-10">
                <a:solidFill>
                  <a:srgbClr val="FFFFFF"/>
                </a:solidFill>
                <a:latin typeface="Courier New"/>
                <a:cs typeface="Courier New"/>
              </a:rPr>
              <a:t> evidence.png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00000000:</a:t>
            </a:r>
            <a:r>
              <a:rPr dirty="0" sz="12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8950</a:t>
            </a:r>
            <a:r>
              <a:rPr dirty="0" sz="12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4e47</a:t>
            </a:r>
            <a:r>
              <a:rPr dirty="0" sz="12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0d0a</a:t>
            </a:r>
            <a:r>
              <a:rPr dirty="0" sz="12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1a0a</a:t>
            </a:r>
            <a:r>
              <a:rPr dirty="0" sz="12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0000</a:t>
            </a:r>
            <a:r>
              <a:rPr dirty="0" sz="12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000d</a:t>
            </a:r>
            <a:r>
              <a:rPr dirty="0" sz="12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4948</a:t>
            </a:r>
            <a:r>
              <a:rPr dirty="0" sz="12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4452</a:t>
            </a:r>
            <a:r>
              <a:rPr dirty="0" sz="1200" spc="-20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200" spc="-10">
                <a:solidFill>
                  <a:srgbClr val="FFFFFF"/>
                </a:solidFill>
                <a:latin typeface="Courier New"/>
                <a:cs typeface="Courier New"/>
              </a:rPr>
              <a:t>.PNG........IHDR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200">
              <a:latin typeface="Courier New"/>
              <a:cs typeface="Courier New"/>
            </a:endParaRPr>
          </a:p>
          <a:p>
            <a:pPr marL="12700" marR="6350">
              <a:lnSpc>
                <a:spcPct val="108300"/>
              </a:lnSpc>
              <a:spcBef>
                <a:spcPts val="5"/>
              </a:spcBef>
              <a:tabLst>
                <a:tab pos="4156075" algn="l"/>
              </a:tabLst>
            </a:pP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r>
              <a:rPr dirty="0" sz="1200" spc="-3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printf</a:t>
            </a:r>
            <a:r>
              <a:rPr dirty="0" sz="12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'%s'</a:t>
            </a:r>
            <a:r>
              <a:rPr dirty="0" sz="12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"$(cat</a:t>
            </a:r>
            <a:r>
              <a:rPr dirty="0" sz="12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name.txt)"</a:t>
            </a:r>
            <a:r>
              <a:rPr dirty="0" sz="12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|</a:t>
            </a:r>
            <a:r>
              <a:rPr dirty="0" sz="1200" spc="-3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Courier New"/>
                <a:cs typeface="Courier New"/>
              </a:rPr>
              <a:t>xxd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	#</a:t>
            </a:r>
            <a:r>
              <a:rPr dirty="0" sz="12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what</a:t>
            </a:r>
            <a:r>
              <a:rPr dirty="0" sz="12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is</a:t>
            </a:r>
            <a:r>
              <a:rPr dirty="0" sz="12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really</a:t>
            </a:r>
            <a:r>
              <a:rPr dirty="0" sz="12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in</a:t>
            </a:r>
            <a:r>
              <a:rPr dirty="0" sz="12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dirty="0" sz="12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ourier New"/>
                <a:cs typeface="Courier New"/>
              </a:rPr>
              <a:t>name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00000000:</a:t>
            </a:r>
            <a:r>
              <a:rPr dirty="0" sz="12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7265</a:t>
            </a:r>
            <a:r>
              <a:rPr dirty="0" sz="12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706f</a:t>
            </a:r>
            <a:r>
              <a:rPr dirty="0" sz="12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7274</a:t>
            </a:r>
            <a:r>
              <a:rPr dirty="0" sz="12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e280</a:t>
            </a:r>
            <a:r>
              <a:rPr dirty="0" sz="12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ae66</a:t>
            </a:r>
            <a:r>
              <a:rPr dirty="0" sz="12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6470</a:t>
            </a:r>
            <a:r>
              <a:rPr dirty="0" sz="12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2e65</a:t>
            </a:r>
            <a:r>
              <a:rPr dirty="0" sz="12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7865</a:t>
            </a:r>
            <a:r>
              <a:rPr dirty="0" sz="1200" spc="-20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200" spc="-10">
                <a:solidFill>
                  <a:srgbClr val="FFFFFF"/>
                </a:solidFill>
                <a:latin typeface="Courier New"/>
                <a:cs typeface="Courier New"/>
              </a:rPr>
              <a:t>report...fdp.exe</a:t>
            </a:r>
            <a:endParaRPr sz="1200">
              <a:latin typeface="Courier New"/>
              <a:cs typeface="Courier New"/>
            </a:endParaRPr>
          </a:p>
          <a:p>
            <a:pPr marL="2313940">
              <a:lnSpc>
                <a:spcPct val="100000"/>
              </a:lnSpc>
              <a:spcBef>
                <a:spcPts val="105"/>
              </a:spcBef>
              <a:tabLst>
                <a:tab pos="3602990" algn="l"/>
              </a:tabLst>
            </a:pP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^ ^</a:t>
            </a:r>
            <a:r>
              <a:rPr dirty="0" sz="1200" spc="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^ ^</a:t>
            </a:r>
            <a:r>
              <a:rPr dirty="0" sz="1200" spc="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^ </a:t>
            </a:r>
            <a:r>
              <a:rPr dirty="0" sz="1200" spc="-50">
                <a:solidFill>
                  <a:srgbClr val="FFFFFF"/>
                </a:solidFill>
                <a:latin typeface="Courier New"/>
                <a:cs typeface="Courier New"/>
              </a:rPr>
              <a:t>^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	U+202E,</a:t>
            </a:r>
            <a:r>
              <a:rPr dirty="0" sz="12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dirty="0" sz="12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urier New"/>
                <a:cs typeface="Courier New"/>
              </a:rPr>
              <a:t>right-to-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left</a:t>
            </a:r>
            <a:r>
              <a:rPr dirty="0" sz="12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urier New"/>
                <a:cs typeface="Courier New"/>
              </a:rPr>
              <a:t>override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200">
              <a:latin typeface="Courier New"/>
              <a:cs typeface="Courier New"/>
            </a:endParaRPr>
          </a:p>
          <a:p>
            <a:pPr marL="12700" marR="283845">
              <a:lnSpc>
                <a:spcPct val="108300"/>
              </a:lnSpc>
              <a:tabLst>
                <a:tab pos="4156075" algn="l"/>
              </a:tabLst>
            </a:pP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$</a:t>
            </a:r>
            <a:r>
              <a:rPr dirty="0" sz="1200" spc="-1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date -u</a:t>
            </a:r>
            <a:r>
              <a:rPr dirty="0" sz="12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d </a:t>
            </a:r>
            <a:r>
              <a:rPr dirty="0" sz="1200" spc="-10">
                <a:solidFill>
                  <a:srgbClr val="FFFFFF"/>
                </a:solidFill>
                <a:latin typeface="Courier New"/>
                <a:cs typeface="Courier New"/>
              </a:rPr>
              <a:t>@2147483647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	#</a:t>
            </a:r>
            <a:r>
              <a:rPr dirty="0" sz="12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dirty="0" sz="12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urier New"/>
                <a:cs typeface="Courier New"/>
              </a:rPr>
              <a:t>32-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bit</a:t>
            </a:r>
            <a:r>
              <a:rPr dirty="0" sz="12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Unix</a:t>
            </a:r>
            <a:r>
              <a:rPr dirty="0" sz="12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urier New"/>
                <a:cs typeface="Courier New"/>
              </a:rPr>
              <a:t>ceiling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Tue</a:t>
            </a:r>
            <a:r>
              <a:rPr dirty="0" sz="12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19</a:t>
            </a:r>
            <a:r>
              <a:rPr dirty="0" sz="12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Jan</a:t>
            </a:r>
            <a:r>
              <a:rPr dirty="0" sz="12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2038</a:t>
            </a:r>
            <a:r>
              <a:rPr dirty="0" sz="1200" spc="-1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03:14:07</a:t>
            </a:r>
            <a:r>
              <a:rPr dirty="0" sz="12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Courier New"/>
                <a:cs typeface="Courier New"/>
              </a:rPr>
              <a:t>UTC</a:t>
            </a:r>
            <a:endParaRPr sz="1200">
              <a:latin typeface="Courier New"/>
              <a:cs typeface="Courier New"/>
            </a:endParaRPr>
          </a:p>
          <a:p>
            <a:pPr marL="12700" marR="99060">
              <a:lnSpc>
                <a:spcPct val="215800"/>
              </a:lnSpc>
              <a:tabLst>
                <a:tab pos="4985385" algn="l"/>
              </a:tabLst>
            </a:pP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PS&gt;</a:t>
            </a:r>
            <a:r>
              <a:rPr dirty="0" sz="12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urier New"/>
                <a:cs typeface="Courier New"/>
              </a:rPr>
              <a:t>[datetime]::FromFileTimeUtc(133000000000000000)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	#</a:t>
            </a:r>
            <a:r>
              <a:rPr dirty="0" sz="1200" spc="-2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Windows</a:t>
            </a:r>
            <a:r>
              <a:rPr dirty="0" sz="1200" spc="-10">
                <a:solidFill>
                  <a:srgbClr val="FFFFFF"/>
                </a:solidFill>
                <a:latin typeface="Courier New"/>
                <a:cs typeface="Courier New"/>
              </a:rPr>
              <a:t> FILETIME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PS&gt;</a:t>
            </a:r>
            <a:r>
              <a:rPr dirty="0" sz="1200" spc="-2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ourier New"/>
                <a:cs typeface="Courier New"/>
              </a:rPr>
              <a:t>[System.Text.Encoding]::UTF8.GetBytes([char]0x20AC)</a:t>
            </a:r>
            <a:endParaRPr sz="1200">
              <a:latin typeface="Courier New"/>
              <a:cs typeface="Courier New"/>
            </a:endParaRPr>
          </a:p>
          <a:p>
            <a:pPr marL="748665">
              <a:lnSpc>
                <a:spcPct val="100000"/>
              </a:lnSpc>
              <a:spcBef>
                <a:spcPts val="120"/>
              </a:spcBef>
              <a:tabLst>
                <a:tab pos="2773680" algn="l"/>
              </a:tabLst>
            </a:pP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226</a:t>
            </a:r>
            <a:r>
              <a:rPr dirty="0" sz="1200" spc="-5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130</a:t>
            </a:r>
            <a:r>
              <a:rPr dirty="0" sz="1200" spc="-5">
                <a:solidFill>
                  <a:srgbClr val="FFFFFF"/>
                </a:solidFill>
                <a:latin typeface="Courier New"/>
                <a:cs typeface="Courier New"/>
              </a:rPr>
              <a:t>  </a:t>
            </a:r>
            <a:r>
              <a:rPr dirty="0" sz="1200" spc="-25">
                <a:solidFill>
                  <a:srgbClr val="FFFFFF"/>
                </a:solidFill>
                <a:latin typeface="Courier New"/>
                <a:cs typeface="Courier New"/>
              </a:rPr>
              <a:t>172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	# E2</a:t>
            </a:r>
            <a:r>
              <a:rPr dirty="0" sz="12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>
                <a:solidFill>
                  <a:srgbClr val="FFFFFF"/>
                </a:solidFill>
                <a:latin typeface="Courier New"/>
                <a:cs typeface="Courier New"/>
              </a:rPr>
              <a:t>82</a:t>
            </a:r>
            <a:r>
              <a:rPr dirty="0" sz="1200" spc="-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Courier New"/>
                <a:cs typeface="Courier New"/>
              </a:rPr>
              <a:t>AC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17:40:29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Set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these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home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practice. </a:t>
            </a:r>
            <a:r>
              <a:rPr dirty="0" sz="1000">
                <a:latin typeface="Microsoft Sans Serif"/>
                <a:cs typeface="Microsoft Sans Serif"/>
              </a:rPr>
              <a:t>Students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who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have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run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xxd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 </a:t>
            </a:r>
            <a:r>
              <a:rPr dirty="0" sz="1000">
                <a:latin typeface="Microsoft Sans Serif"/>
                <a:cs typeface="Microsoft Sans Serif"/>
              </a:rPr>
              <a:t>file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with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right-to-left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override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in </a:t>
            </a:r>
            <a:r>
              <a:rPr dirty="0" sz="1000">
                <a:latin typeface="Microsoft Sans Serif"/>
                <a:cs typeface="Microsoft Sans Serif"/>
              </a:rPr>
              <a:t>its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name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never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forget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the </a:t>
            </a:r>
            <a:r>
              <a:rPr dirty="0" sz="1000">
                <a:latin typeface="Microsoft Sans Serif"/>
                <a:cs typeface="Microsoft Sans Serif"/>
              </a:rPr>
              <a:t>technique.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date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command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fastest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way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to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show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0">
                <a:latin typeface="Microsoft Sans Serif"/>
                <a:cs typeface="Microsoft Sans Serif"/>
              </a:rPr>
              <a:t>2038 </a:t>
            </a:r>
            <a:r>
              <a:rPr dirty="0" sz="1000">
                <a:latin typeface="Microsoft Sans Serif"/>
                <a:cs typeface="Microsoft Sans Serif"/>
              </a:rPr>
              <a:t>ceiling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real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rather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than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10">
                <a:latin typeface="Microsoft Sans Serif"/>
                <a:cs typeface="Microsoft Sans Serif"/>
              </a:rPr>
              <a:t>folklore.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ful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99" y="720001"/>
            <a:ext cx="11429996" cy="4817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739" y="1082540"/>
            <a:ext cx="2182495" cy="42227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Session</a:t>
            </a:r>
            <a:r>
              <a:rPr dirty="0" spc="140"/>
              <a:t> </a:t>
            </a:r>
            <a:r>
              <a:rPr dirty="0" spc="-10"/>
              <a:t>Recap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843" y="1779304"/>
            <a:ext cx="10222865" cy="2692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 marR="5080" indent="-360045">
              <a:lnSpc>
                <a:spcPct val="100000"/>
              </a:lnSpc>
              <a:spcBef>
                <a:spcPts val="1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Number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systems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positional;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binary,</a:t>
            </a:r>
            <a:r>
              <a:rPr dirty="0" sz="1500" spc="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octal,</a:t>
            </a:r>
            <a:r>
              <a:rPr dirty="0" sz="1500" spc="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decimal</a:t>
            </a:r>
            <a:r>
              <a:rPr dirty="0" sz="1500" spc="7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hex</a:t>
            </a:r>
            <a:r>
              <a:rPr dirty="0" sz="1500" spc="6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four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matter,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hex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binary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shorthand: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dirty="0" sz="1500" spc="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</a:t>
            </a:r>
            <a:r>
              <a:rPr dirty="0" sz="15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hex</a:t>
            </a:r>
            <a:r>
              <a:rPr dirty="0" sz="1500" spc="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digits.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Divide</a:t>
            </a:r>
            <a:r>
              <a:rPr dirty="0" sz="1500" spc="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dirty="0" sz="1500" spc="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30" b="1">
                <a:solidFill>
                  <a:srgbClr val="FFFFFF"/>
                </a:solidFill>
                <a:latin typeface="Cambria"/>
                <a:cs typeface="Cambria"/>
              </a:rPr>
              <a:t>target</a:t>
            </a:r>
            <a:r>
              <a:rPr dirty="0" sz="1500" spc="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base,</a:t>
            </a:r>
            <a:r>
              <a:rPr dirty="0" sz="1500" spc="3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Cambria"/>
                <a:cs typeface="Cambria"/>
              </a:rPr>
              <a:t>place-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values</a:t>
            </a:r>
            <a:r>
              <a:rPr dirty="0" sz="1500" spc="-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dirty="0" sz="1500" spc="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decimal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group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bits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octal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bits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hex.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Binary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arithmetic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runs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adders: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subtraction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addition</a:t>
            </a:r>
            <a:r>
              <a:rPr dirty="0" sz="1500" spc="4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6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5" b="1">
                <a:solidFill>
                  <a:srgbClr val="FFFFFF"/>
                </a:solidFill>
                <a:latin typeface="Cambria"/>
                <a:cs typeface="Cambria"/>
              </a:rPr>
              <a:t>2's</a:t>
            </a:r>
            <a:r>
              <a:rPr dirty="0" sz="1500" spc="5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complement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MSB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sign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bit.</a:t>
            </a:r>
            <a:endParaRPr sz="1500">
              <a:latin typeface="Cambria"/>
              <a:cs typeface="Cambria"/>
            </a:endParaRPr>
          </a:p>
          <a:p>
            <a:pPr marL="372110" marR="5715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Endianness</a:t>
            </a:r>
            <a:r>
              <a:rPr dirty="0" sz="1500" spc="2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decides</a:t>
            </a:r>
            <a:r>
              <a:rPr dirty="0" sz="15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</a:t>
            </a:r>
            <a:r>
              <a:rPr dirty="0" sz="15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order</a:t>
            </a:r>
            <a:r>
              <a:rPr dirty="0" sz="1500" spc="2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multi-byte</a:t>
            </a:r>
            <a:r>
              <a:rPr dirty="0" sz="15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values:</a:t>
            </a:r>
            <a:r>
              <a:rPr dirty="0" sz="1500" spc="2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Windows</a:t>
            </a:r>
            <a:r>
              <a:rPr dirty="0" sz="15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disk</a:t>
            </a:r>
            <a:r>
              <a:rPr dirty="0" sz="1500" spc="2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structures</a:t>
            </a:r>
            <a:r>
              <a:rPr dirty="0" sz="15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little-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endian,</a:t>
            </a:r>
            <a:r>
              <a:rPr dirty="0" sz="1500" spc="2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network</a:t>
            </a:r>
            <a:r>
              <a:rPr dirty="0" sz="1500" spc="2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data</a:t>
            </a:r>
            <a:r>
              <a:rPr dirty="0" sz="1500" spc="2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big-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endian.</a:t>
            </a:r>
            <a:endParaRPr sz="1500">
              <a:latin typeface="Cambria"/>
              <a:cs typeface="Cambria"/>
            </a:endParaRPr>
          </a:p>
          <a:p>
            <a:pPr marL="372110" marR="9525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130" b="1">
                <a:solidFill>
                  <a:srgbClr val="FFFFFF"/>
                </a:solidFill>
                <a:latin typeface="Cambria"/>
                <a:cs typeface="Cambria"/>
              </a:rPr>
              <a:t>ASCII</a:t>
            </a:r>
            <a:r>
              <a:rPr dirty="0" sz="1500" spc="4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fits</a:t>
            </a:r>
            <a:r>
              <a:rPr dirty="0" sz="1500" spc="4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4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dirty="0" sz="1500" spc="4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bits;</a:t>
            </a:r>
            <a:r>
              <a:rPr dirty="0" sz="1500" spc="4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Unicode</a:t>
            </a:r>
            <a:r>
              <a:rPr dirty="0" sz="1500" spc="4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covers</a:t>
            </a:r>
            <a:r>
              <a:rPr dirty="0" sz="1500" spc="4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everything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4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stored</a:t>
            </a:r>
            <a:r>
              <a:rPr dirty="0" sz="1500" spc="4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as</a:t>
            </a:r>
            <a:r>
              <a:rPr dirty="0" sz="1500" spc="4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UTF-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dirty="0" sz="1500" spc="4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(web,</a:t>
            </a:r>
            <a:r>
              <a:rPr dirty="0" sz="1500" spc="4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databases)</a:t>
            </a:r>
            <a:r>
              <a:rPr dirty="0" sz="1500" spc="4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dirty="0" sz="1500" spc="4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UTF-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16LE</a:t>
            </a:r>
            <a:r>
              <a:rPr dirty="0" sz="1500" spc="4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(Windows internals).</a:t>
            </a:r>
            <a:endParaRPr sz="1500">
              <a:latin typeface="Cambria"/>
              <a:cs typeface="Cambria"/>
            </a:endParaRPr>
          </a:p>
          <a:p>
            <a:pPr marL="372110" marR="5715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Next</a:t>
            </a:r>
            <a:r>
              <a:rPr dirty="0" sz="1500" spc="4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session:</a:t>
            </a:r>
            <a:r>
              <a:rPr dirty="0" sz="1500" spc="4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Computer</a:t>
            </a:r>
            <a:r>
              <a:rPr dirty="0" sz="1500" spc="44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Architecture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,</a:t>
            </a:r>
            <a:r>
              <a:rPr dirty="0" sz="1500" spc="4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where</a:t>
            </a:r>
            <a:r>
              <a:rPr dirty="0" sz="1500" spc="4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these</a:t>
            </a:r>
            <a:r>
              <a:rPr dirty="0" sz="1500" spc="4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500" spc="4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move</a:t>
            </a:r>
            <a:r>
              <a:rPr dirty="0" sz="1500" spc="4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through</a:t>
            </a:r>
            <a:r>
              <a:rPr dirty="0" sz="1500" spc="4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input</a:t>
            </a:r>
            <a:r>
              <a:rPr dirty="0" sz="1500" spc="4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devices,</a:t>
            </a:r>
            <a:r>
              <a:rPr dirty="0" sz="1500" spc="4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4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25">
                <a:solidFill>
                  <a:srgbClr val="FFFFFF"/>
                </a:solidFill>
                <a:latin typeface="Cambria"/>
                <a:cs typeface="Cambria"/>
              </a:rPr>
              <a:t>CPU,</a:t>
            </a:r>
            <a:r>
              <a:rPr dirty="0" sz="1500" spc="4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memory</a:t>
            </a:r>
            <a:r>
              <a:rPr dirty="0" sz="1500" spc="4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storage.</a:t>
            </a:r>
            <a:endParaRPr sz="1500">
              <a:latin typeface="Cambria"/>
              <a:cs typeface="Cambria"/>
            </a:endParaRPr>
          </a:p>
        </p:txBody>
      </p:sp>
      <p:pic>
        <p:nvPicPr>
          <p:cNvPr id="5" name="object 5" descr="smile-yellow-trap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6013" y="5759999"/>
            <a:ext cx="790116" cy="919997"/>
          </a:xfrm>
          <a:prstGeom prst="rect">
            <a:avLst/>
          </a:prstGeom>
        </p:spPr>
      </p:pic>
      <p:pic>
        <p:nvPicPr>
          <p:cNvPr id="6" name="object 6" descr="talk-green-pent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11130" y="5759999"/>
            <a:ext cx="712084" cy="919997"/>
          </a:xfrm>
          <a:prstGeom prst="rect">
            <a:avLst/>
          </a:prstGeom>
        </p:spPr>
      </p:pic>
      <p:pic>
        <p:nvPicPr>
          <p:cNvPr id="7" name="object 7" descr="smile-purple-rect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18224" y="5759999"/>
            <a:ext cx="447456" cy="91999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r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999" y="899999"/>
            <a:ext cx="9059999" cy="4719991"/>
          </a:xfrm>
          <a:prstGeom prst="rect">
            <a:avLst/>
          </a:prstGeom>
        </p:spPr>
      </p:pic>
      <p:pic>
        <p:nvPicPr>
          <p:cNvPr id="3" name="object 3" descr="talk-yellow-hex-L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60000" y="3560000"/>
            <a:ext cx="1966336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38739" y="1424063"/>
            <a:ext cx="2112645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>
                <a:solidFill>
                  <a:srgbClr val="FFDD41"/>
                </a:solidFill>
              </a:rPr>
              <a:t>Home</a:t>
            </a:r>
            <a:r>
              <a:rPr dirty="0" sz="2500" spc="200">
                <a:solidFill>
                  <a:srgbClr val="FFDD41"/>
                </a:solidFill>
              </a:rPr>
              <a:t> </a:t>
            </a:r>
            <a:r>
              <a:rPr dirty="0" sz="2500" spc="-65">
                <a:solidFill>
                  <a:srgbClr val="FFDD41"/>
                </a:solidFill>
              </a:rPr>
              <a:t>Practice</a:t>
            </a:r>
            <a:endParaRPr sz="2500"/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8739" y="2076151"/>
            <a:ext cx="7145020" cy="249936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82550">
              <a:lnSpc>
                <a:spcPct val="100000"/>
              </a:lnSpc>
              <a:spcBef>
                <a:spcPts val="685"/>
              </a:spcBef>
              <a:tabLst>
                <a:tab pos="441959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Convert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65">
                <a:solidFill>
                  <a:srgbClr val="FFFFFF"/>
                </a:solidFill>
                <a:latin typeface="Cambria"/>
                <a:cs typeface="Cambria"/>
              </a:rPr>
              <a:t>(2026)</a:t>
            </a:r>
            <a:r>
              <a:rPr dirty="0" sz="1500" spc="-65">
                <a:solidFill>
                  <a:srgbClr val="FFFFFF"/>
                </a:solidFill>
                <a:latin typeface="Cambria Math"/>
                <a:cs typeface="Cambria Math"/>
              </a:rPr>
              <a:t>₁₀</a:t>
            </a:r>
            <a:r>
              <a:rPr dirty="0" sz="1500" spc="10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1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binary,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octal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1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hexadecimal.</a:t>
            </a:r>
            <a:endParaRPr sz="1500">
              <a:latin typeface="Cambria"/>
              <a:cs typeface="Cambria"/>
            </a:endParaRPr>
          </a:p>
          <a:p>
            <a:pPr marL="441959" marR="6985" indent="-360045">
              <a:lnSpc>
                <a:spcPct val="100000"/>
              </a:lnSpc>
              <a:spcBef>
                <a:spcPts val="590"/>
              </a:spcBef>
              <a:tabLst>
                <a:tab pos="441959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first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file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4D</a:t>
            </a:r>
            <a:r>
              <a:rPr dirty="0" sz="1500" spc="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5A</a:t>
            </a:r>
            <a:r>
              <a:rPr dirty="0" sz="1500" spc="1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55" b="1">
                <a:solidFill>
                  <a:srgbClr val="FFFFFF"/>
                </a:solidFill>
                <a:latin typeface="Cambria"/>
                <a:cs typeface="Cambria"/>
              </a:rPr>
              <a:t>90</a:t>
            </a:r>
            <a:r>
              <a:rPr dirty="0" sz="1500" spc="1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5" b="1">
                <a:solidFill>
                  <a:srgbClr val="FFFFFF"/>
                </a:solidFill>
                <a:latin typeface="Cambria"/>
                <a:cs typeface="Cambria"/>
              </a:rPr>
              <a:t>00</a:t>
            </a:r>
            <a:r>
              <a:rPr dirty="0" sz="1500" spc="-45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Which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file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type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this,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the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first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two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spell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ASCII?</a:t>
            </a:r>
            <a:endParaRPr sz="1500">
              <a:latin typeface="Cambria"/>
              <a:cs typeface="Cambria"/>
            </a:endParaRPr>
          </a:p>
          <a:p>
            <a:pPr marL="82550">
              <a:lnSpc>
                <a:spcPct val="100000"/>
              </a:lnSpc>
              <a:spcBef>
                <a:spcPts val="600"/>
              </a:spcBef>
              <a:tabLst>
                <a:tab pos="441959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Write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your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first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name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ASCII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hex,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then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UTF-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16LE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hex.</a:t>
            </a:r>
            <a:endParaRPr sz="1500">
              <a:latin typeface="Cambria"/>
              <a:cs typeface="Cambria"/>
            </a:endParaRPr>
          </a:p>
          <a:p>
            <a:pPr marL="441959" marR="7620" indent="-360045">
              <a:lnSpc>
                <a:spcPct val="100000"/>
              </a:lnSpc>
              <a:spcBef>
                <a:spcPts val="600"/>
              </a:spcBef>
              <a:tabLst>
                <a:tab pos="441959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Bytes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at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</a:t>
            </a:r>
            <a:r>
              <a:rPr dirty="0" sz="1500" spc="1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offset</a:t>
            </a:r>
            <a:r>
              <a:rPr dirty="0" sz="1500" spc="1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read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5" b="1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dirty="0" sz="1500" spc="1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50" b="1">
                <a:solidFill>
                  <a:srgbClr val="FFFFFF"/>
                </a:solidFill>
                <a:latin typeface="Cambria"/>
                <a:cs typeface="Cambria"/>
              </a:rPr>
              <a:t>27</a:t>
            </a:r>
            <a:r>
              <a:rPr dirty="0" sz="1500" spc="204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60" b="1">
                <a:solidFill>
                  <a:srgbClr val="FFFFFF"/>
                </a:solidFill>
                <a:latin typeface="Cambria"/>
                <a:cs typeface="Cambria"/>
              </a:rPr>
              <a:t>00</a:t>
            </a:r>
            <a:r>
              <a:rPr dirty="0" sz="1500" spc="20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Cambria"/>
                <a:cs typeface="Cambria"/>
              </a:rPr>
              <a:t>00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dirty="0" sz="1500" spc="1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value</a:t>
            </a:r>
            <a:r>
              <a:rPr dirty="0" sz="1500" spc="1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as</a:t>
            </a:r>
            <a:r>
              <a:rPr dirty="0" sz="1500" spc="2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1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65">
                <a:solidFill>
                  <a:srgbClr val="FFFFFF"/>
                </a:solidFill>
                <a:latin typeface="Cambria"/>
                <a:cs typeface="Cambria"/>
              </a:rPr>
              <a:t>32-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bit</a:t>
            </a:r>
            <a:r>
              <a:rPr dirty="0" sz="1500" spc="19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little-endian integer?</a:t>
            </a:r>
            <a:endParaRPr sz="1500">
              <a:latin typeface="Cambria"/>
              <a:cs typeface="Cambria"/>
            </a:endParaRPr>
          </a:p>
          <a:p>
            <a:pPr marL="441959" marR="5080" indent="-360045">
              <a:lnSpc>
                <a:spcPct val="100000"/>
              </a:lnSpc>
              <a:spcBef>
                <a:spcPts val="600"/>
              </a:spcBef>
              <a:tabLst>
                <a:tab pos="441959" algn="l"/>
              </a:tabLst>
            </a:pPr>
            <a:r>
              <a:rPr dirty="0" sz="1450" spc="-50">
                <a:solidFill>
                  <a:srgbClr val="FFDD41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FFDD41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fragment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begins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FF</a:t>
            </a:r>
            <a:r>
              <a:rPr dirty="0" sz="1500" spc="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FE</a:t>
            </a:r>
            <a:r>
              <a:rPr dirty="0" sz="1500" spc="7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b="1">
                <a:solidFill>
                  <a:srgbClr val="FFFFFF"/>
                </a:solidFill>
                <a:latin typeface="Cambria"/>
                <a:cs typeface="Cambria"/>
              </a:rPr>
              <a:t>4E</a:t>
            </a:r>
            <a:r>
              <a:rPr dirty="0" sz="1500" spc="8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30" b="1">
                <a:solidFill>
                  <a:srgbClr val="FFFFFF"/>
                </a:solidFill>
                <a:latin typeface="Cambria"/>
                <a:cs typeface="Cambria"/>
              </a:rPr>
              <a:t>00</a:t>
            </a:r>
            <a:r>
              <a:rPr dirty="0" sz="1500" spc="10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0" b="1">
                <a:solidFill>
                  <a:srgbClr val="FFFFFF"/>
                </a:solidFill>
                <a:latin typeface="Cambria"/>
                <a:cs typeface="Cambria"/>
              </a:rPr>
              <a:t>46</a:t>
            </a:r>
            <a:r>
              <a:rPr dirty="0" sz="1500" spc="8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0" b="1">
                <a:solidFill>
                  <a:srgbClr val="FFFFFF"/>
                </a:solidFill>
                <a:latin typeface="Cambria"/>
                <a:cs typeface="Cambria"/>
              </a:rPr>
              <a:t>00</a:t>
            </a:r>
            <a:r>
              <a:rPr dirty="0" sz="1500" spc="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55" b="1">
                <a:solidFill>
                  <a:srgbClr val="FFFFFF"/>
                </a:solidFill>
                <a:latin typeface="Cambria"/>
                <a:cs typeface="Cambria"/>
              </a:rPr>
              <a:t>53</a:t>
            </a:r>
            <a:r>
              <a:rPr dirty="0" sz="1500" spc="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40" b="1">
                <a:solidFill>
                  <a:srgbClr val="FFFFFF"/>
                </a:solidFill>
                <a:latin typeface="Cambria"/>
                <a:cs typeface="Cambria"/>
              </a:rPr>
              <a:t>00</a:t>
            </a:r>
            <a:r>
              <a:rPr dirty="0" sz="1500" spc="9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55" b="1">
                <a:solidFill>
                  <a:srgbClr val="FFFFFF"/>
                </a:solidFill>
                <a:latin typeface="Cambria"/>
                <a:cs typeface="Cambria"/>
              </a:rPr>
              <a:t>55</a:t>
            </a:r>
            <a:r>
              <a:rPr dirty="0" sz="1500" spc="85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45" b="1">
                <a:solidFill>
                  <a:srgbClr val="FFFFFF"/>
                </a:solidFill>
                <a:latin typeface="Cambria"/>
                <a:cs typeface="Cambria"/>
              </a:rPr>
              <a:t>00</a:t>
            </a:r>
            <a:r>
              <a:rPr dirty="0" sz="1500" spc="-45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Identify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encoding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decode</a:t>
            </a:r>
            <a:r>
              <a:rPr dirty="0" sz="1500" spc="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text.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Answers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arrive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at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start</a:t>
            </a:r>
            <a:r>
              <a:rPr dirty="0" sz="15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next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session.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1600" y="1270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Presenter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Notes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2026-08-</a:t>
            </a:r>
            <a:r>
              <a:rPr dirty="0" sz="800" i="1">
                <a:latin typeface="Arial"/>
                <a:cs typeface="Arial"/>
              </a:rPr>
              <a:t>24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17:40:32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Microsoft Sans Serif"/>
                <a:cs typeface="Microsoft Sans Serif"/>
              </a:rPr>
              <a:t>-------------------------------------------</a:t>
            </a:r>
            <a:r>
              <a:rPr dirty="0" sz="1000">
                <a:latin typeface="Microsoft Sans Serif"/>
                <a:cs typeface="Microsoft Sans Serif"/>
              </a:rPr>
              <a:t>-</a:t>
            </a:r>
            <a:endParaRPr sz="1000">
              <a:latin typeface="Microsoft Sans Serif"/>
              <a:cs typeface="Microsoft Sans Serif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Microsoft Sans Serif"/>
                <a:cs typeface="Microsoft Sans Serif"/>
              </a:rPr>
              <a:t>Answers: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2026</a:t>
            </a:r>
            <a:r>
              <a:rPr dirty="0" sz="1000" spc="3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=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11111101010</a:t>
            </a:r>
            <a:r>
              <a:rPr dirty="0" sz="1000" spc="35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= </a:t>
            </a:r>
            <a:r>
              <a:rPr dirty="0" sz="1000">
                <a:latin typeface="Microsoft Sans Serif"/>
                <a:cs typeface="Microsoft Sans Serif"/>
              </a:rPr>
              <a:t>3752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oct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=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7EA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hex;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MZ </a:t>
            </a:r>
            <a:r>
              <a:rPr dirty="0" sz="1000">
                <a:latin typeface="Microsoft Sans Serif"/>
                <a:cs typeface="Microsoft Sans Serif"/>
              </a:rPr>
              <a:t>executable,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"MZ";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10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27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00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00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= </a:t>
            </a:r>
            <a:r>
              <a:rPr dirty="0" sz="1000">
                <a:latin typeface="Microsoft Sans Serif"/>
                <a:cs typeface="Microsoft Sans Serif"/>
              </a:rPr>
              <a:t>0x2710</a:t>
            </a:r>
            <a:r>
              <a:rPr dirty="0" sz="1000" spc="1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=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10000;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FF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FE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is</a:t>
            </a:r>
            <a:r>
              <a:rPr dirty="0" sz="1000" spc="20">
                <a:latin typeface="Microsoft Sans Serif"/>
                <a:cs typeface="Microsoft Sans Serif"/>
              </a:rPr>
              <a:t> </a:t>
            </a:r>
            <a:r>
              <a:rPr dirty="0" sz="1000" spc="-50">
                <a:latin typeface="Microsoft Sans Serif"/>
                <a:cs typeface="Microsoft Sans Serif"/>
              </a:rPr>
              <a:t>a</a:t>
            </a:r>
            <a:r>
              <a:rPr dirty="0" sz="1000" spc="500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UTF-16LE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BOM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and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the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>
                <a:latin typeface="Microsoft Sans Serif"/>
                <a:cs typeface="Microsoft Sans Serif"/>
              </a:rPr>
              <a:t>text</a:t>
            </a:r>
            <a:r>
              <a:rPr dirty="0" sz="1000" spc="25">
                <a:latin typeface="Microsoft Sans Serif"/>
                <a:cs typeface="Microsoft Sans Serif"/>
              </a:rPr>
              <a:t> </a:t>
            </a:r>
            <a:r>
              <a:rPr dirty="0" sz="1000" spc="-25">
                <a:latin typeface="Microsoft Sans Serif"/>
                <a:cs typeface="Microsoft Sans Serif"/>
              </a:rPr>
              <a:t>is </a:t>
            </a:r>
            <a:r>
              <a:rPr dirty="0" sz="1000" spc="-10">
                <a:latin typeface="Microsoft Sans Serif"/>
                <a:cs typeface="Microsoft Sans Serif"/>
              </a:rPr>
              <a:t>NFSU.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bubble-wide-bl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0001" y="899999"/>
            <a:ext cx="9059989" cy="4719991"/>
          </a:xfrm>
          <a:prstGeom prst="rect">
            <a:avLst/>
          </a:prstGeom>
        </p:spPr>
      </p:pic>
      <p:pic>
        <p:nvPicPr>
          <p:cNvPr id="3" name="object 3" descr="talk-green-pent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9999" y="3560000"/>
            <a:ext cx="2105303" cy="27199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158739" y="1424063"/>
            <a:ext cx="4688840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20"/>
              <a:t>References </a:t>
            </a:r>
            <a:r>
              <a:rPr dirty="0" sz="2500"/>
              <a:t>and</a:t>
            </a:r>
            <a:r>
              <a:rPr dirty="0" sz="2500" spc="-45"/>
              <a:t> Further</a:t>
            </a:r>
            <a:r>
              <a:rPr dirty="0" sz="2500" spc="-20"/>
              <a:t> </a:t>
            </a:r>
            <a:r>
              <a:rPr dirty="0" sz="2500" spc="-10"/>
              <a:t>Reading</a:t>
            </a:r>
            <a:endParaRPr sz="2500"/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Digital</a:t>
            </a:r>
            <a:r>
              <a:rPr dirty="0" spc="105"/>
              <a:t> </a:t>
            </a:r>
            <a:r>
              <a:rPr dirty="0"/>
              <a:t>Forensics</a:t>
            </a:r>
            <a:r>
              <a:rPr dirty="0" spc="165"/>
              <a:t> </a:t>
            </a:r>
            <a:r>
              <a:rPr dirty="0"/>
              <a:t>·</a:t>
            </a:r>
            <a:r>
              <a:rPr dirty="0" spc="100"/>
              <a:t> </a:t>
            </a:r>
            <a:r>
              <a:rPr dirty="0"/>
              <a:t>Unit</a:t>
            </a:r>
            <a:r>
              <a:rPr dirty="0" spc="130"/>
              <a:t> </a:t>
            </a:r>
            <a:r>
              <a:rPr dirty="0" spc="-5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28843" y="2149303"/>
            <a:ext cx="7073900" cy="2387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110" marR="5080" indent="-360045">
              <a:lnSpc>
                <a:spcPct val="100000"/>
              </a:lnSpc>
              <a:spcBef>
                <a:spcPts val="1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Computer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Systems: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Digital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Design,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Fundamentals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1500" spc="12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Computer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Architecture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1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Assembly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Language,</a:t>
            </a:r>
            <a:r>
              <a:rPr dirty="0" sz="1500" spc="1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65">
                <a:solidFill>
                  <a:srgbClr val="FFFFFF"/>
                </a:solidFill>
                <a:latin typeface="Cambria"/>
                <a:cs typeface="Cambria"/>
              </a:rPr>
              <a:t>Ata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Elahi,</a:t>
            </a:r>
            <a:r>
              <a:rPr dirty="0" sz="1500" spc="1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Springer.</a:t>
            </a:r>
            <a:endParaRPr sz="1500">
              <a:latin typeface="Cambria"/>
              <a:cs typeface="Cambria"/>
            </a:endParaRPr>
          </a:p>
          <a:p>
            <a:pPr marL="372110" marR="5715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 spc="225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dirty="0" sz="1500" spc="3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Practical</a:t>
            </a:r>
            <a:r>
              <a:rPr dirty="0" sz="1500" spc="3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70">
                <a:solidFill>
                  <a:srgbClr val="FFFFFF"/>
                </a:solidFill>
                <a:latin typeface="Cambria"/>
                <a:cs typeface="Cambria"/>
              </a:rPr>
              <a:t>Guide</a:t>
            </a:r>
            <a:r>
              <a:rPr dirty="0" sz="1500" spc="3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dirty="0" sz="1500" spc="3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Digital</a:t>
            </a:r>
            <a:r>
              <a:rPr dirty="0" sz="1500" spc="3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Forensics</a:t>
            </a:r>
            <a:r>
              <a:rPr dirty="0" sz="1500" spc="3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Investigations,</a:t>
            </a:r>
            <a:r>
              <a:rPr dirty="0" sz="1500" spc="3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2nd</a:t>
            </a:r>
            <a:r>
              <a:rPr dirty="0" sz="1500" spc="32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Edition,</a:t>
            </a:r>
            <a:r>
              <a:rPr dirty="0" sz="1500" spc="3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Darren</a:t>
            </a:r>
            <a:r>
              <a:rPr dirty="0" sz="1500" spc="3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25">
                <a:solidFill>
                  <a:srgbClr val="FFFFFF"/>
                </a:solidFill>
                <a:latin typeface="Cambria"/>
                <a:cs typeface="Cambria"/>
              </a:rPr>
              <a:t>R. 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Hayes,</a:t>
            </a:r>
            <a:r>
              <a:rPr dirty="0" sz="1500" spc="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Pearson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(Chapter</a:t>
            </a:r>
            <a:r>
              <a:rPr dirty="0" sz="150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dirty="0" sz="1500" spc="1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hardware</a:t>
            </a:r>
            <a:r>
              <a:rPr dirty="0" sz="1500" spc="1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data).</a:t>
            </a:r>
            <a:endParaRPr sz="1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Practical</a:t>
            </a:r>
            <a:r>
              <a:rPr dirty="0" sz="1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Forensic</a:t>
            </a:r>
            <a:r>
              <a:rPr dirty="0" sz="1500" spc="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Imaging,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Bruce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 Nikkel,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114">
                <a:solidFill>
                  <a:srgbClr val="FFFFFF"/>
                </a:solidFill>
                <a:latin typeface="Cambria"/>
                <a:cs typeface="Cambria"/>
              </a:rPr>
              <a:t>No</a:t>
            </a:r>
            <a:r>
              <a:rPr dirty="0" sz="1500" spc="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Starch</a:t>
            </a:r>
            <a:r>
              <a:rPr dirty="0" sz="1500" spc="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Press.</a:t>
            </a:r>
            <a:endParaRPr sz="1500">
              <a:latin typeface="Cambria"/>
              <a:cs typeface="Cambria"/>
            </a:endParaRPr>
          </a:p>
          <a:p>
            <a:pPr marL="372110" marR="5715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1500" spc="3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Unicode</a:t>
            </a:r>
            <a:r>
              <a:rPr dirty="0" sz="1500" spc="3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Standard,</a:t>
            </a:r>
            <a:r>
              <a:rPr dirty="0" sz="1500" spc="3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Version</a:t>
            </a:r>
            <a:r>
              <a:rPr dirty="0" sz="1500" spc="37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17.0.0,</a:t>
            </a:r>
            <a:r>
              <a:rPr dirty="0" sz="1500" spc="3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Unicode</a:t>
            </a:r>
            <a:r>
              <a:rPr dirty="0" sz="1500" spc="3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Consortium,</a:t>
            </a:r>
            <a:r>
              <a:rPr dirty="0" sz="1500" spc="3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September</a:t>
            </a:r>
            <a:r>
              <a:rPr dirty="0" sz="1500" spc="3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2025: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home.unicode.org</a:t>
            </a:r>
            <a:r>
              <a:rPr dirty="0" sz="1500" spc="26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dirty="0" sz="1500" spc="2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unicode.org;</a:t>
            </a:r>
            <a:r>
              <a:rPr dirty="0" sz="1500" spc="25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95">
                <a:solidFill>
                  <a:srgbClr val="FFFFFF"/>
                </a:solidFill>
                <a:latin typeface="Cambria"/>
                <a:cs typeface="Cambria"/>
              </a:rPr>
              <a:t>RFC</a:t>
            </a:r>
            <a:r>
              <a:rPr dirty="0" sz="1500" spc="229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75">
                <a:solidFill>
                  <a:srgbClr val="FFFFFF"/>
                </a:solidFill>
                <a:latin typeface="Cambria"/>
                <a:cs typeface="Cambria"/>
              </a:rPr>
              <a:t>3629</a:t>
            </a:r>
            <a:r>
              <a:rPr dirty="0" sz="1500" spc="1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(UTF-</a:t>
            </a:r>
            <a:r>
              <a:rPr dirty="0" sz="1500" spc="-25">
                <a:solidFill>
                  <a:srgbClr val="FFFFFF"/>
                </a:solidFill>
                <a:latin typeface="Cambria"/>
                <a:cs typeface="Cambria"/>
              </a:rPr>
              <a:t>8).</a:t>
            </a:r>
            <a:endParaRPr sz="1500">
              <a:latin typeface="Cambria"/>
              <a:cs typeface="Cambria"/>
            </a:endParaRPr>
          </a:p>
          <a:p>
            <a:pPr marL="372110" marR="5715" indent="-360045">
              <a:lnSpc>
                <a:spcPct val="100000"/>
              </a:lnSpc>
              <a:spcBef>
                <a:spcPts val="600"/>
              </a:spcBef>
              <a:tabLst>
                <a:tab pos="372110" algn="l"/>
              </a:tabLst>
            </a:pPr>
            <a:r>
              <a:rPr dirty="0" sz="1450" spc="-50">
                <a:solidFill>
                  <a:srgbClr val="5FDEEE"/>
                </a:solidFill>
                <a:latin typeface="Microsoft Sans Serif"/>
                <a:cs typeface="Microsoft Sans Serif"/>
              </a:rPr>
              <a:t>→</a:t>
            </a:r>
            <a:r>
              <a:rPr dirty="0" sz="1450">
                <a:solidFill>
                  <a:srgbClr val="5FDEEE"/>
                </a:solidFill>
                <a:latin typeface="Microsoft Sans Serif"/>
                <a:cs typeface="Microsoft Sans Serif"/>
              </a:rPr>
              <a:t>	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Brian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Carrier,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File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System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Forensic</a:t>
            </a:r>
            <a:r>
              <a:rPr dirty="0" sz="1500" spc="18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spc="45">
                <a:solidFill>
                  <a:srgbClr val="FFFFFF"/>
                </a:solidFill>
                <a:latin typeface="Cambria"/>
                <a:cs typeface="Cambria"/>
              </a:rPr>
              <a:t>Analysis,</a:t>
            </a:r>
            <a:r>
              <a:rPr dirty="0" sz="1500" spc="185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spc="50">
                <a:solidFill>
                  <a:srgbClr val="FFFFFF"/>
                </a:solidFill>
                <a:latin typeface="Cambria"/>
                <a:cs typeface="Cambria"/>
              </a:rPr>
              <a:t>Addison-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Wesley</a:t>
            </a:r>
            <a:r>
              <a:rPr dirty="0" sz="1500" spc="19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>
                <a:solidFill>
                  <a:srgbClr val="FFFFFF"/>
                </a:solidFill>
                <a:latin typeface="Cambria"/>
                <a:cs typeface="Cambria"/>
              </a:rPr>
              <a:t>(data</a:t>
            </a:r>
            <a:r>
              <a:rPr dirty="0" sz="1500" spc="19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dirty="0" sz="1500" spc="-20">
                <a:solidFill>
                  <a:srgbClr val="FFFFFF"/>
                </a:solidFill>
                <a:latin typeface="Cambria"/>
                <a:cs typeface="Cambria"/>
              </a:rPr>
              <a:t>unit </a:t>
            </a:r>
            <a:r>
              <a:rPr dirty="0" sz="1500" spc="-10">
                <a:solidFill>
                  <a:srgbClr val="FFFFFF"/>
                </a:solidFill>
                <a:latin typeface="Cambria"/>
                <a:cs typeface="Cambria"/>
              </a:rPr>
              <a:t>concepts).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93492" y="1813855"/>
            <a:ext cx="3535045" cy="8178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200" spc="400">
                <a:solidFill>
                  <a:srgbClr val="8AE244"/>
                </a:solidFill>
                <a:latin typeface="Times New Roman"/>
                <a:cs typeface="Times New Roman"/>
              </a:rPr>
              <a:t>Thank</a:t>
            </a:r>
            <a:r>
              <a:rPr dirty="0" sz="5200" spc="-130">
                <a:solidFill>
                  <a:srgbClr val="8AE244"/>
                </a:solidFill>
                <a:latin typeface="Times New Roman"/>
                <a:cs typeface="Times New Roman"/>
              </a:rPr>
              <a:t> </a:t>
            </a:r>
            <a:r>
              <a:rPr dirty="0" sz="5200" spc="90">
                <a:solidFill>
                  <a:srgbClr val="8AE244"/>
                </a:solidFill>
                <a:latin typeface="Times New Roman"/>
                <a:cs typeface="Times New Roman"/>
              </a:rPr>
              <a:t>You</a:t>
            </a:r>
            <a:endParaRPr sz="5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90216" y="2734519"/>
            <a:ext cx="4138295" cy="819785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175"/>
              </a:spcBef>
            </a:pPr>
            <a:r>
              <a:rPr dirty="0" sz="2200" spc="105" b="1">
                <a:solidFill>
                  <a:srgbClr val="5FDEEE"/>
                </a:solidFill>
                <a:latin typeface="Cambria"/>
                <a:cs typeface="Cambria"/>
              </a:rPr>
              <a:t>Any</a:t>
            </a:r>
            <a:r>
              <a:rPr dirty="0" sz="2200" spc="90" b="1">
                <a:solidFill>
                  <a:srgbClr val="5FDEEE"/>
                </a:solidFill>
                <a:latin typeface="Cambria"/>
                <a:cs typeface="Cambria"/>
              </a:rPr>
              <a:t> </a:t>
            </a:r>
            <a:r>
              <a:rPr dirty="0" sz="2200" spc="-10" b="1">
                <a:solidFill>
                  <a:srgbClr val="5FDEEE"/>
                </a:solidFill>
                <a:latin typeface="Cambria"/>
                <a:cs typeface="Cambria"/>
              </a:rPr>
              <a:t>questions?</a:t>
            </a:r>
            <a:endParaRPr sz="2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35"/>
              </a:spcBef>
            </a:pPr>
            <a:r>
              <a:rPr dirty="0" sz="1500" spc="75">
                <a:solidFill>
                  <a:srgbClr val="B89E87"/>
                </a:solidFill>
                <a:latin typeface="Cambria"/>
                <a:cs typeface="Cambria"/>
              </a:rPr>
              <a:t>You</a:t>
            </a:r>
            <a:r>
              <a:rPr dirty="0" sz="1500" spc="8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B89E87"/>
                </a:solidFill>
                <a:latin typeface="Cambria"/>
                <a:cs typeface="Cambria"/>
              </a:rPr>
              <a:t>can</a:t>
            </a:r>
            <a:r>
              <a:rPr dirty="0" sz="1500" spc="8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B89E87"/>
                </a:solidFill>
                <a:latin typeface="Cambria"/>
                <a:cs typeface="Cambria"/>
              </a:rPr>
              <a:t>find</a:t>
            </a:r>
            <a:r>
              <a:rPr dirty="0" sz="1500" spc="85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B89E87"/>
                </a:solidFill>
                <a:latin typeface="Cambria"/>
                <a:cs typeface="Cambria"/>
              </a:rPr>
              <a:t>me</a:t>
            </a:r>
            <a:r>
              <a:rPr dirty="0" sz="1500" spc="8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500">
                <a:solidFill>
                  <a:srgbClr val="B89E87"/>
                </a:solidFill>
                <a:latin typeface="Cambria"/>
                <a:cs typeface="Cambria"/>
              </a:rPr>
              <a:t>at</a:t>
            </a:r>
            <a:r>
              <a:rPr dirty="0" sz="1500" spc="470">
                <a:solidFill>
                  <a:srgbClr val="B89E87"/>
                </a:solidFill>
                <a:latin typeface="Cambria"/>
                <a:cs typeface="Cambria"/>
              </a:rPr>
              <a:t> </a:t>
            </a:r>
            <a:r>
              <a:rPr dirty="0" sz="1500" spc="-10">
                <a:solidFill>
                  <a:srgbClr val="B89E87"/>
                </a:solidFill>
                <a:latin typeface="Cambria"/>
                <a:cs typeface="Cambria"/>
                <a:hlinkClick r:id="rId2"/>
              </a:rPr>
              <a:t>sarang.rajvansh@nfsu.edu.in</a:t>
            </a:r>
            <a:endParaRPr sz="1500">
              <a:latin typeface="Cambria"/>
              <a:cs typeface="Cambria"/>
            </a:endParaRPr>
          </a:p>
        </p:txBody>
      </p:sp>
      <p:pic>
        <p:nvPicPr>
          <p:cNvPr id="4" name="object 4" descr="smile-yellow-trap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8021" y="5329999"/>
            <a:ext cx="1004817" cy="1169999"/>
          </a:xfrm>
          <a:prstGeom prst="rect">
            <a:avLst/>
          </a:prstGeom>
        </p:spPr>
      </p:pic>
      <p:pic>
        <p:nvPicPr>
          <p:cNvPr id="5" name="object 5" descr="talk-cyan-circle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37838" y="5329999"/>
            <a:ext cx="949887" cy="1169999"/>
          </a:xfrm>
          <a:prstGeom prst="rect">
            <a:avLst/>
          </a:prstGeom>
        </p:spPr>
      </p:pic>
      <p:pic>
        <p:nvPicPr>
          <p:cNvPr id="6" name="object 6" descr="smile-purple-rect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82733" y="5329999"/>
            <a:ext cx="569043" cy="1169999"/>
          </a:xfrm>
          <a:prstGeom prst="rect">
            <a:avLst/>
          </a:prstGeom>
        </p:spPr>
      </p:pic>
      <p:pic>
        <p:nvPicPr>
          <p:cNvPr id="7" name="object 7" descr="talk-green-pent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46778" y="5329999"/>
            <a:ext cx="905586" cy="1169999"/>
          </a:xfrm>
          <a:prstGeom prst="rect">
            <a:avLst/>
          </a:prstGeom>
        </p:spPr>
      </p:pic>
      <p:pic>
        <p:nvPicPr>
          <p:cNvPr id="8" name="object 8" descr="smile-blue-circle.pn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47373" y="5329999"/>
            <a:ext cx="951191" cy="1169999"/>
          </a:xfrm>
          <a:prstGeom prst="rect">
            <a:avLst/>
          </a:prstGeom>
        </p:spPr>
      </p:pic>
      <p:pic>
        <p:nvPicPr>
          <p:cNvPr id="9" name="object 9" descr="talk-coral-tri.png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3574" y="5329999"/>
            <a:ext cx="944181" cy="1169999"/>
          </a:xfrm>
          <a:prstGeom prst="rect">
            <a:avLst/>
          </a:prstGeom>
        </p:spPr>
      </p:pic>
      <p:pic>
        <p:nvPicPr>
          <p:cNvPr id="10" name="object 10" descr="smile-white-square.png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32754" y="5329999"/>
            <a:ext cx="678672" cy="1169999"/>
          </a:xfrm>
          <a:prstGeom prst="rect">
            <a:avLst/>
          </a:prstGeom>
        </p:spPr>
      </p:pic>
      <p:pic>
        <p:nvPicPr>
          <p:cNvPr id="11" name="object 11" descr="smile-yellow-pent.png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06436" y="5329999"/>
            <a:ext cx="906912" cy="1169999"/>
          </a:xfrm>
          <a:prstGeom prst="rect">
            <a:avLst/>
          </a:prstGeom>
        </p:spPr>
      </p:pic>
      <p:pic>
        <p:nvPicPr>
          <p:cNvPr id="12" name="object 12" descr="wow-sand-tri.png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08351" y="5329999"/>
            <a:ext cx="945502" cy="1169999"/>
          </a:xfrm>
          <a:prstGeom prst="rect">
            <a:avLst/>
          </a:prstGeom>
        </p:spPr>
      </p:pic>
      <p:pic>
        <p:nvPicPr>
          <p:cNvPr id="13" name="object 13" descr="talk-coral-trap.png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948855" y="5329999"/>
            <a:ext cx="1004818" cy="1169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89E8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2026-08-25T14:05:31Z</dcterms:created>
  <dcterms:modified xsi:type="dcterms:W3CDTF">2026-08-25T14:05:31Z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2026-08-25T00:00:00Z</vt:filetime>
  </property>
  <property fmtid="{D5CDD505-2E9C-101B-9397-08002B2CF9AE}" pid="4" name="LastSaved">
    <vt:filetime>2026-08-25T00:00:00Z</vt:filetime>
  </property>
  <property fmtid="{D5CDD505-2E9C-101B-9397-08002B2CF9AE}" pid="5" name="Producer">
    <vt:lpwstr>3-Heights™ PDF Merge Split Shell 6.12.1.11 (http://www.pdf-tools.com)</vt:lpwstr>
  </property>
</Properties>
</file>